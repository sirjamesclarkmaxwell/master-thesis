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6"/>
  </p:notesMasterIdLst>
  <p:sldIdLst>
    <p:sldId id="256" r:id="rId5"/>
    <p:sldId id="257" r:id="rId6"/>
    <p:sldId id="258" r:id="rId7"/>
    <p:sldId id="259" r:id="rId8"/>
    <p:sldId id="288" r:id="rId9"/>
    <p:sldId id="286" r:id="rId10"/>
    <p:sldId id="261" r:id="rId11"/>
    <p:sldId id="262" r:id="rId12"/>
    <p:sldId id="264" r:id="rId13"/>
    <p:sldId id="265" r:id="rId14"/>
    <p:sldId id="270" r:id="rId15"/>
    <p:sldId id="278" r:id="rId16"/>
    <p:sldId id="279" r:id="rId17"/>
    <p:sldId id="280" r:id="rId18"/>
    <p:sldId id="281" r:id="rId19"/>
    <p:sldId id="282" r:id="rId20"/>
    <p:sldId id="283" r:id="rId21"/>
    <p:sldId id="284" r:id="rId22"/>
    <p:sldId id="285" r:id="rId23"/>
    <p:sldId id="287" r:id="rId24"/>
    <p:sldId id="274" r:id="rId2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E56232C-4DCD-41DF-B0AF-953D8A0E18B2}" v="64" dt="2026-08-02T19:26:11.88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390" autoAdjust="0"/>
    <p:restoredTop sz="94308" autoAdjust="0"/>
  </p:normalViewPr>
  <p:slideViewPr>
    <p:cSldViewPr snapToGrid="0" snapToObjects="1">
      <p:cViewPr>
        <p:scale>
          <a:sx n="121" d="100"/>
          <a:sy n="121" d="100"/>
        </p:scale>
        <p:origin x="40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abierowski Franciszek (STUD)" userId="5bbcb133-347a-4df4-821b-8cd17c786192" providerId="ADAL" clId="{1DB20B25-A8AC-49A5-B0C7-B9ECF47F120C}"/>
    <pc:docChg chg="undo custSel addSld delSld modSld sldOrd">
      <pc:chgData name="Zabierowski Franciszek (STUD)" userId="5bbcb133-347a-4df4-821b-8cd17c786192" providerId="ADAL" clId="{1DB20B25-A8AC-49A5-B0C7-B9ECF47F120C}" dt="2026-08-03T09:35:04.119" v="1821" actId="1036"/>
      <pc:docMkLst>
        <pc:docMk/>
      </pc:docMkLst>
      <pc:sldChg chg="modNotesTx">
        <pc:chgData name="Zabierowski Franciszek (STUD)" userId="5bbcb133-347a-4df4-821b-8cd17c786192" providerId="ADAL" clId="{1DB20B25-A8AC-49A5-B0C7-B9ECF47F120C}" dt="2026-07-15T09:41:59.826" v="1261" actId="20577"/>
        <pc:sldMkLst>
          <pc:docMk/>
          <pc:sldMk cId="0" sldId="256"/>
        </pc:sldMkLst>
      </pc:sldChg>
      <pc:sldChg chg="delSp modSp mod modNotesTx">
        <pc:chgData name="Zabierowski Franciszek (STUD)" userId="5bbcb133-347a-4df4-821b-8cd17c786192" providerId="ADAL" clId="{1DB20B25-A8AC-49A5-B0C7-B9ECF47F120C}" dt="2026-07-15T09:39:14.435" v="1156" actId="20577"/>
        <pc:sldMkLst>
          <pc:docMk/>
          <pc:sldMk cId="0" sldId="257"/>
        </pc:sldMkLst>
        <pc:spChg chg="mod topLvl">
          <ac:chgData name="Zabierowski Franciszek (STUD)" userId="5bbcb133-347a-4df4-821b-8cd17c786192" providerId="ADAL" clId="{1DB20B25-A8AC-49A5-B0C7-B9ECF47F120C}" dt="2026-07-15T07:31:01.570" v="393" actId="165"/>
          <ac:spMkLst>
            <pc:docMk/>
            <pc:sldMk cId="0" sldId="257"/>
            <ac:spMk id="6" creationId="{00000000-0000-0000-0000-000000000000}"/>
          </ac:spMkLst>
        </pc:spChg>
        <pc:spChg chg="mod topLvl">
          <ac:chgData name="Zabierowski Franciszek (STUD)" userId="5bbcb133-347a-4df4-821b-8cd17c786192" providerId="ADAL" clId="{1DB20B25-A8AC-49A5-B0C7-B9ECF47F120C}" dt="2026-07-15T07:31:01.570" v="393" actId="165"/>
          <ac:spMkLst>
            <pc:docMk/>
            <pc:sldMk cId="0" sldId="257"/>
            <ac:spMk id="7" creationId="{00000000-0000-0000-0000-000000000000}"/>
          </ac:spMkLst>
        </pc:spChg>
        <pc:spChg chg="mod topLvl">
          <ac:chgData name="Zabierowski Franciszek (STUD)" userId="5bbcb133-347a-4df4-821b-8cd17c786192" providerId="ADAL" clId="{1DB20B25-A8AC-49A5-B0C7-B9ECF47F120C}" dt="2026-07-15T07:31:33.023" v="399" actId="554"/>
          <ac:spMkLst>
            <pc:docMk/>
            <pc:sldMk cId="0" sldId="257"/>
            <ac:spMk id="8" creationId="{00000000-0000-0000-0000-000000000000}"/>
          </ac:spMkLst>
        </pc:spChg>
        <pc:spChg chg="mod topLvl">
          <ac:chgData name="Zabierowski Franciszek (STUD)" userId="5bbcb133-347a-4df4-821b-8cd17c786192" providerId="ADAL" clId="{1DB20B25-A8AC-49A5-B0C7-B9ECF47F120C}" dt="2026-07-15T07:31:04.709" v="394" actId="165"/>
          <ac:spMkLst>
            <pc:docMk/>
            <pc:sldMk cId="0" sldId="257"/>
            <ac:spMk id="9" creationId="{00000000-0000-0000-0000-000000000000}"/>
          </ac:spMkLst>
        </pc:spChg>
        <pc:spChg chg="mod topLvl">
          <ac:chgData name="Zabierowski Franciszek (STUD)" userId="5bbcb133-347a-4df4-821b-8cd17c786192" providerId="ADAL" clId="{1DB20B25-A8AC-49A5-B0C7-B9ECF47F120C}" dt="2026-07-15T07:31:04.709" v="394" actId="165"/>
          <ac:spMkLst>
            <pc:docMk/>
            <pc:sldMk cId="0" sldId="257"/>
            <ac:spMk id="10" creationId="{00000000-0000-0000-0000-000000000000}"/>
          </ac:spMkLst>
        </pc:spChg>
        <pc:spChg chg="mod topLvl">
          <ac:chgData name="Zabierowski Franciszek (STUD)" userId="5bbcb133-347a-4df4-821b-8cd17c786192" providerId="ADAL" clId="{1DB20B25-A8AC-49A5-B0C7-B9ECF47F120C}" dt="2026-07-15T07:31:39.603" v="400" actId="408"/>
          <ac:spMkLst>
            <pc:docMk/>
            <pc:sldMk cId="0" sldId="257"/>
            <ac:spMk id="11" creationId="{00000000-0000-0000-0000-000000000000}"/>
          </ac:spMkLst>
        </pc:spChg>
        <pc:spChg chg="mod topLvl">
          <ac:chgData name="Zabierowski Franciszek (STUD)" userId="5bbcb133-347a-4df4-821b-8cd17c786192" providerId="ADAL" clId="{1DB20B25-A8AC-49A5-B0C7-B9ECF47F120C}" dt="2026-07-15T07:31:07.251" v="395" actId="165"/>
          <ac:spMkLst>
            <pc:docMk/>
            <pc:sldMk cId="0" sldId="257"/>
            <ac:spMk id="12" creationId="{00000000-0000-0000-0000-000000000000}"/>
          </ac:spMkLst>
        </pc:spChg>
        <pc:spChg chg="mod topLvl">
          <ac:chgData name="Zabierowski Franciszek (STUD)" userId="5bbcb133-347a-4df4-821b-8cd17c786192" providerId="ADAL" clId="{1DB20B25-A8AC-49A5-B0C7-B9ECF47F120C}" dt="2026-07-15T07:31:07.251" v="395" actId="165"/>
          <ac:spMkLst>
            <pc:docMk/>
            <pc:sldMk cId="0" sldId="257"/>
            <ac:spMk id="13" creationId="{00000000-0000-0000-0000-000000000000}"/>
          </ac:spMkLst>
        </pc:spChg>
        <pc:spChg chg="mod topLvl">
          <ac:chgData name="Zabierowski Franciszek (STUD)" userId="5bbcb133-347a-4df4-821b-8cd17c786192" providerId="ADAL" clId="{1DB20B25-A8AC-49A5-B0C7-B9ECF47F120C}" dt="2026-07-15T07:31:33.023" v="399" actId="554"/>
          <ac:spMkLst>
            <pc:docMk/>
            <pc:sldMk cId="0" sldId="257"/>
            <ac:spMk id="14" creationId="{00000000-0000-0000-0000-000000000000}"/>
          </ac:spMkLst>
        </pc:spChg>
      </pc:sldChg>
      <pc:sldChg chg="modSp mod modNotesTx">
        <pc:chgData name="Zabierowski Franciszek (STUD)" userId="5bbcb133-347a-4df4-821b-8cd17c786192" providerId="ADAL" clId="{1DB20B25-A8AC-49A5-B0C7-B9ECF47F120C}" dt="2026-07-15T09:39:16.804" v="1157" actId="20577"/>
        <pc:sldMkLst>
          <pc:docMk/>
          <pc:sldMk cId="0" sldId="258"/>
        </pc:sldMkLst>
        <pc:spChg chg="mod">
          <ac:chgData name="Zabierowski Franciszek (STUD)" userId="5bbcb133-347a-4df4-821b-8cd17c786192" providerId="ADAL" clId="{1DB20B25-A8AC-49A5-B0C7-B9ECF47F120C}" dt="2026-07-15T07:32:34.460" v="411" actId="20577"/>
          <ac:spMkLst>
            <pc:docMk/>
            <pc:sldMk cId="0" sldId="258"/>
            <ac:spMk id="14" creationId="{00000000-0000-0000-0000-000000000000}"/>
          </ac:spMkLst>
        </pc:spChg>
      </pc:sldChg>
      <pc:sldChg chg="addSp delSp modSp mod modNotesTx">
        <pc:chgData name="Zabierowski Franciszek (STUD)" userId="5bbcb133-347a-4df4-821b-8cd17c786192" providerId="ADAL" clId="{1DB20B25-A8AC-49A5-B0C7-B9ECF47F120C}" dt="2026-07-22T10:43:06.122" v="1771" actId="22"/>
        <pc:sldMkLst>
          <pc:docMk/>
          <pc:sldMk cId="0" sldId="259"/>
        </pc:sldMkLst>
        <pc:spChg chg="mod">
          <ac:chgData name="Zabierowski Franciszek (STUD)" userId="5bbcb133-347a-4df4-821b-8cd17c786192" providerId="ADAL" clId="{1DB20B25-A8AC-49A5-B0C7-B9ECF47F120C}" dt="2026-07-14T20:36:58.691" v="180" actId="1076"/>
          <ac:spMkLst>
            <pc:docMk/>
            <pc:sldMk cId="0" sldId="259"/>
            <ac:spMk id="7" creationId="{00000000-0000-0000-0000-000000000000}"/>
          </ac:spMkLst>
        </pc:spChg>
        <pc:spChg chg="mod">
          <ac:chgData name="Zabierowski Franciszek (STUD)" userId="5bbcb133-347a-4df4-821b-8cd17c786192" providerId="ADAL" clId="{1DB20B25-A8AC-49A5-B0C7-B9ECF47F120C}" dt="2026-07-22T10:42:29.401" v="1762" actId="20577"/>
          <ac:spMkLst>
            <pc:docMk/>
            <pc:sldMk cId="0" sldId="259"/>
            <ac:spMk id="9" creationId="{00000000-0000-0000-0000-000000000000}"/>
          </ac:spMkLst>
        </pc:spChg>
        <pc:spChg chg="add mod">
          <ac:chgData name="Zabierowski Franciszek (STUD)" userId="5bbcb133-347a-4df4-821b-8cd17c786192" providerId="ADAL" clId="{1DB20B25-A8AC-49A5-B0C7-B9ECF47F120C}" dt="2026-07-14T21:17:26.155" v="329" actId="14100"/>
          <ac:spMkLst>
            <pc:docMk/>
            <pc:sldMk cId="0" sldId="259"/>
            <ac:spMk id="25" creationId="{D45EB383-47B0-D4E8-D07B-466FC3A333C1}"/>
          </ac:spMkLst>
        </pc:spChg>
        <pc:spChg chg="add mod">
          <ac:chgData name="Zabierowski Franciszek (STUD)" userId="5bbcb133-347a-4df4-821b-8cd17c786192" providerId="ADAL" clId="{1DB20B25-A8AC-49A5-B0C7-B9ECF47F120C}" dt="2026-07-14T21:17:35.309" v="338" actId="20577"/>
          <ac:spMkLst>
            <pc:docMk/>
            <pc:sldMk cId="0" sldId="259"/>
            <ac:spMk id="26" creationId="{00283443-F714-1253-62A8-66BDB2E11D7F}"/>
          </ac:spMkLst>
        </pc:spChg>
        <pc:picChg chg="add mod modCrop">
          <ac:chgData name="Zabierowski Franciszek (STUD)" userId="5bbcb133-347a-4df4-821b-8cd17c786192" providerId="ADAL" clId="{1DB20B25-A8AC-49A5-B0C7-B9ECF47F120C}" dt="2026-07-22T10:42:42.136" v="1763" actId="1076"/>
          <ac:picMkLst>
            <pc:docMk/>
            <pc:sldMk cId="0" sldId="259"/>
            <ac:picMk id="19" creationId="{424FF7AC-F991-00D4-56E4-E2D48AF0967D}"/>
          </ac:picMkLst>
        </pc:picChg>
        <pc:picChg chg="add mod">
          <ac:chgData name="Zabierowski Franciszek (STUD)" userId="5bbcb133-347a-4df4-821b-8cd17c786192" providerId="ADAL" clId="{1DB20B25-A8AC-49A5-B0C7-B9ECF47F120C}" dt="2026-07-14T21:16:16.358" v="302" actId="1076"/>
          <ac:picMkLst>
            <pc:docMk/>
            <pc:sldMk cId="0" sldId="259"/>
            <ac:picMk id="21" creationId="{962E796B-62F1-49D4-DC6F-6896938AA1A9}"/>
          </ac:picMkLst>
        </pc:picChg>
        <pc:picChg chg="add mod">
          <ac:chgData name="Zabierowski Franciszek (STUD)" userId="5bbcb133-347a-4df4-821b-8cd17c786192" providerId="ADAL" clId="{1DB20B25-A8AC-49A5-B0C7-B9ECF47F120C}" dt="2026-07-14T21:16:47.469" v="311" actId="14100"/>
          <ac:picMkLst>
            <pc:docMk/>
            <pc:sldMk cId="0" sldId="259"/>
            <ac:picMk id="23" creationId="{DB1EDF3B-B4BF-8ED3-D3FF-398BD202E6BB}"/>
          </ac:picMkLst>
        </pc:picChg>
      </pc:sldChg>
      <pc:sldChg chg="addSp delSp modSp mod modNotesTx">
        <pc:chgData name="Zabierowski Franciszek (STUD)" userId="5bbcb133-347a-4df4-821b-8cd17c786192" providerId="ADAL" clId="{1DB20B25-A8AC-49A5-B0C7-B9ECF47F120C}" dt="2026-08-03T09:35:04.119" v="1821" actId="1036"/>
        <pc:sldMkLst>
          <pc:docMk/>
          <pc:sldMk cId="0" sldId="261"/>
        </pc:sldMkLst>
        <pc:grpChg chg="mod">
          <ac:chgData name="Zabierowski Franciszek (STUD)" userId="5bbcb133-347a-4df4-821b-8cd17c786192" providerId="ADAL" clId="{1DB20B25-A8AC-49A5-B0C7-B9ECF47F120C}" dt="2026-08-03T09:35:04.119" v="1821" actId="1036"/>
          <ac:grpSpMkLst>
            <pc:docMk/>
            <pc:sldMk cId="0" sldId="261"/>
            <ac:grpSpMk id="11" creationId="{4165F838-E0F9-1B5E-6ED6-1CE03A4503AB}"/>
          </ac:grpSpMkLst>
        </pc:grpChg>
      </pc:sldChg>
      <pc:sldChg chg="addSp modSp mod modNotesTx">
        <pc:chgData name="Zabierowski Franciszek (STUD)" userId="5bbcb133-347a-4df4-821b-8cd17c786192" providerId="ADAL" clId="{1DB20B25-A8AC-49A5-B0C7-B9ECF47F120C}" dt="2026-07-15T13:00:39.182" v="1647" actId="20577"/>
        <pc:sldMkLst>
          <pc:docMk/>
          <pc:sldMk cId="0" sldId="262"/>
        </pc:sldMkLst>
        <pc:spChg chg="mod">
          <ac:chgData name="Zabierowski Franciszek (STUD)" userId="5bbcb133-347a-4df4-821b-8cd17c786192" providerId="ADAL" clId="{1DB20B25-A8AC-49A5-B0C7-B9ECF47F120C}" dt="2026-07-15T12:58:41.309" v="1395" actId="403"/>
          <ac:spMkLst>
            <pc:docMk/>
            <pc:sldMk cId="0" sldId="262"/>
            <ac:spMk id="8" creationId="{00000000-0000-0000-0000-000000000000}"/>
          </ac:spMkLst>
        </pc:spChg>
        <pc:spChg chg="mod">
          <ac:chgData name="Zabierowski Franciszek (STUD)" userId="5bbcb133-347a-4df4-821b-8cd17c786192" providerId="ADAL" clId="{1DB20B25-A8AC-49A5-B0C7-B9ECF47F120C}" dt="2026-07-15T12:58:29.221" v="1386" actId="21"/>
          <ac:spMkLst>
            <pc:docMk/>
            <pc:sldMk cId="0" sldId="262"/>
            <ac:spMk id="11" creationId="{00000000-0000-0000-0000-000000000000}"/>
          </ac:spMkLst>
        </pc:spChg>
        <pc:spChg chg="add mod">
          <ac:chgData name="Zabierowski Franciszek (STUD)" userId="5bbcb133-347a-4df4-821b-8cd17c786192" providerId="ADAL" clId="{1DB20B25-A8AC-49A5-B0C7-B9ECF47F120C}" dt="2026-07-15T13:00:39.182" v="1647" actId="20577"/>
          <ac:spMkLst>
            <pc:docMk/>
            <pc:sldMk cId="0" sldId="262"/>
            <ac:spMk id="18" creationId="{5A8A5D76-18EE-5D4A-18C1-6C6924BA68D2}"/>
          </ac:spMkLst>
        </pc:spChg>
      </pc:sldChg>
      <pc:sldChg chg="delSp modSp mod modNotesTx">
        <pc:chgData name="Zabierowski Franciszek (STUD)" userId="5bbcb133-347a-4df4-821b-8cd17c786192" providerId="ADAL" clId="{1DB20B25-A8AC-49A5-B0C7-B9ECF47F120C}" dt="2026-07-15T09:39:48.218" v="1164" actId="20577"/>
        <pc:sldMkLst>
          <pc:docMk/>
          <pc:sldMk cId="0" sldId="264"/>
        </pc:sldMkLst>
      </pc:sldChg>
      <pc:sldChg chg="modSp mod modNotesTx">
        <pc:chgData name="Zabierowski Franciszek (STUD)" userId="5bbcb133-347a-4df4-821b-8cd17c786192" providerId="ADAL" clId="{1DB20B25-A8AC-49A5-B0C7-B9ECF47F120C}" dt="2026-08-02T19:11:02.739" v="1800"/>
        <pc:sldMkLst>
          <pc:docMk/>
          <pc:sldMk cId="0" sldId="265"/>
        </pc:sldMkLst>
        <pc:graphicFrameChg chg="mod modGraphic">
          <ac:chgData name="Zabierowski Franciszek (STUD)" userId="5bbcb133-347a-4df4-821b-8cd17c786192" providerId="ADAL" clId="{1DB20B25-A8AC-49A5-B0C7-B9ECF47F120C}" dt="2026-08-02T19:11:02.739" v="1800"/>
          <ac:graphicFrameMkLst>
            <pc:docMk/>
            <pc:sldMk cId="0" sldId="265"/>
            <ac:graphicFrameMk id="11" creationId="{00000000-0000-0000-0000-000000000000}"/>
          </ac:graphicFrameMkLst>
        </pc:graphicFrameChg>
      </pc:sldChg>
      <pc:sldChg chg="addSp delSp modSp mod modNotesTx">
        <pc:chgData name="Zabierowski Franciszek (STUD)" userId="5bbcb133-347a-4df4-821b-8cd17c786192" providerId="ADAL" clId="{1DB20B25-A8AC-49A5-B0C7-B9ECF47F120C}" dt="2026-07-15T09:39:53.058" v="1166" actId="20577"/>
        <pc:sldMkLst>
          <pc:docMk/>
          <pc:sldMk cId="0" sldId="270"/>
        </pc:sldMkLst>
        <pc:spChg chg="add mod">
          <ac:chgData name="Zabierowski Franciszek (STUD)" userId="5bbcb133-347a-4df4-821b-8cd17c786192" providerId="ADAL" clId="{1DB20B25-A8AC-49A5-B0C7-B9ECF47F120C}" dt="2026-07-15T07:40:01.431" v="593" actId="20577"/>
          <ac:spMkLst>
            <pc:docMk/>
            <pc:sldMk cId="0" sldId="270"/>
            <ac:spMk id="36" creationId="{EB6776B3-91BC-7B5F-6F68-6DB232EE5020}"/>
          </ac:spMkLst>
        </pc:spChg>
        <pc:picChg chg="add mod modCrop">
          <ac:chgData name="Zabierowski Franciszek (STUD)" userId="5bbcb133-347a-4df4-821b-8cd17c786192" providerId="ADAL" clId="{1DB20B25-A8AC-49A5-B0C7-B9ECF47F120C}" dt="2026-07-15T07:50:33.525" v="731" actId="1076"/>
          <ac:picMkLst>
            <pc:docMk/>
            <pc:sldMk cId="0" sldId="270"/>
            <ac:picMk id="38" creationId="{565BFC4A-ED46-8268-1D4D-8F4180585C67}"/>
          </ac:picMkLst>
        </pc:picChg>
      </pc:sldChg>
      <pc:sldChg chg="modSp mod modNotesTx">
        <pc:chgData name="Zabierowski Franciszek (STUD)" userId="5bbcb133-347a-4df4-821b-8cd17c786192" providerId="ADAL" clId="{1DB20B25-A8AC-49A5-B0C7-B9ECF47F120C}" dt="2026-07-15T09:41:35.955" v="1260" actId="27636"/>
        <pc:sldMkLst>
          <pc:docMk/>
          <pc:sldMk cId="0" sldId="274"/>
        </pc:sldMkLst>
        <pc:spChg chg="mod">
          <ac:chgData name="Zabierowski Franciszek (STUD)" userId="5bbcb133-347a-4df4-821b-8cd17c786192" providerId="ADAL" clId="{1DB20B25-A8AC-49A5-B0C7-B9ECF47F120C}" dt="2026-07-15T08:00:27.891" v="852" actId="1076"/>
          <ac:spMkLst>
            <pc:docMk/>
            <pc:sldMk cId="0" sldId="274"/>
            <ac:spMk id="6" creationId="{00000000-0000-0000-0000-000000000000}"/>
          </ac:spMkLst>
        </pc:spChg>
        <pc:spChg chg="mod">
          <ac:chgData name="Zabierowski Franciszek (STUD)" userId="5bbcb133-347a-4df4-821b-8cd17c786192" providerId="ADAL" clId="{1DB20B25-A8AC-49A5-B0C7-B9ECF47F120C}" dt="2026-07-15T08:00:27.891" v="852" actId="1076"/>
          <ac:spMkLst>
            <pc:docMk/>
            <pc:sldMk cId="0" sldId="274"/>
            <ac:spMk id="7" creationId="{00000000-0000-0000-0000-000000000000}"/>
          </ac:spMkLst>
        </pc:spChg>
        <pc:spChg chg="mod">
          <ac:chgData name="Zabierowski Franciszek (STUD)" userId="5bbcb133-347a-4df4-821b-8cd17c786192" providerId="ADAL" clId="{1DB20B25-A8AC-49A5-B0C7-B9ECF47F120C}" dt="2026-07-15T08:00:27.891" v="852" actId="1076"/>
          <ac:spMkLst>
            <pc:docMk/>
            <pc:sldMk cId="0" sldId="274"/>
            <ac:spMk id="8" creationId="{00000000-0000-0000-0000-000000000000}"/>
          </ac:spMkLst>
        </pc:spChg>
        <pc:spChg chg="mod">
          <ac:chgData name="Zabierowski Franciszek (STUD)" userId="5bbcb133-347a-4df4-821b-8cd17c786192" providerId="ADAL" clId="{1DB20B25-A8AC-49A5-B0C7-B9ECF47F120C}" dt="2026-07-15T08:00:16.548" v="849" actId="1076"/>
          <ac:spMkLst>
            <pc:docMk/>
            <pc:sldMk cId="0" sldId="274"/>
            <ac:spMk id="9" creationId="{00000000-0000-0000-0000-000000000000}"/>
          </ac:spMkLst>
        </pc:spChg>
        <pc:spChg chg="mod">
          <ac:chgData name="Zabierowski Franciszek (STUD)" userId="5bbcb133-347a-4df4-821b-8cd17c786192" providerId="ADAL" clId="{1DB20B25-A8AC-49A5-B0C7-B9ECF47F120C}" dt="2026-07-15T08:00:16.548" v="849" actId="1076"/>
          <ac:spMkLst>
            <pc:docMk/>
            <pc:sldMk cId="0" sldId="274"/>
            <ac:spMk id="10" creationId="{00000000-0000-0000-0000-000000000000}"/>
          </ac:spMkLst>
        </pc:spChg>
        <pc:spChg chg="mod">
          <ac:chgData name="Zabierowski Franciszek (STUD)" userId="5bbcb133-347a-4df4-821b-8cd17c786192" providerId="ADAL" clId="{1DB20B25-A8AC-49A5-B0C7-B9ECF47F120C}" dt="2026-07-15T08:00:16.548" v="849" actId="1076"/>
          <ac:spMkLst>
            <pc:docMk/>
            <pc:sldMk cId="0" sldId="274"/>
            <ac:spMk id="11" creationId="{00000000-0000-0000-0000-000000000000}"/>
          </ac:spMkLst>
        </pc:spChg>
        <pc:spChg chg="mod">
          <ac:chgData name="Zabierowski Franciszek (STUD)" userId="5bbcb133-347a-4df4-821b-8cd17c786192" providerId="ADAL" clId="{1DB20B25-A8AC-49A5-B0C7-B9ECF47F120C}" dt="2026-07-15T08:00:33.029" v="853" actId="1076"/>
          <ac:spMkLst>
            <pc:docMk/>
            <pc:sldMk cId="0" sldId="274"/>
            <ac:spMk id="12" creationId="{00000000-0000-0000-0000-000000000000}"/>
          </ac:spMkLst>
        </pc:spChg>
        <pc:spChg chg="mod">
          <ac:chgData name="Zabierowski Franciszek (STUD)" userId="5bbcb133-347a-4df4-821b-8cd17c786192" providerId="ADAL" clId="{1DB20B25-A8AC-49A5-B0C7-B9ECF47F120C}" dt="2026-07-15T08:00:33.029" v="853" actId="1076"/>
          <ac:spMkLst>
            <pc:docMk/>
            <pc:sldMk cId="0" sldId="274"/>
            <ac:spMk id="13" creationId="{00000000-0000-0000-0000-000000000000}"/>
          </ac:spMkLst>
        </pc:spChg>
        <pc:spChg chg="mod">
          <ac:chgData name="Zabierowski Franciszek (STUD)" userId="5bbcb133-347a-4df4-821b-8cd17c786192" providerId="ADAL" clId="{1DB20B25-A8AC-49A5-B0C7-B9ECF47F120C}" dt="2026-07-15T09:41:35.955" v="1260" actId="27636"/>
          <ac:spMkLst>
            <pc:docMk/>
            <pc:sldMk cId="0" sldId="274"/>
            <ac:spMk id="14" creationId="{00000000-0000-0000-0000-000000000000}"/>
          </ac:spMkLst>
        </pc:spChg>
      </pc:sldChg>
      <pc:sldChg chg="addSp delSp modSp mod modNotesTx">
        <pc:chgData name="Zabierowski Franciszek (STUD)" userId="5bbcb133-347a-4df4-821b-8cd17c786192" providerId="ADAL" clId="{1DB20B25-A8AC-49A5-B0C7-B9ECF47F120C}" dt="2026-07-15T09:39:55.669" v="1167" actId="20577"/>
        <pc:sldMkLst>
          <pc:docMk/>
          <pc:sldMk cId="1424856550" sldId="278"/>
        </pc:sldMkLst>
        <pc:graphicFrameChg chg="add mod modGraphic">
          <ac:chgData name="Zabierowski Franciszek (STUD)" userId="5bbcb133-347a-4df4-821b-8cd17c786192" providerId="ADAL" clId="{1DB20B25-A8AC-49A5-B0C7-B9ECF47F120C}" dt="2026-07-15T07:41:56.757" v="611" actId="1076"/>
          <ac:graphicFrameMkLst>
            <pc:docMk/>
            <pc:sldMk cId="1424856550" sldId="278"/>
            <ac:graphicFrameMk id="17" creationId="{A389610D-6CA8-29AD-7F34-7EB261C79C87}"/>
          </ac:graphicFrameMkLst>
        </pc:graphicFrameChg>
        <pc:picChg chg="add mod modCrop">
          <ac:chgData name="Zabierowski Franciszek (STUD)" userId="5bbcb133-347a-4df4-821b-8cd17c786192" providerId="ADAL" clId="{1DB20B25-A8AC-49A5-B0C7-B9ECF47F120C}" dt="2026-07-15T07:50:58.670" v="738" actId="1076"/>
          <ac:picMkLst>
            <pc:docMk/>
            <pc:sldMk cId="1424856550" sldId="278"/>
            <ac:picMk id="19" creationId="{15198352-F272-8134-DBCA-02135D652632}"/>
          </ac:picMkLst>
        </pc:picChg>
      </pc:sldChg>
      <pc:sldChg chg="addSp delSp modSp mod modNotesTx">
        <pc:chgData name="Zabierowski Franciszek (STUD)" userId="5bbcb133-347a-4df4-821b-8cd17c786192" providerId="ADAL" clId="{1DB20B25-A8AC-49A5-B0C7-B9ECF47F120C}" dt="2026-07-15T09:39:58.265" v="1168" actId="20577"/>
        <pc:sldMkLst>
          <pc:docMk/>
          <pc:sldMk cId="1581705765" sldId="279"/>
        </pc:sldMkLst>
        <pc:spChg chg="add mod">
          <ac:chgData name="Zabierowski Franciszek (STUD)" userId="5bbcb133-347a-4df4-821b-8cd17c786192" providerId="ADAL" clId="{1DB20B25-A8AC-49A5-B0C7-B9ECF47F120C}" dt="2026-07-15T07:45:10.680" v="712" actId="14100"/>
          <ac:spMkLst>
            <pc:docMk/>
            <pc:sldMk cId="1581705765" sldId="279"/>
            <ac:spMk id="10" creationId="{FCF4B5EA-B8F7-3136-D783-F9C0E9C1D22E}"/>
          </ac:spMkLst>
        </pc:spChg>
        <pc:graphicFrameChg chg="add mod">
          <ac:chgData name="Zabierowski Franciszek (STUD)" userId="5bbcb133-347a-4df4-821b-8cd17c786192" providerId="ADAL" clId="{1DB20B25-A8AC-49A5-B0C7-B9ECF47F120C}" dt="2026-07-15T07:42:18.947" v="613"/>
          <ac:graphicFrameMkLst>
            <pc:docMk/>
            <pc:sldMk cId="1581705765" sldId="279"/>
            <ac:graphicFrameMk id="8" creationId="{D51B3749-578C-D826-9F04-B6A44E34D037}"/>
          </ac:graphicFrameMkLst>
        </pc:graphicFrameChg>
        <pc:picChg chg="add mod modCrop">
          <ac:chgData name="Zabierowski Franciszek (STUD)" userId="5bbcb133-347a-4df4-821b-8cd17c786192" providerId="ADAL" clId="{1DB20B25-A8AC-49A5-B0C7-B9ECF47F120C}" dt="2026-07-15T07:51:23.075" v="744" actId="1076"/>
          <ac:picMkLst>
            <pc:docMk/>
            <pc:sldMk cId="1581705765" sldId="279"/>
            <ac:picMk id="14" creationId="{602B6144-8DEB-F623-36FF-AE3E6C5A65A3}"/>
          </ac:picMkLst>
        </pc:picChg>
      </pc:sldChg>
      <pc:sldChg chg="addSp delSp modSp mod modNotesTx">
        <pc:chgData name="Zabierowski Franciszek (STUD)" userId="5bbcb133-347a-4df4-821b-8cd17c786192" providerId="ADAL" clId="{1DB20B25-A8AC-49A5-B0C7-B9ECF47F120C}" dt="2026-07-15T09:40:02.224" v="1169" actId="20577"/>
        <pc:sldMkLst>
          <pc:docMk/>
          <pc:sldMk cId="3791790707" sldId="280"/>
        </pc:sldMkLst>
        <pc:spChg chg="add mod">
          <ac:chgData name="Zabierowski Franciszek (STUD)" userId="5bbcb133-347a-4df4-821b-8cd17c786192" providerId="ADAL" clId="{1DB20B25-A8AC-49A5-B0C7-B9ECF47F120C}" dt="2026-07-15T07:49:13.141" v="721"/>
          <ac:spMkLst>
            <pc:docMk/>
            <pc:sldMk cId="3791790707" sldId="280"/>
            <ac:spMk id="23" creationId="{634775B3-F765-11B5-8EA2-9F3165645711}"/>
          </ac:spMkLst>
        </pc:spChg>
        <pc:graphicFrameChg chg="add mod modGraphic">
          <ac:chgData name="Zabierowski Franciszek (STUD)" userId="5bbcb133-347a-4df4-821b-8cd17c786192" providerId="ADAL" clId="{1DB20B25-A8AC-49A5-B0C7-B9ECF47F120C}" dt="2026-07-15T07:45:51.962" v="719"/>
          <ac:graphicFrameMkLst>
            <pc:docMk/>
            <pc:sldMk cId="3791790707" sldId="280"/>
            <ac:graphicFrameMk id="22" creationId="{3CD562B6-5EF0-50EA-28B3-E1B9169B4190}"/>
          </ac:graphicFrameMkLst>
        </pc:graphicFrameChg>
        <pc:picChg chg="add mod modCrop">
          <ac:chgData name="Zabierowski Franciszek (STUD)" userId="5bbcb133-347a-4df4-821b-8cd17c786192" providerId="ADAL" clId="{1DB20B25-A8AC-49A5-B0C7-B9ECF47F120C}" dt="2026-07-15T07:51:40.403" v="750" actId="732"/>
          <ac:picMkLst>
            <pc:docMk/>
            <pc:sldMk cId="3791790707" sldId="280"/>
            <ac:picMk id="25" creationId="{34BB4CF7-C6C2-42F2-3060-2184D945093A}"/>
          </ac:picMkLst>
        </pc:picChg>
      </pc:sldChg>
      <pc:sldChg chg="addSp delSp modSp mod modNotesTx">
        <pc:chgData name="Zabierowski Franciszek (STUD)" userId="5bbcb133-347a-4df4-821b-8cd17c786192" providerId="ADAL" clId="{1DB20B25-A8AC-49A5-B0C7-B9ECF47F120C}" dt="2026-07-15T09:40:04.774" v="1170" actId="20577"/>
        <pc:sldMkLst>
          <pc:docMk/>
          <pc:sldMk cId="2413150481" sldId="281"/>
        </pc:sldMkLst>
        <pc:graphicFrameChg chg="add mod">
          <ac:chgData name="Zabierowski Franciszek (STUD)" userId="5bbcb133-347a-4df4-821b-8cd17c786192" providerId="ADAL" clId="{1DB20B25-A8AC-49A5-B0C7-B9ECF47F120C}" dt="2026-07-15T07:49:41.638" v="723"/>
          <ac:graphicFrameMkLst>
            <pc:docMk/>
            <pc:sldMk cId="2413150481" sldId="281"/>
            <ac:graphicFrameMk id="25" creationId="{10F466D8-AF29-DA5E-873A-879C885E6B5C}"/>
          </ac:graphicFrameMkLst>
        </pc:graphicFrameChg>
        <pc:picChg chg="add mod modCrop">
          <ac:chgData name="Zabierowski Franciszek (STUD)" userId="5bbcb133-347a-4df4-821b-8cd17c786192" providerId="ADAL" clId="{1DB20B25-A8AC-49A5-B0C7-B9ECF47F120C}" dt="2026-07-15T07:52:15.506" v="756" actId="732"/>
          <ac:picMkLst>
            <pc:docMk/>
            <pc:sldMk cId="2413150481" sldId="281"/>
            <ac:picMk id="27" creationId="{C8FED00B-285F-6DC3-B7DE-FCB07CA103A3}"/>
          </ac:picMkLst>
        </pc:picChg>
      </pc:sldChg>
      <pc:sldChg chg="addSp delSp modSp add del mod modNotesTx">
        <pc:chgData name="Zabierowski Franciszek (STUD)" userId="5bbcb133-347a-4df4-821b-8cd17c786192" providerId="ADAL" clId="{1DB20B25-A8AC-49A5-B0C7-B9ECF47F120C}" dt="2026-07-15T09:40:13.684" v="1172" actId="20577"/>
        <pc:sldMkLst>
          <pc:docMk/>
          <pc:sldMk cId="2682456864" sldId="282"/>
        </pc:sldMkLst>
        <pc:spChg chg="mod">
          <ac:chgData name="Zabierowski Franciszek (STUD)" userId="5bbcb133-347a-4df4-821b-8cd17c786192" providerId="ADAL" clId="{1DB20B25-A8AC-49A5-B0C7-B9ECF47F120C}" dt="2026-07-14T16:54:10.612" v="14" actId="20577"/>
          <ac:spMkLst>
            <pc:docMk/>
            <pc:sldMk cId="2682456864" sldId="282"/>
            <ac:spMk id="3" creationId="{BB8D1279-23A6-017C-853E-D768D9A56105}"/>
          </ac:spMkLst>
        </pc:spChg>
        <pc:graphicFrameChg chg="add mod">
          <ac:chgData name="Zabierowski Franciszek (STUD)" userId="5bbcb133-347a-4df4-821b-8cd17c786192" providerId="ADAL" clId="{1DB20B25-A8AC-49A5-B0C7-B9ECF47F120C}" dt="2026-07-15T07:54:51.245" v="802"/>
          <ac:graphicFrameMkLst>
            <pc:docMk/>
            <pc:sldMk cId="2682456864" sldId="282"/>
            <ac:graphicFrameMk id="24" creationId="{1930EA5D-B0FE-05E1-399A-B529ABD42D6C}"/>
          </ac:graphicFrameMkLst>
        </pc:graphicFrameChg>
        <pc:picChg chg="add mod">
          <ac:chgData name="Zabierowski Franciszek (STUD)" userId="5bbcb133-347a-4df4-821b-8cd17c786192" providerId="ADAL" clId="{1DB20B25-A8AC-49A5-B0C7-B9ECF47F120C}" dt="2026-07-14T17:00:57.604" v="27" actId="14100"/>
          <ac:picMkLst>
            <pc:docMk/>
            <pc:sldMk cId="2682456864" sldId="282"/>
            <ac:picMk id="7" creationId="{323D9B48-5225-F728-30A2-EA20729E518F}"/>
          </ac:picMkLst>
        </pc:picChg>
        <pc:picChg chg="add mod">
          <ac:chgData name="Zabierowski Franciszek (STUD)" userId="5bbcb133-347a-4df4-821b-8cd17c786192" providerId="ADAL" clId="{1DB20B25-A8AC-49A5-B0C7-B9ECF47F120C}" dt="2026-07-14T17:00:54.500" v="26" actId="14100"/>
          <ac:picMkLst>
            <pc:docMk/>
            <pc:sldMk cId="2682456864" sldId="282"/>
            <ac:picMk id="10" creationId="{C26B76A5-E42C-084D-1467-3B95F03B3D16}"/>
          </ac:picMkLst>
        </pc:picChg>
        <pc:picChg chg="add mod">
          <ac:chgData name="Zabierowski Franciszek (STUD)" userId="5bbcb133-347a-4df4-821b-8cd17c786192" providerId="ADAL" clId="{1DB20B25-A8AC-49A5-B0C7-B9ECF47F120C}" dt="2026-07-14T17:01:45.479" v="42" actId="14100"/>
          <ac:picMkLst>
            <pc:docMk/>
            <pc:sldMk cId="2682456864" sldId="282"/>
            <ac:picMk id="13" creationId="{9CD10837-A627-153B-FB3E-D691595E45AD}"/>
          </ac:picMkLst>
        </pc:picChg>
        <pc:picChg chg="add mod">
          <ac:chgData name="Zabierowski Franciszek (STUD)" userId="5bbcb133-347a-4df4-821b-8cd17c786192" providerId="ADAL" clId="{1DB20B25-A8AC-49A5-B0C7-B9ECF47F120C}" dt="2026-07-14T17:01:41.593" v="41" actId="14100"/>
          <ac:picMkLst>
            <pc:docMk/>
            <pc:sldMk cId="2682456864" sldId="282"/>
            <ac:picMk id="15" creationId="{6A341E66-D606-E300-C662-ED656FA09748}"/>
          </ac:picMkLst>
        </pc:picChg>
        <pc:picChg chg="add mod modCrop">
          <ac:chgData name="Zabierowski Franciszek (STUD)" userId="5bbcb133-347a-4df4-821b-8cd17c786192" providerId="ADAL" clId="{1DB20B25-A8AC-49A5-B0C7-B9ECF47F120C}" dt="2026-07-15T07:54:33.723" v="800" actId="1076"/>
          <ac:picMkLst>
            <pc:docMk/>
            <pc:sldMk cId="2682456864" sldId="282"/>
            <ac:picMk id="20" creationId="{1AE90997-D725-200E-4C56-A1A346A9DB24}"/>
          </ac:picMkLst>
        </pc:picChg>
      </pc:sldChg>
      <pc:sldChg chg="addSp delSp modSp add mod modNotesTx">
        <pc:chgData name="Zabierowski Franciszek (STUD)" userId="5bbcb133-347a-4df4-821b-8cd17c786192" providerId="ADAL" clId="{1DB20B25-A8AC-49A5-B0C7-B9ECF47F120C}" dt="2026-07-15T09:40:15.680" v="1173" actId="20577"/>
        <pc:sldMkLst>
          <pc:docMk/>
          <pc:sldMk cId="296605434" sldId="283"/>
        </pc:sldMkLst>
        <pc:spChg chg="mod">
          <ac:chgData name="Zabierowski Franciszek (STUD)" userId="5bbcb133-347a-4df4-821b-8cd17c786192" providerId="ADAL" clId="{1DB20B25-A8AC-49A5-B0C7-B9ECF47F120C}" dt="2026-07-14T17:05:31.831" v="60" actId="20577"/>
          <ac:spMkLst>
            <pc:docMk/>
            <pc:sldMk cId="296605434" sldId="283"/>
            <ac:spMk id="3" creationId="{3E1C9079-73FA-59D2-F3AF-62A41C8ACC69}"/>
          </ac:spMkLst>
        </pc:spChg>
        <pc:graphicFrameChg chg="add mod">
          <ac:chgData name="Zabierowski Franciszek (STUD)" userId="5bbcb133-347a-4df4-821b-8cd17c786192" providerId="ADAL" clId="{1DB20B25-A8AC-49A5-B0C7-B9ECF47F120C}" dt="2026-07-15T07:55:56.121" v="812"/>
          <ac:graphicFrameMkLst>
            <pc:docMk/>
            <pc:sldMk cId="296605434" sldId="283"/>
            <ac:graphicFrameMk id="25" creationId="{EA9CD786-7CBA-F491-8B4C-E77592BC98F6}"/>
          </ac:graphicFrameMkLst>
        </pc:graphicFrameChg>
        <pc:picChg chg="add mod">
          <ac:chgData name="Zabierowski Franciszek (STUD)" userId="5bbcb133-347a-4df4-821b-8cd17c786192" providerId="ADAL" clId="{1DB20B25-A8AC-49A5-B0C7-B9ECF47F120C}" dt="2026-07-14T17:07:24.423" v="72" actId="1076"/>
          <ac:picMkLst>
            <pc:docMk/>
            <pc:sldMk cId="296605434" sldId="283"/>
            <ac:picMk id="8" creationId="{6BCCF9EA-399C-9F12-BF3F-9B1EBFB8228E}"/>
          </ac:picMkLst>
        </pc:picChg>
        <pc:picChg chg="add mod">
          <ac:chgData name="Zabierowski Franciszek (STUD)" userId="5bbcb133-347a-4df4-821b-8cd17c786192" providerId="ADAL" clId="{1DB20B25-A8AC-49A5-B0C7-B9ECF47F120C}" dt="2026-07-14T17:07:28.536" v="73" actId="14100"/>
          <ac:picMkLst>
            <pc:docMk/>
            <pc:sldMk cId="296605434" sldId="283"/>
            <ac:picMk id="11" creationId="{88F97ECE-977E-4BDD-E532-06F16BFEF157}"/>
          </ac:picMkLst>
        </pc:picChg>
        <pc:picChg chg="add mod">
          <ac:chgData name="Zabierowski Franciszek (STUD)" userId="5bbcb133-347a-4df4-821b-8cd17c786192" providerId="ADAL" clId="{1DB20B25-A8AC-49A5-B0C7-B9ECF47F120C}" dt="2026-07-14T17:07:43.796" v="78" actId="14100"/>
          <ac:picMkLst>
            <pc:docMk/>
            <pc:sldMk cId="296605434" sldId="283"/>
            <ac:picMk id="14" creationId="{1D05ECEE-EE19-C5D2-E1E8-7CBF31CBF7A7}"/>
          </ac:picMkLst>
        </pc:picChg>
        <pc:picChg chg="add mod">
          <ac:chgData name="Zabierowski Franciszek (STUD)" userId="5bbcb133-347a-4df4-821b-8cd17c786192" providerId="ADAL" clId="{1DB20B25-A8AC-49A5-B0C7-B9ECF47F120C}" dt="2026-07-14T17:08:15.396" v="90" actId="1076"/>
          <ac:picMkLst>
            <pc:docMk/>
            <pc:sldMk cId="296605434" sldId="283"/>
            <ac:picMk id="18" creationId="{8EBCAF80-07A0-C1F3-88C1-38D438FE7C95}"/>
          </ac:picMkLst>
        </pc:picChg>
        <pc:picChg chg="add mod modCrop">
          <ac:chgData name="Zabierowski Franciszek (STUD)" userId="5bbcb133-347a-4df4-821b-8cd17c786192" providerId="ADAL" clId="{1DB20B25-A8AC-49A5-B0C7-B9ECF47F120C}" dt="2026-07-15T07:55:20.492" v="810" actId="1076"/>
          <ac:picMkLst>
            <pc:docMk/>
            <pc:sldMk cId="296605434" sldId="283"/>
            <ac:picMk id="23" creationId="{DA6F1ADF-509F-09AF-DA36-39D22399D07C}"/>
          </ac:picMkLst>
        </pc:picChg>
      </pc:sldChg>
      <pc:sldChg chg="addSp delSp modSp add mod modNotesTx">
        <pc:chgData name="Zabierowski Franciszek (STUD)" userId="5bbcb133-347a-4df4-821b-8cd17c786192" providerId="ADAL" clId="{1DB20B25-A8AC-49A5-B0C7-B9ECF47F120C}" dt="2026-07-15T09:40:18.696" v="1174" actId="20577"/>
        <pc:sldMkLst>
          <pc:docMk/>
          <pc:sldMk cId="1035163660" sldId="284"/>
        </pc:sldMkLst>
        <pc:spChg chg="mod">
          <ac:chgData name="Zabierowski Franciszek (STUD)" userId="5bbcb133-347a-4df4-821b-8cd17c786192" providerId="ADAL" clId="{1DB20B25-A8AC-49A5-B0C7-B9ECF47F120C}" dt="2026-07-14T19:05:58.068" v="104" actId="20577"/>
          <ac:spMkLst>
            <pc:docMk/>
            <pc:sldMk cId="1035163660" sldId="284"/>
            <ac:spMk id="3" creationId="{02ED134D-5E32-3DF9-5B3B-664B7175EE82}"/>
          </ac:spMkLst>
        </pc:spChg>
        <pc:spChg chg="add mod">
          <ac:chgData name="Zabierowski Franciszek (STUD)" userId="5bbcb133-347a-4df4-821b-8cd17c786192" providerId="ADAL" clId="{1DB20B25-A8AC-49A5-B0C7-B9ECF47F120C}" dt="2026-07-15T07:57:55.878" v="824" actId="1076"/>
          <ac:spMkLst>
            <pc:docMk/>
            <pc:sldMk cId="1035163660" sldId="284"/>
            <ac:spMk id="23" creationId="{2ABCC8F3-EB7F-A691-B473-3F8B3F4EC0A3}"/>
          </ac:spMkLst>
        </pc:spChg>
        <pc:graphicFrameChg chg="add mod">
          <ac:chgData name="Zabierowski Franciszek (STUD)" userId="5bbcb133-347a-4df4-821b-8cd17c786192" providerId="ADAL" clId="{1DB20B25-A8AC-49A5-B0C7-B9ECF47F120C}" dt="2026-07-15T07:56:41.930" v="821"/>
          <ac:graphicFrameMkLst>
            <pc:docMk/>
            <pc:sldMk cId="1035163660" sldId="284"/>
            <ac:graphicFrameMk id="22" creationId="{9E2CB25D-96D3-9C5B-1073-7EA68877A667}"/>
          </ac:graphicFrameMkLst>
        </pc:graphicFrameChg>
        <pc:picChg chg="add mod">
          <ac:chgData name="Zabierowski Franciszek (STUD)" userId="5bbcb133-347a-4df4-821b-8cd17c786192" providerId="ADAL" clId="{1DB20B25-A8AC-49A5-B0C7-B9ECF47F120C}" dt="2026-07-14T19:22:04.426" v="129" actId="14100"/>
          <ac:picMkLst>
            <pc:docMk/>
            <pc:sldMk cId="1035163660" sldId="284"/>
            <ac:picMk id="7" creationId="{8F06BF79-28BA-4CE2-B946-04C1151BA82D}"/>
          </ac:picMkLst>
        </pc:picChg>
        <pc:picChg chg="add mod">
          <ac:chgData name="Zabierowski Franciszek (STUD)" userId="5bbcb133-347a-4df4-821b-8cd17c786192" providerId="ADAL" clId="{1DB20B25-A8AC-49A5-B0C7-B9ECF47F120C}" dt="2026-07-14T19:22:30.071" v="138" actId="14100"/>
          <ac:picMkLst>
            <pc:docMk/>
            <pc:sldMk cId="1035163660" sldId="284"/>
            <ac:picMk id="10" creationId="{33D39092-8E7C-FDB2-4AF3-498789642567}"/>
          </ac:picMkLst>
        </pc:picChg>
        <pc:picChg chg="add mod">
          <ac:chgData name="Zabierowski Franciszek (STUD)" userId="5bbcb133-347a-4df4-821b-8cd17c786192" providerId="ADAL" clId="{1DB20B25-A8AC-49A5-B0C7-B9ECF47F120C}" dt="2026-07-14T19:22:23.509" v="135" actId="14100"/>
          <ac:picMkLst>
            <pc:docMk/>
            <pc:sldMk cId="1035163660" sldId="284"/>
            <ac:picMk id="13" creationId="{D3B14C41-8E84-466B-2F4B-D8E7950B6AE3}"/>
          </ac:picMkLst>
        </pc:picChg>
        <pc:picChg chg="add mod modCrop">
          <ac:chgData name="Zabierowski Franciszek (STUD)" userId="5bbcb133-347a-4df4-821b-8cd17c786192" providerId="ADAL" clId="{1DB20B25-A8AC-49A5-B0C7-B9ECF47F120C}" dt="2026-07-15T07:56:20.671" v="819" actId="732"/>
          <ac:picMkLst>
            <pc:docMk/>
            <pc:sldMk cId="1035163660" sldId="284"/>
            <ac:picMk id="19" creationId="{52A6E668-A6E7-7AD8-5C6A-4D2E4BD50809}"/>
          </ac:picMkLst>
        </pc:picChg>
      </pc:sldChg>
      <pc:sldChg chg="addSp delSp modSp add mod modNotesTx">
        <pc:chgData name="Zabierowski Franciszek (STUD)" userId="5bbcb133-347a-4df4-821b-8cd17c786192" providerId="ADAL" clId="{1DB20B25-A8AC-49A5-B0C7-B9ECF47F120C}" dt="2026-07-15T09:40:21.244" v="1175" actId="20577"/>
        <pc:sldMkLst>
          <pc:docMk/>
          <pc:sldMk cId="372113072" sldId="285"/>
        </pc:sldMkLst>
        <pc:spChg chg="mod">
          <ac:chgData name="Zabierowski Franciszek (STUD)" userId="5bbcb133-347a-4df4-821b-8cd17c786192" providerId="ADAL" clId="{1DB20B25-A8AC-49A5-B0C7-B9ECF47F120C}" dt="2026-07-14T19:50:41.080" v="148" actId="20577"/>
          <ac:spMkLst>
            <pc:docMk/>
            <pc:sldMk cId="372113072" sldId="285"/>
            <ac:spMk id="3" creationId="{523813FC-BD7B-66E4-07C9-392475A09C36}"/>
          </ac:spMkLst>
        </pc:spChg>
        <pc:graphicFrameChg chg="add mod">
          <ac:chgData name="Zabierowski Franciszek (STUD)" userId="5bbcb133-347a-4df4-821b-8cd17c786192" providerId="ADAL" clId="{1DB20B25-A8AC-49A5-B0C7-B9ECF47F120C}" dt="2026-07-15T07:58:44.818" v="835"/>
          <ac:graphicFrameMkLst>
            <pc:docMk/>
            <pc:sldMk cId="372113072" sldId="285"/>
            <ac:graphicFrameMk id="23" creationId="{F3697A89-AA47-3F65-474D-27FAA7A74E97}"/>
          </ac:graphicFrameMkLst>
        </pc:graphicFrameChg>
        <pc:picChg chg="add mod">
          <ac:chgData name="Zabierowski Franciszek (STUD)" userId="5bbcb133-347a-4df4-821b-8cd17c786192" providerId="ADAL" clId="{1DB20B25-A8AC-49A5-B0C7-B9ECF47F120C}" dt="2026-07-14T19:55:18.197" v="157" actId="1076"/>
          <ac:picMkLst>
            <pc:docMk/>
            <pc:sldMk cId="372113072" sldId="285"/>
            <ac:picMk id="8" creationId="{385E524C-4012-84E6-4486-35B7B4FBABD9}"/>
          </ac:picMkLst>
        </pc:picChg>
        <pc:picChg chg="add mod">
          <ac:chgData name="Zabierowski Franciszek (STUD)" userId="5bbcb133-347a-4df4-821b-8cd17c786192" providerId="ADAL" clId="{1DB20B25-A8AC-49A5-B0C7-B9ECF47F120C}" dt="2026-07-14T19:55:15.555" v="156" actId="14100"/>
          <ac:picMkLst>
            <pc:docMk/>
            <pc:sldMk cId="372113072" sldId="285"/>
            <ac:picMk id="11" creationId="{BC6D45FD-6A79-1693-40C2-F7B1B7C0A6C2}"/>
          </ac:picMkLst>
        </pc:picChg>
        <pc:picChg chg="add mod">
          <ac:chgData name="Zabierowski Franciszek (STUD)" userId="5bbcb133-347a-4df4-821b-8cd17c786192" providerId="ADAL" clId="{1DB20B25-A8AC-49A5-B0C7-B9ECF47F120C}" dt="2026-07-14T19:55:41.678" v="161" actId="14100"/>
          <ac:picMkLst>
            <pc:docMk/>
            <pc:sldMk cId="372113072" sldId="285"/>
            <ac:picMk id="14" creationId="{F9DE5666-8E8F-8077-8208-4D211A730336}"/>
          </ac:picMkLst>
        </pc:picChg>
        <pc:picChg chg="add mod">
          <ac:chgData name="Zabierowski Franciszek (STUD)" userId="5bbcb133-347a-4df4-821b-8cd17c786192" providerId="ADAL" clId="{1DB20B25-A8AC-49A5-B0C7-B9ECF47F120C}" dt="2026-07-14T19:55:56.494" v="166" actId="14100"/>
          <ac:picMkLst>
            <pc:docMk/>
            <pc:sldMk cId="372113072" sldId="285"/>
            <ac:picMk id="17" creationId="{8D6970CF-225A-451A-90F1-322AE9AA8C8F}"/>
          </ac:picMkLst>
        </pc:picChg>
        <pc:picChg chg="add mod modCrop">
          <ac:chgData name="Zabierowski Franciszek (STUD)" userId="5bbcb133-347a-4df4-821b-8cd17c786192" providerId="ADAL" clId="{1DB20B25-A8AC-49A5-B0C7-B9ECF47F120C}" dt="2026-07-15T07:58:30.055" v="833" actId="1076"/>
          <ac:picMkLst>
            <pc:docMk/>
            <pc:sldMk cId="372113072" sldId="285"/>
            <ac:picMk id="21" creationId="{3420F1DE-DFDF-7B4A-695D-8F1DE16D6173}"/>
          </ac:picMkLst>
        </pc:picChg>
      </pc:sldChg>
      <pc:sldChg chg="addSp delSp modSp add mod modNotesTx">
        <pc:chgData name="Zabierowski Franciszek (STUD)" userId="5bbcb133-347a-4df4-821b-8cd17c786192" providerId="ADAL" clId="{1DB20B25-A8AC-49A5-B0C7-B9ECF47F120C}" dt="2026-07-22T11:54:15.824" v="1794" actId="14100"/>
        <pc:sldMkLst>
          <pc:docMk/>
          <pc:sldMk cId="3741942857" sldId="286"/>
        </pc:sldMkLst>
        <pc:spChg chg="mod">
          <ac:chgData name="Zabierowski Franciszek (STUD)" userId="5bbcb133-347a-4df4-821b-8cd17c786192" providerId="ADAL" clId="{1DB20B25-A8AC-49A5-B0C7-B9ECF47F120C}" dt="2026-07-14T21:17:53.738" v="340" actId="1076"/>
          <ac:spMkLst>
            <pc:docMk/>
            <pc:sldMk cId="3741942857" sldId="286"/>
            <ac:spMk id="12" creationId="{645ED24A-D7D6-E4AC-BD13-C2D8DD0BCE47}"/>
          </ac:spMkLst>
        </pc:spChg>
        <pc:spChg chg="mod">
          <ac:chgData name="Zabierowski Franciszek (STUD)" userId="5bbcb133-347a-4df4-821b-8cd17c786192" providerId="ADAL" clId="{1DB20B25-A8AC-49A5-B0C7-B9ECF47F120C}" dt="2026-07-15T09:23:53.102" v="884" actId="14100"/>
          <ac:spMkLst>
            <pc:docMk/>
            <pc:sldMk cId="3741942857" sldId="286"/>
            <ac:spMk id="14" creationId="{A7E41968-2A34-1D40-E18A-8C4698D79961}"/>
          </ac:spMkLst>
        </pc:spChg>
        <pc:spChg chg="mod">
          <ac:chgData name="Zabierowski Franciszek (STUD)" userId="5bbcb133-347a-4df4-821b-8cd17c786192" providerId="ADAL" clId="{1DB20B25-A8AC-49A5-B0C7-B9ECF47F120C}" dt="2026-07-15T09:23:37.003" v="882" actId="1036"/>
          <ac:spMkLst>
            <pc:docMk/>
            <pc:sldMk cId="3741942857" sldId="286"/>
            <ac:spMk id="15" creationId="{53510F95-7685-C25A-DE42-B45DF9F02A06}"/>
          </ac:spMkLst>
        </pc:spChg>
        <pc:spChg chg="add mod">
          <ac:chgData name="Zabierowski Franciszek (STUD)" userId="5bbcb133-347a-4df4-821b-8cd17c786192" providerId="ADAL" clId="{1DB20B25-A8AC-49A5-B0C7-B9ECF47F120C}" dt="2026-07-15T09:29:47.790" v="1149" actId="20577"/>
          <ac:spMkLst>
            <pc:docMk/>
            <pc:sldMk cId="3741942857" sldId="286"/>
            <ac:spMk id="18" creationId="{615E0F22-9221-3F46-C693-E9CF787C3413}"/>
          </ac:spMkLst>
        </pc:spChg>
        <pc:picChg chg="add mod">
          <ac:chgData name="Zabierowski Franciszek (STUD)" userId="5bbcb133-347a-4df4-821b-8cd17c786192" providerId="ADAL" clId="{1DB20B25-A8AC-49A5-B0C7-B9ECF47F120C}" dt="2026-07-22T11:54:15.824" v="1794" actId="14100"/>
          <ac:picMkLst>
            <pc:docMk/>
            <pc:sldMk cId="3741942857" sldId="286"/>
            <ac:picMk id="9" creationId="{424DBAE0-538E-6746-DEA1-FDFE9918285D}"/>
          </ac:picMkLst>
        </pc:picChg>
        <pc:picChg chg="mod">
          <ac:chgData name="Zabierowski Franciszek (STUD)" userId="5bbcb133-347a-4df4-821b-8cd17c786192" providerId="ADAL" clId="{1DB20B25-A8AC-49A5-B0C7-B9ECF47F120C}" dt="2026-07-15T09:23:43.377" v="883" actId="14100"/>
          <ac:picMkLst>
            <pc:docMk/>
            <pc:sldMk cId="3741942857" sldId="286"/>
            <ac:picMk id="13" creationId="{A5525480-5E5B-7DB4-1864-BFA5DEB5DC6D}"/>
          </ac:picMkLst>
        </pc:picChg>
      </pc:sldChg>
      <pc:sldChg chg="modSp add mod ord modNotesTx">
        <pc:chgData name="Zabierowski Franciszek (STUD)" userId="5bbcb133-347a-4df4-821b-8cd17c786192" providerId="ADAL" clId="{1DB20B25-A8AC-49A5-B0C7-B9ECF47F120C}" dt="2026-07-15T09:40:31.968" v="1177" actId="20577"/>
        <pc:sldMkLst>
          <pc:docMk/>
          <pc:sldMk cId="293985124" sldId="287"/>
        </pc:sldMkLst>
        <pc:graphicFrameChg chg="modGraphic">
          <ac:chgData name="Zabierowski Franciszek (STUD)" userId="5bbcb133-347a-4df4-821b-8cd17c786192" providerId="ADAL" clId="{1DB20B25-A8AC-49A5-B0C7-B9ECF47F120C}" dt="2026-07-15T08:02:00.691" v="861" actId="207"/>
          <ac:graphicFrameMkLst>
            <pc:docMk/>
            <pc:sldMk cId="293985124" sldId="287"/>
            <ac:graphicFrameMk id="11" creationId="{799DA7BA-64CB-D316-63C0-0691A4BE2B2A}"/>
          </ac:graphicFrameMkLst>
        </pc:graphicFrameChg>
      </pc:sldChg>
      <pc:sldChg chg="addSp delSp modSp add mod">
        <pc:chgData name="Zabierowski Franciszek (STUD)" userId="5bbcb133-347a-4df4-821b-8cd17c786192" providerId="ADAL" clId="{1DB20B25-A8AC-49A5-B0C7-B9ECF47F120C}" dt="2026-08-02T19:26:11.882" v="1817"/>
        <pc:sldMkLst>
          <pc:docMk/>
          <pc:sldMk cId="2477635229" sldId="288"/>
        </pc:sldMkLst>
        <pc:spChg chg="mod">
          <ac:chgData name="Zabierowski Franciszek (STUD)" userId="5bbcb133-347a-4df4-821b-8cd17c786192" providerId="ADAL" clId="{1DB20B25-A8AC-49A5-B0C7-B9ECF47F120C}" dt="2026-08-02T19:26:11.882" v="1817"/>
          <ac:spMkLst>
            <pc:docMk/>
            <pc:sldMk cId="2477635229" sldId="288"/>
            <ac:spMk id="9" creationId="{64DE307F-B086-7E4F-1201-396D744A5C5D}"/>
          </ac:spMkLst>
        </pc:spChg>
        <pc:picChg chg="add mod">
          <ac:chgData name="Zabierowski Franciszek (STUD)" userId="5bbcb133-347a-4df4-821b-8cd17c786192" providerId="ADAL" clId="{1DB20B25-A8AC-49A5-B0C7-B9ECF47F120C}" dt="2026-08-02T19:25:40.056" v="1804" actId="14100"/>
          <ac:picMkLst>
            <pc:docMk/>
            <pc:sldMk cId="2477635229" sldId="288"/>
            <ac:picMk id="7" creationId="{4E645154-CB03-7C27-A72B-1005D71699BD}"/>
          </ac:picMkLst>
        </pc:picChg>
        <pc:picChg chg="add del mod">
          <ac:chgData name="Zabierowski Franciszek (STUD)" userId="5bbcb133-347a-4df4-821b-8cd17c786192" providerId="ADAL" clId="{1DB20B25-A8AC-49A5-B0C7-B9ECF47F120C}" dt="2026-08-02T19:25:32.790" v="1801" actId="478"/>
          <ac:picMkLst>
            <pc:docMk/>
            <pc:sldMk cId="2477635229" sldId="288"/>
            <ac:picMk id="8" creationId="{2DF1D001-910E-86DA-BFCA-5A046EA0E921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470054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FE20A7-56A3-BF3C-649C-75AFA4BCF1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069F9A-4E5B-23D6-4D1E-8D861AAA52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1BC317-A2A3-F5F8-24A3-4AB2AC1704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54D06D-7CF4-DCF5-7AEC-0044930F180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5747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8F2847-4C82-F72C-3169-A0B23D5789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65C744-F645-BB72-0E28-65704A1F58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06F3A2-10BE-9EBC-BC2F-4BCD36A942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A65950-73D1-0349-7783-19D918767BC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660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6C2318-7FBC-C2CB-2505-8C664624E1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720BD6-7BB2-72C3-1EDA-AA2B6093F0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4CC404-8516-11E5-DD8D-36701247DE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B1DA64-8084-C02C-836A-9FEC90FDCE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939460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58C4CE-E66D-CFAC-913A-9A87DA75D9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4DEFDB-236C-F46B-1359-5F0E2BC0F8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DF035F-6E54-1947-4804-B3A6F94726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804296-A143-DD9B-925B-BC6C8B2AE5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765096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3EB2E3-A78A-33CB-2365-0FEAABFD94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6D52BF-5965-C28A-3D7C-C2811CDF36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A9D1EA-6533-34B2-B538-840601921C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D03660-CA44-9B4A-88FD-4F6360694F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259670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7D118B-19E5-36F7-2598-A88C5D9822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3E0059-EC41-314F-31DD-88BE374077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07A1FC-C470-045F-9B0C-C3D3A7189B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B9BBAA-A20A-FECF-FFF4-9FFAEFC992E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796663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2B5173-BF72-CE1F-9C93-9AE82A1BD8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8DC7A2-D39C-7FA8-04F2-CE7E04FBB3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AAEF83-9AFF-239B-C8EC-C35951A5A7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E76326-2F0A-A51C-417D-A6C20A6593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303967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15B49D-2615-E21A-1E6C-6449EB6A0D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BA550C-1C56-AE69-40CE-FA5D6930B0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152212-7A57-C306-1837-DB92DE739A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6EDDF6-3089-8628-970F-5010AA5C21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04739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57E32F-BC5E-6D13-A6BA-7DD6BB89AD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DA7402-FEC8-111E-5DDB-791E69ABA8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F0EB5D-6816-BC61-F9B5-F04E236E09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580EDD-44B9-4EF6-730E-F0C108AA48C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288055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CFB3C-BE16-851B-D2F9-872DB3865B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1DFD71-93B4-73F7-0FB2-F8207ABCD7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7DD2C1-D719-A941-E2C9-277333E992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4FD4E0-2DE3-32B6-BE8D-9D617D1320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102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C66FA3-9387-BFB2-36F2-603B7FE0D1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7A8C47-4249-CE5F-7C59-3E1DA0D1D6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44E19E-73BC-816A-8C16-420D4B2BC9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9484CD-B7E1-7CF0-0035-F32A070DFF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77541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8.png"/><Relationship Id="rId4" Type="http://schemas.openxmlformats.org/officeDocument/2006/relationships/hyperlink" Target="https://doi.org/10.1063/1.5124153" TargetMode="External"/><Relationship Id="rId9" Type="http://schemas.openxmlformats.org/officeDocument/2006/relationships/image" Target="../media/image7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63/1.5124153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image" Target="../media/image47.png"/><Relationship Id="rId7" Type="http://schemas.openxmlformats.org/officeDocument/2006/relationships/image" Target="../media/image5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7" Type="http://schemas.openxmlformats.org/officeDocument/2006/relationships/image" Target="../media/image5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3" Type="http://schemas.openxmlformats.org/officeDocument/2006/relationships/image" Target="../media/image58.png"/><Relationship Id="rId7" Type="http://schemas.openxmlformats.org/officeDocument/2006/relationships/image" Target="../media/image6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22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2238"/>
          </a:solidFill>
          <a:ln w="12700">
            <a:solidFill>
              <a:srgbClr val="15223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" name="Text 2"/>
          <p:cNvSpPr/>
          <p:nvPr/>
        </p:nvSpPr>
        <p:spPr>
          <a:xfrm>
            <a:off x="685800" y="300071"/>
            <a:ext cx="10515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Carbon-decorated divacancies in hBN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85800" y="9518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DDE7F7"/>
                </a:solidFill>
              </a:rPr>
              <a:t>First-principles screening toward UV–VIS quantum emitters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85800" y="1473028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AFC3E0"/>
                </a:solidFill>
              </a:rPr>
              <a:t>Status report and project roadmap for FTMC discussion</a:t>
            </a:r>
            <a:endParaRPr lang="en-US" dirty="0"/>
          </a:p>
        </p:txBody>
      </p:sp>
      <p:pic>
        <p:nvPicPr>
          <p:cNvPr id="7" name="Image 0" descr="/mnt/data/c6c7fc7c-428a-4f54-9e16-526c95aa524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5655" y="1767365"/>
            <a:ext cx="5038280" cy="484311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66390" y="5906180"/>
            <a:ext cx="5669280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Franciszek Zabierowski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Warsaw University of Technology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FTMC discussion: Lukas Razinkovas group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Text 1"/>
          <p:cNvSpPr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this presentation is about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02920" y="1069848"/>
            <a:ext cx="11155680" cy="0"/>
          </a:xfrm>
          <a:prstGeom prst="line">
            <a:avLst/>
          </a:prstGeom>
          <a:noFill/>
          <a:ln w="12700">
            <a:solidFill>
              <a:srgbClr val="CCD4E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" name="Text 3"/>
          <p:cNvSpPr/>
          <p:nvPr/>
        </p:nvSpPr>
        <p:spPr>
          <a:xfrm>
            <a:off x="502920" y="6510528"/>
            <a:ext cx="9692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A8494"/>
                </a:solidFill>
              </a:rPr>
              <a:t>Franciszek Zabierowski  |  FTMC project discussion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180779" y="1325879"/>
            <a:ext cx="3835750" cy="4638741"/>
          </a:xfrm>
          <a:prstGeom prst="roundRect">
            <a:avLst>
              <a:gd name="adj" fmla="val 2432"/>
            </a:avLst>
          </a:prstGeom>
          <a:solidFill>
            <a:srgbClr val="FFFFFF"/>
          </a:solidFill>
          <a:ln w="12700">
            <a:solidFill>
              <a:srgbClr val="D4DDEB"/>
            </a:solidFill>
            <a:prstDash val="solid"/>
          </a:ln>
        </p:spPr>
        <p:txBody>
          <a:bodyPr/>
          <a:lstStyle/>
          <a:p>
            <a:endParaRPr lang="pl-PL" sz="2000" baseline="-25000"/>
          </a:p>
        </p:txBody>
      </p:sp>
      <p:sp>
        <p:nvSpPr>
          <p:cNvPr id="7" name="Text 5"/>
          <p:cNvSpPr/>
          <p:nvPr/>
        </p:nvSpPr>
        <p:spPr>
          <a:xfrm>
            <a:off x="345371" y="1453896"/>
            <a:ext cx="3054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52238"/>
                </a:solidFill>
              </a:rPr>
              <a:t>Scientific question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09379" y="1691640"/>
            <a:ext cx="2880360" cy="3291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52238"/>
                </a:solidFill>
              </a:rPr>
              <a:t>Can carbon-decorated divacancies form optically active centers in hBN?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52238"/>
                </a:solidFill>
              </a:rPr>
              <a:t>Do they create localized in-gap states suitable for UV–VIS emission?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52238"/>
                </a:solidFill>
              </a:rPr>
              <a:t>Which geometries are worth full optical-property calculations?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182329" y="1325879"/>
            <a:ext cx="3835750" cy="4638741"/>
          </a:xfrm>
          <a:prstGeom prst="roundRect">
            <a:avLst>
              <a:gd name="adj" fmla="val 2432"/>
            </a:avLst>
          </a:prstGeom>
          <a:solidFill>
            <a:srgbClr val="FFFFFF"/>
          </a:solidFill>
          <a:ln w="12700">
            <a:solidFill>
              <a:srgbClr val="D4DDEB"/>
            </a:solidFill>
            <a:prstDash val="solid"/>
          </a:ln>
        </p:spPr>
        <p:txBody>
          <a:bodyPr/>
          <a:lstStyle/>
          <a:p>
            <a:endParaRPr lang="pl-PL" sz="2000" baseline="-25000"/>
          </a:p>
        </p:txBody>
      </p:sp>
      <p:sp>
        <p:nvSpPr>
          <p:cNvPr id="10" name="Text 8"/>
          <p:cNvSpPr/>
          <p:nvPr/>
        </p:nvSpPr>
        <p:spPr>
          <a:xfrm>
            <a:off x="4346921" y="1453896"/>
            <a:ext cx="3054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52238"/>
                </a:solidFill>
              </a:rPr>
              <a:t>What is done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388069" y="1691640"/>
            <a:ext cx="2926080" cy="34747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52238"/>
                </a:solidFill>
              </a:rPr>
              <a:t>Defect-nomenclature scheme and structural models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52238"/>
                </a:solidFill>
              </a:rPr>
              <a:t>PBE → HSE relaxation workflow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52238"/>
                </a:solidFill>
              </a:rPr>
              <a:t>Neutral-state </a:t>
            </a:r>
            <a:r>
              <a:rPr lang="pl-PL" sz="1600" dirty="0">
                <a:solidFill>
                  <a:srgbClr val="152238"/>
                </a:solidFill>
              </a:rPr>
              <a:t>calculated in </a:t>
            </a:r>
            <a:r>
              <a:rPr lang="en-US" sz="1600" dirty="0">
                <a:solidFill>
                  <a:srgbClr val="152238"/>
                </a:solidFill>
              </a:rPr>
              <a:t>HSE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sz="1600" dirty="0">
                <a:solidFill>
                  <a:srgbClr val="152238"/>
                </a:solidFill>
              </a:rPr>
              <a:t>E</a:t>
            </a:r>
            <a:r>
              <a:rPr lang="en-US" sz="1600" dirty="0" err="1">
                <a:solidFill>
                  <a:srgbClr val="152238"/>
                </a:solidFill>
              </a:rPr>
              <a:t>xcited</a:t>
            </a:r>
            <a:r>
              <a:rPr lang="en-US" sz="1600" dirty="0">
                <a:solidFill>
                  <a:srgbClr val="152238"/>
                </a:solidFill>
              </a:rPr>
              <a:t>-state geometries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183880" y="1325879"/>
            <a:ext cx="3835750" cy="4638741"/>
          </a:xfrm>
          <a:prstGeom prst="roundRect">
            <a:avLst>
              <a:gd name="adj" fmla="val 2432"/>
            </a:avLst>
          </a:prstGeom>
          <a:solidFill>
            <a:srgbClr val="FFFFFF"/>
          </a:solidFill>
          <a:ln w="12700">
            <a:solidFill>
              <a:srgbClr val="D4DDEB"/>
            </a:solidFill>
            <a:prstDash val="solid"/>
          </a:ln>
        </p:spPr>
        <p:txBody>
          <a:bodyPr/>
          <a:lstStyle/>
          <a:p>
            <a:endParaRPr lang="pl-PL" sz="2000" baseline="-25000"/>
          </a:p>
        </p:txBody>
      </p:sp>
      <p:sp>
        <p:nvSpPr>
          <p:cNvPr id="13" name="Text 11"/>
          <p:cNvSpPr/>
          <p:nvPr/>
        </p:nvSpPr>
        <p:spPr>
          <a:xfrm>
            <a:off x="8348472" y="1453896"/>
            <a:ext cx="3054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52238"/>
                </a:solidFill>
              </a:rPr>
              <a:t>What remains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412480" y="1691640"/>
            <a:ext cx="2880360" cy="34747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52238"/>
                </a:solidFill>
              </a:rPr>
              <a:t>ZPL, Huang–Rhys factor, Debye–Waller factor, PL lineshape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52238"/>
                </a:solidFill>
              </a:rPr>
              <a:t>Optical matrix elements and final candidate ranking</a:t>
            </a:r>
            <a:endParaRPr lang="pl-PL" sz="1600" dirty="0">
              <a:solidFill>
                <a:srgbClr val="152238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52238"/>
                </a:solidFill>
              </a:rPr>
              <a:t>Charge-transition levels to justify q = 0 optical calculations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52238"/>
                </a:solidFill>
              </a:rPr>
              <a:t>Complete ΔSCF / excited-state convergence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Text 1"/>
          <p:cNvSpPr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Motivation: hBN emitters are promising, but their microscopic origin is often unclear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069848"/>
            <a:ext cx="11155680" cy="0"/>
          </a:xfrm>
          <a:prstGeom prst="line">
            <a:avLst/>
          </a:prstGeom>
          <a:noFill/>
          <a:ln w="12700">
            <a:solidFill>
              <a:srgbClr val="CCD4E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" name="Text 3"/>
          <p:cNvSpPr/>
          <p:nvPr/>
        </p:nvSpPr>
        <p:spPr>
          <a:xfrm>
            <a:off x="502920" y="6510528"/>
            <a:ext cx="9692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A8494"/>
                </a:solidFill>
              </a:rPr>
              <a:t>Franciszek Zabierowski  |  FTMC project discussion</a:t>
            </a:r>
            <a:endParaRPr lang="en-US" sz="750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44B97BF-83B3-A332-282A-8B4122683ACD}"/>
              </a:ext>
            </a:extLst>
          </p:cNvPr>
          <p:cNvGrpSpPr/>
          <p:nvPr/>
        </p:nvGrpSpPr>
        <p:grpSpPr>
          <a:xfrm>
            <a:off x="177700" y="1197870"/>
            <a:ext cx="4000401" cy="4882890"/>
            <a:chOff x="594360" y="1280160"/>
            <a:chExt cx="3657600" cy="4526280"/>
          </a:xfrm>
        </p:grpSpPr>
        <p:sp>
          <p:nvSpPr>
            <p:cNvPr id="6" name="Shape 4"/>
            <p:cNvSpPr/>
            <p:nvPr/>
          </p:nvSpPr>
          <p:spPr>
            <a:xfrm>
              <a:off x="594360" y="1280160"/>
              <a:ext cx="3657600" cy="4526280"/>
            </a:xfrm>
            <a:prstGeom prst="roundRect">
              <a:avLst>
                <a:gd name="adj" fmla="val 2250"/>
              </a:avLst>
            </a:prstGeom>
            <a:solidFill>
              <a:srgbClr val="FFFFFF"/>
            </a:solidFill>
            <a:ln w="12700">
              <a:solidFill>
                <a:srgbClr val="D4DDEB"/>
              </a:solidFill>
              <a:prstDash val="solid"/>
            </a:ln>
          </p:spPr>
          <p:txBody>
            <a:bodyPr/>
            <a:lstStyle/>
            <a:p>
              <a:endParaRPr lang="pl-PL"/>
            </a:p>
          </p:txBody>
        </p:sp>
        <p:sp>
          <p:nvSpPr>
            <p:cNvPr id="7" name="Text 5"/>
            <p:cNvSpPr/>
            <p:nvPr/>
          </p:nvSpPr>
          <p:spPr>
            <a:xfrm>
              <a:off x="758952" y="1408176"/>
              <a:ext cx="3328416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152238"/>
                  </a:solidFill>
                </a:rPr>
                <a:t>Why hBN?</a:t>
              </a:r>
              <a:endParaRPr lang="en-US" sz="160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822960" y="1783080"/>
              <a:ext cx="3200400" cy="3246120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rm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600" dirty="0">
                  <a:solidFill>
                    <a:srgbClr val="152238"/>
                  </a:solidFill>
                </a:rPr>
                <a:t>Wide-bandgap van der Waals material</a:t>
              </a:r>
              <a:endParaRPr lang="en-US" sz="1600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600" dirty="0">
                  <a:solidFill>
                    <a:srgbClr val="152238"/>
                  </a:solidFill>
                </a:rPr>
                <a:t>Room-temperature single-photon emission has been observed</a:t>
              </a:r>
              <a:endParaRPr lang="en-US" sz="1600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600" dirty="0">
                  <a:solidFill>
                    <a:srgbClr val="152238"/>
                  </a:solidFill>
                </a:rPr>
                <a:t>Emitter classes span UV, blue, visible and NIR ranges</a:t>
              </a:r>
              <a:endParaRPr lang="en-US" sz="1600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600" dirty="0">
                  <a:solidFill>
                    <a:srgbClr val="152238"/>
                  </a:solidFill>
                </a:rPr>
                <a:t>2D geometry makes integration with nanophotonics attractive</a:t>
              </a:r>
              <a:endParaRPr lang="en-US" sz="1600" dirty="0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F580B73A-8834-49A4-ADB8-F42450B26359}"/>
              </a:ext>
            </a:extLst>
          </p:cNvPr>
          <p:cNvGrpSpPr/>
          <p:nvPr/>
        </p:nvGrpSpPr>
        <p:grpSpPr>
          <a:xfrm>
            <a:off x="4358067" y="1197870"/>
            <a:ext cx="3550356" cy="4882890"/>
            <a:chOff x="4526280" y="1280160"/>
            <a:chExt cx="3246120" cy="4526280"/>
          </a:xfrm>
        </p:grpSpPr>
        <p:sp>
          <p:nvSpPr>
            <p:cNvPr id="9" name="Shape 7"/>
            <p:cNvSpPr/>
            <p:nvPr/>
          </p:nvSpPr>
          <p:spPr>
            <a:xfrm>
              <a:off x="4526280" y="1280160"/>
              <a:ext cx="3246120" cy="4526280"/>
            </a:xfrm>
            <a:prstGeom prst="roundRect">
              <a:avLst>
                <a:gd name="adj" fmla="val 2535"/>
              </a:avLst>
            </a:prstGeom>
            <a:solidFill>
              <a:srgbClr val="FFFFFF"/>
            </a:solidFill>
            <a:ln w="12700">
              <a:solidFill>
                <a:srgbClr val="D4DDEB"/>
              </a:solidFill>
              <a:prstDash val="solid"/>
            </a:ln>
          </p:spPr>
          <p:txBody>
            <a:bodyPr/>
            <a:lstStyle/>
            <a:p>
              <a:endParaRPr lang="pl-PL"/>
            </a:p>
          </p:txBody>
        </p:sp>
        <p:sp>
          <p:nvSpPr>
            <p:cNvPr id="10" name="Text 8"/>
            <p:cNvSpPr/>
            <p:nvPr/>
          </p:nvSpPr>
          <p:spPr>
            <a:xfrm>
              <a:off x="4690872" y="1408176"/>
              <a:ext cx="2916936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152238"/>
                  </a:solidFill>
                </a:rPr>
                <a:t>The bottleneck</a:t>
              </a:r>
              <a:endParaRPr lang="en-US" sz="16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4754880" y="1783080"/>
              <a:ext cx="2834640" cy="3246120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rm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600" dirty="0">
                  <a:solidFill>
                    <a:srgbClr val="152238"/>
                  </a:solidFill>
                </a:rPr>
                <a:t>Many emitters remain chemically unidentified</a:t>
              </a:r>
              <a:endParaRPr lang="en-US" sz="1600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600" dirty="0">
                  <a:solidFill>
                    <a:srgbClr val="152238"/>
                  </a:solidFill>
                </a:rPr>
                <a:t>Carbon is repeatedly implicated in UV/VIS emission</a:t>
              </a:r>
              <a:endParaRPr lang="en-US" sz="1600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600" dirty="0">
                  <a:solidFill>
                    <a:srgbClr val="152238"/>
                  </a:solidFill>
                </a:rPr>
                <a:t>Different local geometries may yield very different spectra</a:t>
              </a:r>
              <a:endParaRPr lang="en-US" sz="1600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600" dirty="0">
                  <a:solidFill>
                    <a:srgbClr val="152238"/>
                  </a:solidFill>
                </a:rPr>
                <a:t>DFT is needed to connect structure, levels and optical fingerprints</a:t>
              </a:r>
              <a:endParaRPr lang="en-US" sz="1600" dirty="0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7D6D440-9DCE-7F2D-D19C-6EE13318723D}"/>
              </a:ext>
            </a:extLst>
          </p:cNvPr>
          <p:cNvGrpSpPr/>
          <p:nvPr/>
        </p:nvGrpSpPr>
        <p:grpSpPr>
          <a:xfrm>
            <a:off x="8088389" y="1197870"/>
            <a:ext cx="3850386" cy="4882890"/>
            <a:chOff x="8046720" y="1280160"/>
            <a:chExt cx="3520440" cy="4526280"/>
          </a:xfrm>
        </p:grpSpPr>
        <p:sp>
          <p:nvSpPr>
            <p:cNvPr id="12" name="Shape 10"/>
            <p:cNvSpPr/>
            <p:nvPr/>
          </p:nvSpPr>
          <p:spPr>
            <a:xfrm>
              <a:off x="8046720" y="1280160"/>
              <a:ext cx="3520440" cy="4526280"/>
            </a:xfrm>
            <a:prstGeom prst="roundRect">
              <a:avLst>
                <a:gd name="adj" fmla="val 2338"/>
              </a:avLst>
            </a:prstGeom>
            <a:solidFill>
              <a:srgbClr val="FFFFFF"/>
            </a:solidFill>
            <a:ln w="12700">
              <a:solidFill>
                <a:srgbClr val="D4DDEB"/>
              </a:solidFill>
              <a:prstDash val="solid"/>
            </a:ln>
          </p:spPr>
          <p:txBody>
            <a:bodyPr/>
            <a:lstStyle/>
            <a:p>
              <a:endParaRPr lang="pl-PL"/>
            </a:p>
          </p:txBody>
        </p:sp>
        <p:sp>
          <p:nvSpPr>
            <p:cNvPr id="13" name="Text 11"/>
            <p:cNvSpPr/>
            <p:nvPr/>
          </p:nvSpPr>
          <p:spPr>
            <a:xfrm>
              <a:off x="8211312" y="1408176"/>
              <a:ext cx="3191256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152238"/>
                  </a:solidFill>
                </a:rPr>
                <a:t>Project position</a:t>
              </a:r>
              <a:endParaRPr lang="en-US" sz="16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 12"/>
                <p:cNvSpPr/>
                <p:nvPr/>
              </p:nvSpPr>
              <p:spPr>
                <a:xfrm>
                  <a:off x="8275320" y="1783080"/>
                  <a:ext cx="3063240" cy="3474720"/>
                </a:xfrm>
                <a:prstGeom prst="rect">
                  <a:avLst/>
                </a:prstGeom>
                <a:noFill/>
                <a:ln/>
              </p:spPr>
              <p:txBody>
                <a:bodyPr wrap="square" lIns="889" tIns="889" rIns="889" bIns="889" rtlCol="0" anchor="t">
                  <a:normAutofit/>
                </a:bodyPr>
                <a:lstStyle/>
                <a:p>
                  <a:pPr marL="285750" indent="-285750" algn="l">
                    <a:buFont typeface="Arial" panose="020B0604020202020204" pitchFamily="34" charset="0"/>
                    <a:buChar char="•"/>
                  </a:pPr>
                  <a:r>
                    <a:rPr lang="en-US" sz="1600" dirty="0">
                      <a:solidFill>
                        <a:srgbClr val="152238"/>
                      </a:solidFill>
                      <a:latin typeface="Aptos" pitchFamily="34" charset="0"/>
                      <a:ea typeface="Aptos" pitchFamily="34" charset="-122"/>
                      <a:cs typeface="Aptos" pitchFamily="34" charset="-120"/>
                    </a:rPr>
                    <a:t>This project focuses on carbon-decorated divacancy complexes as a bridge between two known motifs: </a:t>
                  </a:r>
                  <a:endParaRPr lang="pl-PL" sz="1600" dirty="0">
                    <a:solidFill>
                      <a:srgbClr val="152238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endParaRPr>
                </a:p>
                <a:p>
                  <a:pPr marL="742950" lvl="1" indent="-285750">
                    <a:buFont typeface="Arial" panose="020B0604020202020204" pitchFamily="34" charset="0"/>
                    <a:buChar char="•"/>
                  </a:pPr>
                  <a:r>
                    <a:rPr lang="en-US" dirty="0">
                      <a:solidFill>
                        <a:srgbClr val="152238"/>
                      </a:solidFill>
                      <a:latin typeface="Aptos" pitchFamily="34" charset="0"/>
                      <a:ea typeface="Aptos" pitchFamily="34" charset="-122"/>
                      <a:cs typeface="Aptos" pitchFamily="34" charset="-120"/>
                    </a:rPr>
                    <a:t>carbon dimer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solidFill>
                                <a:srgbClr val="152238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Aptos" pitchFamily="34" charset="-12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solidFill>
                                <a:srgbClr val="152238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Aptos" pitchFamily="34" charset="-120"/>
                            </a:rPr>
                            <m:t>𝐶</m:t>
                          </m:r>
                        </m:e>
                        <m:sub>
                          <m:r>
                            <a:rPr lang="en-US" i="1" dirty="0" smtClean="0">
                              <a:solidFill>
                                <a:srgbClr val="152238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Aptos" pitchFamily="34" charset="-120"/>
                            </a:rPr>
                            <m:t>𝐵</m:t>
                          </m:r>
                        </m:sub>
                      </m:sSub>
                      <m:sSub>
                        <m:sSubPr>
                          <m:ctrlPr>
                            <a:rPr lang="en-US" i="1" dirty="0" smtClean="0">
                              <a:solidFill>
                                <a:srgbClr val="152238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Aptos" pitchFamily="34" charset="-12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solidFill>
                                <a:srgbClr val="152238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Aptos" pitchFamily="34" charset="-120"/>
                            </a:rPr>
                            <m:t>𝐶</m:t>
                          </m:r>
                        </m:e>
                        <m:sub>
                          <m:r>
                            <a:rPr lang="en-US" i="1" dirty="0" smtClean="0">
                              <a:solidFill>
                                <a:srgbClr val="152238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Aptos" pitchFamily="34" charset="-120"/>
                            </a:rPr>
                            <m:t>𝑁</m:t>
                          </m:r>
                        </m:sub>
                      </m:sSub>
                    </m:oMath>
                  </a14:m>
                  <a:endParaRPr lang="pl-PL" dirty="0"/>
                </a:p>
                <a:p>
                  <a:pPr marL="742950" lvl="1" indent="-285750">
                    <a:buFont typeface="Arial" panose="020B0604020202020204" pitchFamily="34" charset="0"/>
                    <a:buChar char="•"/>
                  </a:pPr>
                  <a:r>
                    <a:rPr lang="en-US" dirty="0">
                      <a:solidFill>
                        <a:srgbClr val="152238"/>
                      </a:solidFill>
                      <a:latin typeface="Aptos" pitchFamily="34" charset="0"/>
                      <a:ea typeface="Aptos" pitchFamily="34" charset="-122"/>
                      <a:cs typeface="Aptos" pitchFamily="34" charset="-120"/>
                    </a:rPr>
                    <a:t>divacancy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pl-PL" b="0" i="1" smtClean="0">
                              <a:solidFill>
                                <a:srgbClr val="152238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Aptos" pitchFamily="34" charset="-120"/>
                            </a:rPr>
                          </m:ctrlPr>
                        </m:sSubPr>
                        <m:e>
                          <m:r>
                            <a:rPr lang="pl-PL" b="0" i="1" smtClean="0">
                              <a:solidFill>
                                <a:srgbClr val="152238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Aptos" pitchFamily="34" charset="-120"/>
                            </a:rPr>
                            <m:t>𝑉</m:t>
                          </m:r>
                        </m:e>
                        <m:sub>
                          <m:r>
                            <a:rPr lang="pl-PL" b="0" i="1" smtClean="0">
                              <a:solidFill>
                                <a:srgbClr val="152238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Aptos" pitchFamily="34" charset="-120"/>
                            </a:rPr>
                            <m:t>𝐵</m:t>
                          </m:r>
                        </m:sub>
                      </m:sSub>
                      <m:sSub>
                        <m:sSubPr>
                          <m:ctrlPr>
                            <a:rPr lang="pl-PL" b="0" i="1" smtClean="0">
                              <a:solidFill>
                                <a:srgbClr val="152238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Aptos" pitchFamily="34" charset="-120"/>
                            </a:rPr>
                          </m:ctrlPr>
                        </m:sSubPr>
                        <m:e>
                          <m:r>
                            <a:rPr lang="pl-PL" b="0" i="1" smtClean="0">
                              <a:solidFill>
                                <a:srgbClr val="152238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Aptos" pitchFamily="34" charset="-120"/>
                            </a:rPr>
                            <m:t>𝑉</m:t>
                          </m:r>
                        </m:e>
                        <m:sub>
                          <m:r>
                            <a:rPr lang="pl-PL" b="0" i="1" smtClean="0">
                              <a:solidFill>
                                <a:srgbClr val="152238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Aptos" pitchFamily="34" charset="-120"/>
                            </a:rPr>
                            <m:t>𝑁</m:t>
                          </m:r>
                        </m:sub>
                      </m:sSub>
                    </m:oMath>
                  </a14:m>
                  <a:endParaRPr lang="en-US" dirty="0"/>
                </a:p>
                <a:p>
                  <a:pPr marL="285750" indent="-285750" algn="l">
                    <a:buFont typeface="Arial" panose="020B0604020202020204" pitchFamily="34" charset="0"/>
                    <a:buChar char="•"/>
                  </a:pPr>
                  <a:endParaRPr lang="en-US" sz="1600" dirty="0"/>
                </a:p>
                <a:p>
                  <a:pPr marL="285750" indent="-285750" algn="l">
                    <a:buFont typeface="Arial" panose="020B0604020202020204" pitchFamily="34" charset="0"/>
                    <a:buChar char="•"/>
                  </a:pPr>
                  <a:r>
                    <a:rPr lang="en-US" sz="1600" dirty="0">
                      <a:solidFill>
                        <a:srgbClr val="152238"/>
                      </a:solidFill>
                      <a:latin typeface="Aptos" pitchFamily="34" charset="0"/>
                      <a:ea typeface="Aptos" pitchFamily="34" charset="-122"/>
                      <a:cs typeface="Aptos" pitchFamily="34" charset="-120"/>
                    </a:rPr>
                    <a:t>The target is not only “does it emit?”, but also “which local bonding topology controls the emission?”</a:t>
                  </a:r>
                  <a:endParaRPr lang="en-US" sz="1600" dirty="0"/>
                </a:p>
              </p:txBody>
            </p:sp>
          </mc:Choice>
          <mc:Fallback xmlns="">
            <p:sp>
              <p:nvSpPr>
                <p:cNvPr id="14" name="Text 1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75320" y="1783080"/>
                  <a:ext cx="3063240" cy="3474720"/>
                </a:xfrm>
                <a:prstGeom prst="rect">
                  <a:avLst/>
                </a:prstGeom>
                <a:blipFill>
                  <a:blip r:embed="rId3"/>
                  <a:stretch>
                    <a:fillRect l="-3461" t="-1792"/>
                  </a:stretch>
                </a:blipFill>
                <a:ln/>
              </p:spPr>
              <p:txBody>
                <a:bodyPr/>
                <a:lstStyle/>
                <a:p>
                  <a:r>
                    <a:rPr lang="pl-PL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5" name="Text 13"/>
          <p:cNvSpPr/>
          <p:nvPr/>
        </p:nvSpPr>
        <p:spPr>
          <a:xfrm>
            <a:off x="594360" y="6080760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i="1" dirty="0">
                <a:solidFill>
                  <a:srgbClr val="758195"/>
                </a:solidFill>
              </a:rPr>
              <a:t>Context: Aharonovich et al., Nano Lett. 2022; Çakan et al., Adv. Optical Mater. 2025</a:t>
            </a:r>
            <a:endParaRPr lang="en-US" sz="7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Text 1"/>
          <p:cNvSpPr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Two reference motifs: carbon dimer and BN divacancy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069848"/>
            <a:ext cx="11155680" cy="0"/>
          </a:xfrm>
          <a:prstGeom prst="line">
            <a:avLst/>
          </a:prstGeom>
          <a:noFill/>
          <a:ln w="12700">
            <a:solidFill>
              <a:srgbClr val="CCD4E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" name="Text 3"/>
          <p:cNvSpPr/>
          <p:nvPr/>
        </p:nvSpPr>
        <p:spPr>
          <a:xfrm>
            <a:off x="502920" y="6510528"/>
            <a:ext cx="9692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A8494"/>
                </a:solidFill>
              </a:rPr>
              <a:t>Franciszek Zabierowski  |  FTMC project discussion</a:t>
            </a:r>
            <a:endParaRPr lang="en-US" sz="75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5"/>
              <p:cNvSpPr/>
              <p:nvPr/>
            </p:nvSpPr>
            <p:spPr>
              <a:xfrm>
                <a:off x="273177" y="1389888"/>
                <a:ext cx="5111496" cy="23774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1" i="1" dirty="0" smtClean="0">
                            <a:solidFill>
                              <a:srgbClr val="152238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1" i="1" dirty="0" smtClean="0">
                            <a:solidFill>
                              <a:srgbClr val="152238"/>
                            </a:solidFill>
                            <a:latin typeface="Cambria Math" panose="02040503050406030204" pitchFamily="18" charset="0"/>
                          </a:rPr>
                          <m:t>𝑪</m:t>
                        </m:r>
                      </m:e>
                      <m:sub>
                        <m:r>
                          <a:rPr lang="en-US" sz="1600" b="1" i="1" dirty="0" smtClean="0">
                            <a:solidFill>
                              <a:srgbClr val="152238"/>
                            </a:solidFill>
                            <a:latin typeface="Cambria Math" panose="02040503050406030204" pitchFamily="18" charset="0"/>
                          </a:rPr>
                          <m:t>𝑩</m:t>
                        </m:r>
                      </m:sub>
                    </m:sSub>
                    <m:sSub>
                      <m:sSubPr>
                        <m:ctrlPr>
                          <a:rPr lang="en-US" sz="1600" b="1" i="1" dirty="0" smtClean="0">
                            <a:solidFill>
                              <a:srgbClr val="152238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1" i="1" dirty="0" smtClean="0">
                            <a:solidFill>
                              <a:srgbClr val="152238"/>
                            </a:solidFill>
                            <a:latin typeface="Cambria Math" panose="02040503050406030204" pitchFamily="18" charset="0"/>
                          </a:rPr>
                          <m:t>𝑪</m:t>
                        </m:r>
                      </m:e>
                      <m:sub>
                        <m:r>
                          <a:rPr lang="en-US" sz="1600" b="1" i="1" dirty="0" smtClean="0">
                            <a:solidFill>
                              <a:srgbClr val="152238"/>
                            </a:solidFill>
                            <a:latin typeface="Cambria Math" panose="02040503050406030204" pitchFamily="18" charset="0"/>
                          </a:rPr>
                          <m:t>𝑵</m:t>
                        </m:r>
                      </m:sub>
                    </m:sSub>
                  </m:oMath>
                </a14:m>
                <a:r>
                  <a:rPr lang="en-US" sz="1600" b="1" dirty="0">
                    <a:solidFill>
                      <a:srgbClr val="152238"/>
                    </a:solidFill>
                  </a:rPr>
                  <a:t> carbon dimer</a:t>
                </a:r>
                <a:endParaRPr lang="en-US" sz="1600" dirty="0"/>
              </a:p>
            </p:txBody>
          </p:sp>
        </mc:Choice>
        <mc:Fallback xmlns="">
          <p:sp>
            <p:nvSpPr>
              <p:cNvPr id="7" name="Text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3177" y="1389888"/>
                <a:ext cx="5111496" cy="237744"/>
              </a:xfrm>
              <a:prstGeom prst="rect">
                <a:avLst/>
              </a:prstGeom>
              <a:blipFill>
                <a:blip r:embed="rId3"/>
                <a:stretch>
                  <a:fillRect l="-1432" t="-28205" b="-53846"/>
                </a:stretch>
              </a:blipFill>
              <a:ln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 6"/>
              <p:cNvSpPr/>
              <p:nvPr/>
            </p:nvSpPr>
            <p:spPr>
              <a:xfrm>
                <a:off x="170201" y="4659551"/>
                <a:ext cx="8087973" cy="1942417"/>
              </a:xfrm>
              <a:prstGeom prst="rect">
                <a:avLst/>
              </a:prstGeom>
              <a:noFill/>
              <a:ln/>
            </p:spPr>
            <p:txBody>
              <a:bodyPr wrap="square" lIns="381" tIns="381" rIns="381" bIns="381" rtlCol="0" anchor="ctr">
                <a:no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600" dirty="0">
                    <a:solidFill>
                      <a:srgbClr val="152238"/>
                    </a:solidFill>
                  </a:rPr>
                  <a:t>Calculated ZPL ≈ 4.31 eV</a:t>
                </a:r>
                <a:r>
                  <a:rPr lang="pl-PL" sz="1600" dirty="0">
                    <a:solidFill>
                      <a:srgbClr val="152238"/>
                    </a:solidFill>
                  </a:rPr>
                  <a:t>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pl-PL" sz="1600" dirty="0">
                    <a:solidFill>
                      <a:srgbClr val="152238"/>
                    </a:solidFill>
                  </a:rPr>
                  <a:t>E</a:t>
                </a:r>
                <a:r>
                  <a:rPr lang="en-US" sz="1600" dirty="0" err="1">
                    <a:solidFill>
                      <a:srgbClr val="152238"/>
                    </a:solidFill>
                  </a:rPr>
                  <a:t>xperimental</a:t>
                </a:r>
                <a:r>
                  <a:rPr lang="en-US" sz="1600" dirty="0">
                    <a:solidFill>
                      <a:srgbClr val="152238"/>
                    </a:solidFill>
                  </a:rPr>
                  <a:t> </a:t>
                </a:r>
                <a:r>
                  <a:rPr lang="pl-PL" sz="1600" dirty="0">
                    <a:solidFill>
                      <a:srgbClr val="152238"/>
                    </a:solidFill>
                  </a:rPr>
                  <a:t>ZPL = </a:t>
                </a:r>
                <a:r>
                  <a:rPr lang="en-US" sz="1600" dirty="0">
                    <a:solidFill>
                      <a:srgbClr val="152238"/>
                    </a:solidFill>
                  </a:rPr>
                  <a:t>4.08 eV band</a:t>
                </a:r>
                <a:r>
                  <a:rPr lang="pl-PL" sz="1600" dirty="0">
                    <a:solidFill>
                      <a:srgbClr val="152238"/>
                    </a:solidFill>
                  </a:rPr>
                  <a:t>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600" dirty="0">
                    <a:solidFill>
                      <a:srgbClr val="152238"/>
                    </a:solidFill>
                  </a:rPr>
                  <a:t>Huang–Rhys factor S ≈ 2</a:t>
                </a:r>
                <a:endParaRPr lang="en-US" sz="16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600" dirty="0">
                    <a:solidFill>
                      <a:srgbClr val="152238"/>
                    </a:solidFill>
                  </a:rPr>
                  <a:t>Radiative lifetime ≈ 1.2 ns</a:t>
                </a:r>
                <a:endParaRPr lang="en-US" sz="16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600" dirty="0">
                    <a:solidFill>
                      <a:srgbClr val="152238"/>
                    </a:solidFill>
                  </a:rPr>
                  <a:t>Transition between localized p-type defect states</a:t>
                </a:r>
                <a:br>
                  <a:rPr lang="pl-PL" sz="1600" dirty="0">
                    <a:solidFill>
                      <a:srgbClr val="152238"/>
                    </a:solidFill>
                  </a:rPr>
                </a:br>
                <a:r>
                  <a:rPr lang="pl-PL" sz="1600" dirty="0">
                    <a:solidFill>
                      <a:srgbClr val="152238"/>
                    </a:solidFill>
                  </a:rPr>
                  <a:t>(</a:t>
                </a:r>
                <a:r>
                  <a:rPr lang="pl-PL" sz="1600" dirty="0">
                    <a:solidFill>
                      <a:srgbClr val="152238"/>
                    </a:solidFill>
                    <a:hlinkClick r:id="rId4"/>
                  </a:rPr>
                  <a:t>https://doi.org/10.1063/1.5124153</a:t>
                </a:r>
                <a:r>
                  <a:rPr lang="pl-PL" sz="1600" dirty="0">
                    <a:solidFill>
                      <a:srgbClr val="152238"/>
                    </a:solidFill>
                  </a:rPr>
                  <a:t>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pl-PL" sz="1600" b="1" dirty="0">
                    <a:solidFill>
                      <a:srgbClr val="152238"/>
                    </a:solidFill>
                  </a:rPr>
                  <a:t>My calculations: ZPL = 2*5451.117 - 5451.566 - 5454.872 = 4.20 eV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pl-PL" sz="1600" b="1" dirty="0">
                    <a:solidFill>
                      <a:srgbClr val="152238"/>
                    </a:solidFill>
                  </a:rPr>
                  <a:t>My calculation: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l-PL" sz="1600" b="1" i="1" smtClean="0">
                            <a:solidFill>
                              <a:srgbClr val="152238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l-PL" sz="1600" b="1" i="1" smtClean="0">
                            <a:solidFill>
                              <a:srgbClr val="152238"/>
                            </a:solidFill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pl-PL" sz="1600" b="1" i="1" smtClean="0">
                            <a:solidFill>
                              <a:srgbClr val="152238"/>
                            </a:solidFill>
                            <a:latin typeface="Cambria Math" panose="02040503050406030204" pitchFamily="18" charset="0"/>
                          </a:rPr>
                          <m:t>𝒂𝒃𝒔</m:t>
                        </m:r>
                      </m:sub>
                    </m:sSub>
                    <m:r>
                      <a:rPr lang="pl-PL" sz="1600" b="1" i="1" smtClean="0">
                        <a:solidFill>
                          <a:srgbClr val="152238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pl-PL" sz="1600" b="1" i="1" smtClean="0">
                        <a:solidFill>
                          <a:srgbClr val="152238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pl-PL" sz="1600" b="1" i="1" smtClean="0">
                        <a:solidFill>
                          <a:srgbClr val="152238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pl-PL" sz="1600" b="1" i="1" smtClean="0">
                        <a:solidFill>
                          <a:srgbClr val="152238"/>
                        </a:solidFill>
                        <a:latin typeface="Cambria Math" panose="02040503050406030204" pitchFamily="18" charset="0"/>
                      </a:rPr>
                      <m:t>𝟑𝟑</m:t>
                    </m:r>
                    <m:r>
                      <a:rPr lang="pl-PL" sz="1600" b="1" i="1" smtClean="0">
                        <a:solidFill>
                          <a:srgbClr val="152238"/>
                        </a:solidFill>
                        <a:latin typeface="Cambria Math" panose="02040503050406030204" pitchFamily="18" charset="0"/>
                      </a:rPr>
                      <m:t>    </m:t>
                    </m:r>
                    <m:sSub>
                      <m:sSubPr>
                        <m:ctrlPr>
                          <a:rPr lang="pl-PL" sz="1600" b="1" i="1" smtClean="0">
                            <a:solidFill>
                              <a:srgbClr val="152238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l-PL" sz="1600" b="1" i="1" smtClean="0">
                            <a:solidFill>
                              <a:srgbClr val="152238"/>
                            </a:solidFill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pl-PL" sz="1600" b="1" i="1" smtClean="0">
                            <a:solidFill>
                              <a:srgbClr val="152238"/>
                            </a:solidFill>
                            <a:latin typeface="Cambria Math" panose="02040503050406030204" pitchFamily="18" charset="0"/>
                          </a:rPr>
                          <m:t>𝒆𝒎</m:t>
                        </m:r>
                      </m:sub>
                    </m:sSub>
                    <m:r>
                      <a:rPr lang="pl-PL" sz="1600" b="1" i="1" smtClean="0">
                        <a:solidFill>
                          <a:srgbClr val="152238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pl-PL" sz="1600" b="1" i="1" smtClean="0">
                        <a:solidFill>
                          <a:srgbClr val="152238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pl-PL" sz="1600" b="1" i="1" smtClean="0">
                        <a:solidFill>
                          <a:srgbClr val="152238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pl-PL" sz="1600" b="1" i="1" smtClean="0">
                        <a:solidFill>
                          <a:srgbClr val="152238"/>
                        </a:solidFill>
                        <a:latin typeface="Cambria Math" panose="02040503050406030204" pitchFamily="18" charset="0"/>
                      </a:rPr>
                      <m:t>𝟏𝟖</m:t>
                    </m:r>
                    <m:r>
                      <a:rPr lang="pl-PL" sz="1600" b="1" i="1" smtClean="0">
                        <a:solidFill>
                          <a:srgbClr val="152238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pl-PL" sz="1600" b="1" dirty="0">
                    <a:solidFill>
                      <a:srgbClr val="152238"/>
                    </a:solidFill>
                  </a:rPr>
                  <a:t>   </a:t>
                </a:r>
                <a:endParaRPr lang="en-US" sz="1600" b="1" dirty="0"/>
              </a:p>
            </p:txBody>
          </p:sp>
        </mc:Choice>
        <mc:Fallback xmlns="">
          <p:sp>
            <p:nvSpPr>
              <p:cNvPr id="9" name="Text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201" y="4659551"/>
                <a:ext cx="8087973" cy="1942417"/>
              </a:xfrm>
              <a:prstGeom prst="rect">
                <a:avLst/>
              </a:prstGeom>
              <a:blipFill>
                <a:blip r:embed="rId5"/>
                <a:stretch>
                  <a:fillRect l="-1432" t="-3448" b="-6583"/>
                </a:stretch>
              </a:blipFill>
              <a:ln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9" name="Picture 18">
            <a:extLst>
              <a:ext uri="{FF2B5EF4-FFF2-40B4-BE49-F238E27FC236}">
                <a16:creationId xmlns:a16="http://schemas.microsoft.com/office/drawing/2014/main" id="{424FF7AC-F991-00D4-56E4-E2D48AF0967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16667" b="20666"/>
          <a:stretch>
            <a:fillRect/>
          </a:stretch>
        </p:blipFill>
        <p:spPr>
          <a:xfrm>
            <a:off x="7915615" y="0"/>
            <a:ext cx="4276080" cy="4519877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962E796B-62F1-49D4-DC6F-6896938AA1A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99919" y="1758915"/>
            <a:ext cx="3651521" cy="265908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DB1EDF3B-B4BF-8ED3-D3FF-398BD202E6B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1762783"/>
            <a:ext cx="3762375" cy="265521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 5">
                <a:extLst>
                  <a:ext uri="{FF2B5EF4-FFF2-40B4-BE49-F238E27FC236}">
                    <a16:creationId xmlns:a16="http://schemas.microsoft.com/office/drawing/2014/main" id="{D45EB383-47B0-D4E8-D07B-466FC3A333C1}"/>
                  </a:ext>
                </a:extLst>
              </p:cNvPr>
              <p:cNvSpPr/>
              <p:nvPr/>
            </p:nvSpPr>
            <p:spPr>
              <a:xfrm>
                <a:off x="166284" y="4417233"/>
                <a:ext cx="3596091" cy="23774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pl-PL" sz="1600" b="1" i="0" dirty="0" smtClean="0">
                          <a:solidFill>
                            <a:srgbClr val="152238"/>
                          </a:solidFill>
                          <a:latin typeface="Cambria Math" panose="02040503050406030204" pitchFamily="18" charset="0"/>
                        </a:rPr>
                        <m:t>𝐆𝐫𝐨𝐮𝐧𝐝</m:t>
                      </m:r>
                      <m:r>
                        <a:rPr lang="pl-PL" sz="1600" b="1" i="0" dirty="0" smtClean="0">
                          <a:solidFill>
                            <a:srgbClr val="152238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l-PL" sz="1600" b="1" i="0" dirty="0" smtClean="0">
                          <a:solidFill>
                            <a:srgbClr val="152238"/>
                          </a:solidFill>
                          <a:latin typeface="Cambria Math" panose="02040503050406030204" pitchFamily="18" charset="0"/>
                        </a:rPr>
                        <m:t>𝐬𝐭𝐚𝐭𝐞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5" name="Text 5">
                <a:extLst>
                  <a:ext uri="{FF2B5EF4-FFF2-40B4-BE49-F238E27FC236}">
                    <a16:creationId xmlns:a16="http://schemas.microsoft.com/office/drawing/2014/main" id="{D45EB383-47B0-D4E8-D07B-466FC3A333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284" y="4417233"/>
                <a:ext cx="3596091" cy="237744"/>
              </a:xfrm>
              <a:prstGeom prst="rect">
                <a:avLst/>
              </a:prstGeom>
              <a:blipFill>
                <a:blip r:embed="rId9"/>
                <a:stretch>
                  <a:fillRect l="-2034" b="-10256"/>
                </a:stretch>
              </a:blipFill>
              <a:ln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 5">
                <a:extLst>
                  <a:ext uri="{FF2B5EF4-FFF2-40B4-BE49-F238E27FC236}">
                    <a16:creationId xmlns:a16="http://schemas.microsoft.com/office/drawing/2014/main" id="{00283443-F714-1253-62A8-66BDB2E11D7F}"/>
                  </a:ext>
                </a:extLst>
              </p:cNvPr>
              <p:cNvSpPr/>
              <p:nvPr/>
            </p:nvSpPr>
            <p:spPr>
              <a:xfrm>
                <a:off x="4099919" y="4450761"/>
                <a:ext cx="3596091" cy="23774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pl-PL" sz="1600" b="1" i="0" dirty="0" smtClean="0">
                          <a:solidFill>
                            <a:srgbClr val="152238"/>
                          </a:solidFill>
                          <a:latin typeface="Cambria Math" panose="02040503050406030204" pitchFamily="18" charset="0"/>
                        </a:rPr>
                        <m:t>𝐄𝐱𝐜𝐢𝐭𝐞𝐝</m:t>
                      </m:r>
                      <m:r>
                        <a:rPr lang="pl-PL" sz="1600" b="1" i="0" dirty="0" smtClean="0">
                          <a:solidFill>
                            <a:srgbClr val="152238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l-PL" sz="1600" b="1" i="0" dirty="0" smtClean="0">
                          <a:solidFill>
                            <a:srgbClr val="152238"/>
                          </a:solidFill>
                          <a:latin typeface="Cambria Math" panose="02040503050406030204" pitchFamily="18" charset="0"/>
                        </a:rPr>
                        <m:t>𝐬𝐭𝐚𝐭𝐞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6" name="Text 5">
                <a:extLst>
                  <a:ext uri="{FF2B5EF4-FFF2-40B4-BE49-F238E27FC236}">
                    <a16:creationId xmlns:a16="http://schemas.microsoft.com/office/drawing/2014/main" id="{00283443-F714-1253-62A8-66BDB2E11D7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9919" y="4450761"/>
                <a:ext cx="3596091" cy="237744"/>
              </a:xfrm>
              <a:prstGeom prst="rect">
                <a:avLst/>
              </a:prstGeom>
              <a:blipFill>
                <a:blip r:embed="rId10"/>
                <a:stretch>
                  <a:fillRect l="-2207" b="-10256"/>
                </a:stretch>
              </a:blipFill>
              <a:ln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020B627-8C63-EBF4-E7D7-BE653A015F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BDCDACD-C53C-1B49-381D-9697AF44A234}"/>
              </a:ext>
            </a:extLst>
          </p:cNvPr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F0F78B1-2EAC-890B-6A4C-56CE5637F48F}"/>
              </a:ext>
            </a:extLst>
          </p:cNvPr>
          <p:cNvSpPr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Two reference motifs: carbon dimer and BN divacancy</a:t>
            </a:r>
            <a:endParaRPr lang="en-US" sz="24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2F16608C-B92C-F5DC-6B1E-D49F9DC4E3F7}"/>
              </a:ext>
            </a:extLst>
          </p:cNvPr>
          <p:cNvSpPr/>
          <p:nvPr/>
        </p:nvSpPr>
        <p:spPr>
          <a:xfrm>
            <a:off x="502920" y="1069848"/>
            <a:ext cx="11155680" cy="0"/>
          </a:xfrm>
          <a:prstGeom prst="line">
            <a:avLst/>
          </a:prstGeom>
          <a:noFill/>
          <a:ln w="12700">
            <a:solidFill>
              <a:srgbClr val="CCD4E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74347696-EA06-1919-464F-CD191208AA30}"/>
              </a:ext>
            </a:extLst>
          </p:cNvPr>
          <p:cNvSpPr/>
          <p:nvPr/>
        </p:nvSpPr>
        <p:spPr>
          <a:xfrm>
            <a:off x="502920" y="6510528"/>
            <a:ext cx="9692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A8494"/>
                </a:solidFill>
              </a:rPr>
              <a:t>Franciszek Zabierowski  |  FTMC project discussion</a:t>
            </a:r>
            <a:endParaRPr lang="en-US" sz="75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 6">
                <a:extLst>
                  <a:ext uri="{FF2B5EF4-FFF2-40B4-BE49-F238E27FC236}">
                    <a16:creationId xmlns:a16="http://schemas.microsoft.com/office/drawing/2014/main" id="{64DE307F-B086-7E4F-1201-396D744A5C5D}"/>
                  </a:ext>
                </a:extLst>
              </p:cNvPr>
              <p:cNvSpPr/>
              <p:nvPr/>
            </p:nvSpPr>
            <p:spPr>
              <a:xfrm>
                <a:off x="170201" y="4659551"/>
                <a:ext cx="8087973" cy="1942417"/>
              </a:xfrm>
              <a:prstGeom prst="rect">
                <a:avLst/>
              </a:prstGeom>
              <a:noFill/>
              <a:ln/>
            </p:spPr>
            <p:txBody>
              <a:bodyPr wrap="square" lIns="381" tIns="381" rIns="381" bIns="381" rtlCol="0" anchor="ctr">
                <a:no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600" dirty="0">
                    <a:solidFill>
                      <a:srgbClr val="152238"/>
                    </a:solidFill>
                  </a:rPr>
                  <a:t>Calculated ZPL ≈ 4.31 eV</a:t>
                </a:r>
                <a:r>
                  <a:rPr lang="pl-PL" sz="1600" dirty="0">
                    <a:solidFill>
                      <a:srgbClr val="152238"/>
                    </a:solidFill>
                  </a:rPr>
                  <a:t>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pl-PL" sz="1600" dirty="0">
                    <a:solidFill>
                      <a:srgbClr val="152238"/>
                    </a:solidFill>
                  </a:rPr>
                  <a:t>E</a:t>
                </a:r>
                <a:r>
                  <a:rPr lang="en-US" sz="1600" dirty="0" err="1">
                    <a:solidFill>
                      <a:srgbClr val="152238"/>
                    </a:solidFill>
                  </a:rPr>
                  <a:t>xperimental</a:t>
                </a:r>
                <a:r>
                  <a:rPr lang="en-US" sz="1600" dirty="0">
                    <a:solidFill>
                      <a:srgbClr val="152238"/>
                    </a:solidFill>
                  </a:rPr>
                  <a:t> </a:t>
                </a:r>
                <a:r>
                  <a:rPr lang="pl-PL" sz="1600" dirty="0">
                    <a:solidFill>
                      <a:srgbClr val="152238"/>
                    </a:solidFill>
                  </a:rPr>
                  <a:t>ZPL = </a:t>
                </a:r>
                <a:r>
                  <a:rPr lang="en-US" sz="1600" dirty="0">
                    <a:solidFill>
                      <a:srgbClr val="152238"/>
                    </a:solidFill>
                  </a:rPr>
                  <a:t>4.08 eV band</a:t>
                </a:r>
                <a:r>
                  <a:rPr lang="pl-PL" sz="1600" dirty="0">
                    <a:solidFill>
                      <a:srgbClr val="152238"/>
                    </a:solidFill>
                  </a:rPr>
                  <a:t>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600" dirty="0">
                    <a:solidFill>
                      <a:srgbClr val="152238"/>
                    </a:solidFill>
                  </a:rPr>
                  <a:t>Huang–Rhys factor S ≈ 2</a:t>
                </a:r>
                <a:endParaRPr lang="en-US" sz="16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600" dirty="0">
                    <a:solidFill>
                      <a:srgbClr val="152238"/>
                    </a:solidFill>
                  </a:rPr>
                  <a:t>Radiative lifetime ≈ 1.2 ns</a:t>
                </a:r>
                <a:endParaRPr lang="en-US" sz="16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600" dirty="0">
                    <a:solidFill>
                      <a:srgbClr val="152238"/>
                    </a:solidFill>
                  </a:rPr>
                  <a:t>Transition between localized p-type defect states</a:t>
                </a:r>
                <a:br>
                  <a:rPr lang="pl-PL" sz="1600" dirty="0">
                    <a:solidFill>
                      <a:srgbClr val="152238"/>
                    </a:solidFill>
                  </a:rPr>
                </a:br>
                <a:r>
                  <a:rPr lang="pl-PL" sz="1600" dirty="0">
                    <a:solidFill>
                      <a:srgbClr val="152238"/>
                    </a:solidFill>
                  </a:rPr>
                  <a:t>(</a:t>
                </a:r>
                <a:r>
                  <a:rPr lang="pl-PL" sz="1600" dirty="0">
                    <a:solidFill>
                      <a:srgbClr val="152238"/>
                    </a:solidFill>
                    <a:hlinkClick r:id="rId3"/>
                  </a:rPr>
                  <a:t>https://doi.org/10.1063/1.5124153</a:t>
                </a:r>
                <a:r>
                  <a:rPr lang="pl-PL" sz="1600" dirty="0">
                    <a:solidFill>
                      <a:srgbClr val="152238"/>
                    </a:solidFill>
                  </a:rPr>
                  <a:t>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pl-PL" sz="1600" b="1" dirty="0">
                    <a:solidFill>
                      <a:srgbClr val="152238"/>
                    </a:solidFill>
                  </a:rPr>
                  <a:t>My calculations: ZPL = 2*5451.117 - 5451.566 - 5454.872 = 4.20 eV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pl-PL" sz="1600" b="1" dirty="0">
                    <a:solidFill>
                      <a:srgbClr val="152238"/>
                    </a:solidFill>
                  </a:rPr>
                  <a:t>My calculation: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l-PL" sz="1600" b="1" i="1" smtClean="0">
                            <a:solidFill>
                              <a:srgbClr val="152238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l-PL" sz="1600" b="1" i="1" smtClean="0">
                            <a:solidFill>
                              <a:srgbClr val="152238"/>
                            </a:solidFill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pl-PL" sz="1600" b="1" i="1" smtClean="0">
                            <a:solidFill>
                              <a:srgbClr val="152238"/>
                            </a:solidFill>
                            <a:latin typeface="Cambria Math" panose="02040503050406030204" pitchFamily="18" charset="0"/>
                          </a:rPr>
                          <m:t>𝒂𝒃𝒔</m:t>
                        </m:r>
                      </m:sub>
                    </m:sSub>
                    <m:r>
                      <a:rPr lang="pl-PL" sz="1600" b="1" i="1" smtClean="0">
                        <a:solidFill>
                          <a:srgbClr val="152238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pl-PL" sz="1600" b="1" i="1">
                        <a:solidFill>
                          <a:srgbClr val="152238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pl-PL" sz="1600" b="1" i="1">
                        <a:solidFill>
                          <a:srgbClr val="152238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pl-PL" sz="1600" b="1" i="1">
                        <a:solidFill>
                          <a:srgbClr val="152238"/>
                        </a:solidFill>
                        <a:latin typeface="Cambria Math" panose="02040503050406030204" pitchFamily="18" charset="0"/>
                      </a:rPr>
                      <m:t>𝟗𝟕𝟖</m:t>
                    </m:r>
                    <m:r>
                      <a:rPr lang="pl-PL" sz="1600" b="1" i="1" smtClean="0">
                        <a:solidFill>
                          <a:srgbClr val="152238"/>
                        </a:solidFill>
                        <a:latin typeface="Cambria Math" panose="02040503050406030204" pitchFamily="18" charset="0"/>
                      </a:rPr>
                      <m:t>   </m:t>
                    </m:r>
                    <m:sSub>
                      <m:sSubPr>
                        <m:ctrlPr>
                          <a:rPr lang="pl-PL" sz="1600" b="1" i="1" smtClean="0">
                            <a:solidFill>
                              <a:srgbClr val="152238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l-PL" sz="1600" b="1" i="1" smtClean="0">
                            <a:solidFill>
                              <a:srgbClr val="152238"/>
                            </a:solidFill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pl-PL" sz="1600" b="1" i="1" smtClean="0">
                            <a:solidFill>
                              <a:srgbClr val="152238"/>
                            </a:solidFill>
                            <a:latin typeface="Cambria Math" panose="02040503050406030204" pitchFamily="18" charset="0"/>
                          </a:rPr>
                          <m:t>𝒆𝒎</m:t>
                        </m:r>
                      </m:sub>
                    </m:sSub>
                    <m:r>
                      <a:rPr lang="pl-PL" sz="1600" b="1" i="1" smtClean="0">
                        <a:solidFill>
                          <a:srgbClr val="152238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pl-PL" sz="1600" b="1" i="1">
                        <a:solidFill>
                          <a:srgbClr val="152238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pl-PL" sz="1600" b="1" i="1">
                        <a:solidFill>
                          <a:srgbClr val="152238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pl-PL" sz="1600" b="1" i="1">
                        <a:solidFill>
                          <a:srgbClr val="152238"/>
                        </a:solidFill>
                        <a:latin typeface="Cambria Math" panose="02040503050406030204" pitchFamily="18" charset="0"/>
                      </a:rPr>
                      <m:t>𝟎𝟔𝟏</m:t>
                    </m:r>
                  </m:oMath>
                </a14:m>
                <a:endParaRPr lang="en-US" sz="1600" b="1" dirty="0"/>
              </a:p>
            </p:txBody>
          </p:sp>
        </mc:Choice>
        <mc:Fallback xmlns="">
          <p:sp>
            <p:nvSpPr>
              <p:cNvPr id="9" name="Text 6">
                <a:extLst>
                  <a:ext uri="{FF2B5EF4-FFF2-40B4-BE49-F238E27FC236}">
                    <a16:creationId xmlns:a16="http://schemas.microsoft.com/office/drawing/2014/main" id="{64DE307F-B086-7E4F-1201-396D744A5C5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201" y="4659551"/>
                <a:ext cx="8087973" cy="1942417"/>
              </a:xfrm>
              <a:prstGeom prst="rect">
                <a:avLst/>
              </a:prstGeom>
              <a:blipFill>
                <a:blip r:embed="rId4"/>
                <a:stretch>
                  <a:fillRect l="-1432" t="-3448" b="-6583"/>
                </a:stretch>
              </a:blipFill>
              <a:ln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4E645154-CB03-7C27-A72B-1005D71699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2088" y="758952"/>
            <a:ext cx="5779911" cy="4397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76352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310EF8-F55A-92A5-0297-9A357AFB4C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1DAC05E-F253-CE34-BABC-B3719B6BBDDF}"/>
              </a:ext>
            </a:extLst>
          </p:cNvPr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97ACA6B-0E30-5614-EBFD-66278203DB76}"/>
              </a:ext>
            </a:extLst>
          </p:cNvPr>
          <p:cNvSpPr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Two reference motifs: carbon dimer and BN divacancy</a:t>
            </a:r>
            <a:endParaRPr lang="en-US" sz="24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C2035A05-C807-A28D-232E-F093FC94AE33}"/>
              </a:ext>
            </a:extLst>
          </p:cNvPr>
          <p:cNvSpPr/>
          <p:nvPr/>
        </p:nvSpPr>
        <p:spPr>
          <a:xfrm>
            <a:off x="502920" y="1069848"/>
            <a:ext cx="11155680" cy="0"/>
          </a:xfrm>
          <a:prstGeom prst="line">
            <a:avLst/>
          </a:prstGeom>
          <a:noFill/>
          <a:ln w="12700">
            <a:solidFill>
              <a:srgbClr val="CCD4E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28B1F31-B978-A683-550F-32FB00420270}"/>
              </a:ext>
            </a:extLst>
          </p:cNvPr>
          <p:cNvSpPr/>
          <p:nvPr/>
        </p:nvSpPr>
        <p:spPr>
          <a:xfrm>
            <a:off x="502920" y="6510528"/>
            <a:ext cx="9692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A8494"/>
                </a:solidFill>
              </a:rPr>
              <a:t>Franciszek Zabierowski  |  FTMC project discussion</a:t>
            </a:r>
            <a:endParaRPr lang="en-US" sz="75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 9">
                <a:extLst>
                  <a:ext uri="{FF2B5EF4-FFF2-40B4-BE49-F238E27FC236}">
                    <a16:creationId xmlns:a16="http://schemas.microsoft.com/office/drawing/2014/main" id="{645ED24A-D7D6-E4AC-BD13-C2D8DD0BCE47}"/>
                  </a:ext>
                </a:extLst>
              </p:cNvPr>
              <p:cNvSpPr/>
              <p:nvPr/>
            </p:nvSpPr>
            <p:spPr>
              <a:xfrm>
                <a:off x="408432" y="1263869"/>
                <a:ext cx="5020056" cy="23774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600" b="1" dirty="0">
                    <a:solidFill>
                      <a:srgbClr val="152238"/>
                    </a:solidFill>
                  </a:rPr>
                  <a:t>V₂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1" i="1" dirty="0" smtClean="0">
                            <a:solidFill>
                              <a:srgbClr val="152238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1" i="1" dirty="0" smtClean="0">
                            <a:solidFill>
                              <a:srgbClr val="152238"/>
                            </a:solidFill>
                            <a:latin typeface="Cambria Math" panose="02040503050406030204" pitchFamily="18" charset="0"/>
                          </a:rPr>
                          <m:t>𝑽</m:t>
                        </m:r>
                      </m:e>
                      <m:sub>
                        <m:r>
                          <a:rPr lang="en-US" sz="1600" b="1" i="1" dirty="0" smtClean="0">
                            <a:solidFill>
                              <a:srgbClr val="152238"/>
                            </a:solidFill>
                            <a:latin typeface="Cambria Math" panose="02040503050406030204" pitchFamily="18" charset="0"/>
                          </a:rPr>
                          <m:t>𝑩</m:t>
                        </m:r>
                      </m:sub>
                    </m:sSub>
                    <m:sSub>
                      <m:sSubPr>
                        <m:ctrlPr>
                          <a:rPr lang="en-US" sz="1600" b="1" i="1" dirty="0" smtClean="0">
                            <a:solidFill>
                              <a:srgbClr val="152238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1" i="1" dirty="0" smtClean="0">
                            <a:solidFill>
                              <a:srgbClr val="152238"/>
                            </a:solidFill>
                            <a:latin typeface="Cambria Math" panose="02040503050406030204" pitchFamily="18" charset="0"/>
                          </a:rPr>
                          <m:t>𝑽</m:t>
                        </m:r>
                      </m:e>
                      <m:sub>
                        <m:r>
                          <a:rPr lang="en-US" sz="1600" b="1" i="1" dirty="0" smtClean="0">
                            <a:solidFill>
                              <a:srgbClr val="152238"/>
                            </a:solidFill>
                            <a:latin typeface="Cambria Math" panose="02040503050406030204" pitchFamily="18" charset="0"/>
                          </a:rPr>
                          <m:t>𝑵</m:t>
                        </m:r>
                      </m:sub>
                    </m:sSub>
                  </m:oMath>
                </a14:m>
                <a:r>
                  <a:rPr lang="en-US" sz="1600" b="1" dirty="0">
                    <a:solidFill>
                      <a:srgbClr val="152238"/>
                    </a:solidFill>
                  </a:rPr>
                  <a:t> divacancy</a:t>
                </a:r>
                <a:endParaRPr lang="en-US" sz="1600" dirty="0"/>
              </a:p>
            </p:txBody>
          </p:sp>
        </mc:Choice>
        <mc:Fallback xmlns="">
          <p:sp>
            <p:nvSpPr>
              <p:cNvPr id="12" name="Text 9">
                <a:extLst>
                  <a:ext uri="{FF2B5EF4-FFF2-40B4-BE49-F238E27FC236}">
                    <a16:creationId xmlns:a16="http://schemas.microsoft.com/office/drawing/2014/main" id="{645ED24A-D7D6-E4AC-BD13-C2D8DD0BCE4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432" y="1263869"/>
                <a:ext cx="5020056" cy="237744"/>
              </a:xfrm>
              <a:prstGeom prst="rect">
                <a:avLst/>
              </a:prstGeom>
              <a:blipFill>
                <a:blip r:embed="rId3"/>
                <a:stretch>
                  <a:fillRect l="-2427" t="-28205" b="-53846"/>
                </a:stretch>
              </a:blipFill>
              <a:ln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Image 1" descr="/mnt/data/V2.png">
            <a:extLst>
              <a:ext uri="{FF2B5EF4-FFF2-40B4-BE49-F238E27FC236}">
                <a16:creationId xmlns:a16="http://schemas.microsoft.com/office/drawing/2014/main" id="{A5525480-5E5B-7DB4-1864-BFA5DEB5DC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994" y="1556057"/>
            <a:ext cx="4516557" cy="3387418"/>
          </a:xfrm>
          <a:prstGeom prst="rect">
            <a:avLst/>
          </a:prstGeom>
        </p:spPr>
      </p:pic>
      <p:sp>
        <p:nvSpPr>
          <p:cNvPr id="14" name="Text 10">
            <a:extLst>
              <a:ext uri="{FF2B5EF4-FFF2-40B4-BE49-F238E27FC236}">
                <a16:creationId xmlns:a16="http://schemas.microsoft.com/office/drawing/2014/main" id="{A7E41968-2A34-1D40-E18A-8C4698D79961}"/>
              </a:ext>
            </a:extLst>
          </p:cNvPr>
          <p:cNvSpPr/>
          <p:nvPr/>
        </p:nvSpPr>
        <p:spPr>
          <a:xfrm>
            <a:off x="334756" y="4424646"/>
            <a:ext cx="4761120" cy="2377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52238"/>
                </a:solidFill>
              </a:rPr>
              <a:t>Divacancies are probable in irradiated hBN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52238"/>
                </a:solidFill>
              </a:rPr>
              <a:t>Reconstruction yields 5–8–5 topology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52238"/>
                </a:solidFill>
              </a:rPr>
              <a:t>Characteristic </a:t>
            </a:r>
            <a:r>
              <a:rPr lang="pl-PL" sz="1600" dirty="0">
                <a:solidFill>
                  <a:srgbClr val="152238"/>
                </a:solidFill>
              </a:rPr>
              <a:t>strong</a:t>
            </a:r>
            <a:r>
              <a:rPr lang="en-US" sz="1600" dirty="0">
                <a:solidFill>
                  <a:srgbClr val="152238"/>
                </a:solidFill>
              </a:rPr>
              <a:t> B–B and N–N bonds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52238"/>
                </a:solidFill>
              </a:rPr>
              <a:t>Migration barriers: single-step divacancy motion in Zobelli et al.</a:t>
            </a:r>
            <a:endParaRPr lang="en-US" sz="1600" dirty="0"/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53510F95-7685-C25A-DE42-B45DF9F02A06}"/>
              </a:ext>
            </a:extLst>
          </p:cNvPr>
          <p:cNvSpPr/>
          <p:nvPr/>
        </p:nvSpPr>
        <p:spPr>
          <a:xfrm>
            <a:off x="334755" y="6344150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i="1" dirty="0">
                <a:solidFill>
                  <a:srgbClr val="758195"/>
                </a:solidFill>
              </a:rPr>
              <a:t>Zobelli et al., Phys. Rev. B 2007, DOI: 10.1103/PhysRevB.75.094104</a:t>
            </a:r>
            <a:endParaRPr lang="en-US" sz="720" dirty="0"/>
          </a:p>
        </p:txBody>
      </p:sp>
      <p:sp>
        <p:nvSpPr>
          <p:cNvPr id="18" name="Text 10">
            <a:extLst>
              <a:ext uri="{FF2B5EF4-FFF2-40B4-BE49-F238E27FC236}">
                <a16:creationId xmlns:a16="http://schemas.microsoft.com/office/drawing/2014/main" id="{615E0F22-9221-3F46-C693-E9CF787C3413}"/>
              </a:ext>
            </a:extLst>
          </p:cNvPr>
          <p:cNvSpPr/>
          <p:nvPr/>
        </p:nvSpPr>
        <p:spPr>
          <a:xfrm>
            <a:off x="5196313" y="4405411"/>
            <a:ext cx="3423884" cy="2377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sz="1600" dirty="0"/>
              <a:t>Bond B-B: 1.931 vs 1.93 (Zobelli)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sz="1600" dirty="0"/>
              <a:t>Bond N-N: 1.681 vs 1.74 (Zobelli)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sz="1600" dirty="0"/>
              <a:t>Activation energy for vacancy migration: 1.4eV – 1.8eV (Zobelli)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sz="1600" dirty="0"/>
              <a:t>Can be created by electron irradiation (Zobelli)</a:t>
            </a:r>
            <a:endParaRPr lang="en-US" sz="16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24DBAE0-538E-6746-DEA1-FDFE991828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6281" y="164592"/>
            <a:ext cx="3735414" cy="5043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19428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Text 1"/>
          <p:cNvSpPr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Defect construction and nomenclature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069848"/>
            <a:ext cx="11155680" cy="0"/>
          </a:xfrm>
          <a:prstGeom prst="line">
            <a:avLst/>
          </a:prstGeom>
          <a:noFill/>
          <a:ln w="12700">
            <a:solidFill>
              <a:srgbClr val="CCD4E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" name="Text 3"/>
          <p:cNvSpPr/>
          <p:nvPr/>
        </p:nvSpPr>
        <p:spPr>
          <a:xfrm>
            <a:off x="502920" y="6510528"/>
            <a:ext cx="9692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A8494"/>
                </a:solidFill>
              </a:rPr>
              <a:t>Franciszek Zabierowski  |  FTMC project discussion</a:t>
            </a:r>
            <a:endParaRPr lang="en-US" sz="750" dirty="0"/>
          </a:p>
        </p:txBody>
      </p:sp>
      <p:pic>
        <p:nvPicPr>
          <p:cNvPr id="6" name="Image 0" descr="/mnt/data/c6c7fc7c-428a-4f54-9e16-526c95aa524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753" y="1234440"/>
            <a:ext cx="5041612" cy="4846320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4165F838-E0F9-1B5E-6ED6-1CE03A4503AB}"/>
              </a:ext>
            </a:extLst>
          </p:cNvPr>
          <p:cNvGrpSpPr/>
          <p:nvPr/>
        </p:nvGrpSpPr>
        <p:grpSpPr>
          <a:xfrm>
            <a:off x="5349239" y="1255460"/>
            <a:ext cx="6351471" cy="4846320"/>
            <a:chOff x="6237889" y="1234440"/>
            <a:chExt cx="6351471" cy="4846320"/>
          </a:xfrm>
        </p:grpSpPr>
        <p:sp>
          <p:nvSpPr>
            <p:cNvPr id="7" name="Shape 4"/>
            <p:cNvSpPr/>
            <p:nvPr/>
          </p:nvSpPr>
          <p:spPr>
            <a:xfrm>
              <a:off x="6237889" y="1234440"/>
              <a:ext cx="6351471" cy="4846320"/>
            </a:xfrm>
            <a:prstGeom prst="roundRect">
              <a:avLst>
                <a:gd name="adj" fmla="val 1714"/>
              </a:avLst>
            </a:prstGeom>
            <a:solidFill>
              <a:srgbClr val="FFFFFF"/>
            </a:solidFill>
            <a:ln w="12700">
              <a:solidFill>
                <a:srgbClr val="D4DDEB"/>
              </a:solidFill>
              <a:prstDash val="solid"/>
            </a:ln>
          </p:spPr>
          <p:txBody>
            <a:bodyPr/>
            <a:lstStyle/>
            <a:p>
              <a:endParaRPr lang="pl-PL"/>
            </a:p>
          </p:txBody>
        </p:sp>
        <p:sp>
          <p:nvSpPr>
            <p:cNvPr id="8" name="Text 5"/>
            <p:cNvSpPr/>
            <p:nvPr/>
          </p:nvSpPr>
          <p:spPr>
            <a:xfrm>
              <a:off x="6976872" y="1362456"/>
              <a:ext cx="4471416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b="1" dirty="0">
                  <a:solidFill>
                    <a:srgbClr val="152238"/>
                  </a:solidFill>
                </a:rPr>
                <a:t>Notation used here</a:t>
              </a:r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 6"/>
                <p:cNvSpPr/>
                <p:nvPr/>
              </p:nvSpPr>
              <p:spPr>
                <a:xfrm>
                  <a:off x="6497743" y="1675397"/>
                  <a:ext cx="5953253" cy="1845404"/>
                </a:xfrm>
                <a:prstGeom prst="rect">
                  <a:avLst/>
                </a:prstGeom>
                <a:noFill/>
                <a:ln/>
              </p:spPr>
              <p:txBody>
                <a:bodyPr wrap="square" lIns="381" tIns="381" rIns="381" bIns="381" rtlCol="0" anchor="ctr">
                  <a:normAutofit/>
                </a:bodyPr>
                <a:lstStyle/>
                <a:p>
                  <a:r>
                    <a:rPr lang="en-US" sz="1350" dirty="0">
                      <a:solidFill>
                        <a:srgbClr val="152238"/>
                      </a:solidFill>
                    </a:rPr>
                    <a:t>B atoms: green; </a:t>
                  </a:r>
                  <a:br>
                    <a:rPr lang="pl-PL" sz="1350" dirty="0">
                      <a:solidFill>
                        <a:srgbClr val="152238"/>
                      </a:solidFill>
                    </a:rPr>
                  </a:br>
                  <a:r>
                    <a:rPr lang="en-US" sz="1350" dirty="0">
                      <a:solidFill>
                        <a:srgbClr val="152238"/>
                      </a:solidFill>
                    </a:rPr>
                    <a:t>N atoms: blue; </a:t>
                  </a:r>
                  <a:br>
                    <a:rPr lang="pl-PL" sz="1350" dirty="0">
                      <a:solidFill>
                        <a:srgbClr val="152238"/>
                      </a:solidFill>
                    </a:rPr>
                  </a:br>
                  <a:r>
                    <a:rPr lang="en-US" sz="1350" dirty="0">
                      <a:solidFill>
                        <a:srgbClr val="152238"/>
                      </a:solidFill>
                    </a:rPr>
                    <a:t>C atoms: black</a:t>
                  </a:r>
                  <a:endParaRPr lang="pl-PL" sz="1350" dirty="0">
                    <a:solidFill>
                      <a:srgbClr val="152238"/>
                    </a:solidFill>
                  </a:endParaRPr>
                </a:p>
                <a:p>
                  <a:endParaRPr lang="en-US" sz="1350" dirty="0"/>
                </a:p>
                <a:p>
                  <a:pPr marL="285750" indent="-285750">
                    <a:buFont typeface="Arial" panose="020B0604020202020204" pitchFamily="34" charset="0"/>
                    <a:buChar char="•"/>
                  </a:pPr>
                  <a:r>
                    <a:rPr lang="en-US" sz="1350" dirty="0">
                      <a:solidFill>
                        <a:srgbClr val="152238"/>
                      </a:solidFill>
                    </a:rPr>
                    <a:t>V₂ denotes the reconstructed BN divacancy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350" i="1" dirty="0" smtClean="0">
                              <a:solidFill>
                                <a:srgbClr val="152238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350" i="1" dirty="0" smtClean="0">
                              <a:solidFill>
                                <a:srgbClr val="152238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1350" i="1" dirty="0" smtClean="0">
                              <a:solidFill>
                                <a:srgbClr val="152238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sSub>
                        <m:sSubPr>
                          <m:ctrlPr>
                            <a:rPr lang="en-US" sz="1350" i="1" dirty="0" smtClean="0">
                              <a:solidFill>
                                <a:srgbClr val="152238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350" i="1" dirty="0" smtClean="0">
                              <a:solidFill>
                                <a:srgbClr val="152238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1350" i="1" dirty="0" smtClean="0">
                              <a:solidFill>
                                <a:srgbClr val="152238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</m:oMath>
                  </a14:m>
                  <a:endParaRPr lang="en-US" sz="1350" dirty="0"/>
                </a:p>
                <a:p>
                  <a:pPr marL="285750" indent="-285750">
                    <a:buFont typeface="Arial" panose="020B0604020202020204" pitchFamily="34" charset="0"/>
                    <a:buChar char="•"/>
                  </a:pPr>
                  <a:r>
                    <a:rPr lang="en-US" sz="1350" dirty="0">
                      <a:solidFill>
                        <a:srgbClr val="152238"/>
                      </a:solidFill>
                    </a:rPr>
                    <a:t>“dimer” denotes isolated substitutional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350" i="1" dirty="0" smtClean="0">
                              <a:solidFill>
                                <a:srgbClr val="152238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350" i="1" dirty="0" smtClean="0">
                              <a:solidFill>
                                <a:srgbClr val="152238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1350" i="1" dirty="0" smtClean="0">
                              <a:solidFill>
                                <a:srgbClr val="152238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sSub>
                        <m:sSubPr>
                          <m:ctrlPr>
                            <a:rPr lang="en-US" sz="1350" i="1" dirty="0" smtClean="0">
                              <a:solidFill>
                                <a:srgbClr val="152238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350" i="1" dirty="0" smtClean="0">
                              <a:solidFill>
                                <a:srgbClr val="152238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1350" i="1" dirty="0" smtClean="0">
                              <a:solidFill>
                                <a:srgbClr val="152238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</m:oMath>
                  </a14:m>
                  <a:endParaRPr lang="en-US" sz="1350" dirty="0"/>
                </a:p>
                <a:p>
                  <a:pPr marL="285750" indent="-285750">
                    <a:buFont typeface="Arial" panose="020B0604020202020204" pitchFamily="34" charset="0"/>
                    <a:buChar char="•"/>
                  </a:pPr>
                  <a:r>
                    <a:rPr lang="en-US" sz="1350" dirty="0">
                      <a:solidFill>
                        <a:srgbClr val="152238"/>
                      </a:solidFill>
                    </a:rPr>
                    <a:t>Labels such as 2–3 or 4–6 denote the two carbon positions around V₂</a:t>
                  </a:r>
                  <a:endParaRPr lang="en-US" sz="1350" dirty="0"/>
                </a:p>
                <a:p>
                  <a:pPr marL="285750" indent="-285750">
                    <a:buFont typeface="Arial" panose="020B0604020202020204" pitchFamily="34" charset="0"/>
                    <a:buChar char="•"/>
                  </a:pPr>
                  <a:r>
                    <a:rPr lang="en-US" sz="1350" dirty="0">
                      <a:solidFill>
                        <a:srgbClr val="152238"/>
                      </a:solidFill>
                    </a:rPr>
                    <a:t>All structures shown here are neutral unless explicitly stated otherwise</a:t>
                  </a:r>
                  <a:endParaRPr lang="en-US" sz="1350" dirty="0"/>
                </a:p>
              </p:txBody>
            </p:sp>
          </mc:Choice>
          <mc:Fallback xmlns="">
            <p:sp>
              <p:nvSpPr>
                <p:cNvPr id="9" name="Text 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97743" y="1675397"/>
                  <a:ext cx="5953253" cy="1845404"/>
                </a:xfrm>
                <a:prstGeom prst="rect">
                  <a:avLst/>
                </a:prstGeom>
                <a:blipFill>
                  <a:blip r:embed="rId4"/>
                  <a:stretch>
                    <a:fillRect l="-1740" b="-330"/>
                  </a:stretch>
                </a:blipFill>
                <a:ln/>
              </p:spPr>
              <p:txBody>
                <a:bodyPr/>
                <a:lstStyle/>
                <a:p>
                  <a:r>
                    <a:rPr lang="pl-PL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Text 1"/>
          <p:cNvSpPr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Computational setup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069848"/>
            <a:ext cx="11155680" cy="0"/>
          </a:xfrm>
          <a:prstGeom prst="line">
            <a:avLst/>
          </a:prstGeom>
          <a:noFill/>
          <a:ln w="12700">
            <a:solidFill>
              <a:srgbClr val="CCD4E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" name="Text 3"/>
          <p:cNvSpPr/>
          <p:nvPr/>
        </p:nvSpPr>
        <p:spPr>
          <a:xfrm>
            <a:off x="502920" y="6510528"/>
            <a:ext cx="9692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A8494"/>
                </a:solidFill>
              </a:rPr>
              <a:t>Franciszek Zabierowski  |  FTMC project discussion</a:t>
            </a:r>
            <a:endParaRPr lang="en-US" sz="75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A15B9C8-D9B9-037B-E700-0AC8A9BA4139}"/>
              </a:ext>
            </a:extLst>
          </p:cNvPr>
          <p:cNvGrpSpPr/>
          <p:nvPr/>
        </p:nvGrpSpPr>
        <p:grpSpPr>
          <a:xfrm>
            <a:off x="403058" y="1280159"/>
            <a:ext cx="3757462" cy="4705549"/>
            <a:chOff x="640080" y="1280160"/>
            <a:chExt cx="3520440" cy="4480560"/>
          </a:xfrm>
        </p:grpSpPr>
        <p:sp>
          <p:nvSpPr>
            <p:cNvPr id="6" name="Shape 4"/>
            <p:cNvSpPr/>
            <p:nvPr/>
          </p:nvSpPr>
          <p:spPr>
            <a:xfrm>
              <a:off x="640080" y="1280160"/>
              <a:ext cx="3520440" cy="4480560"/>
            </a:xfrm>
            <a:prstGeom prst="roundRect">
              <a:avLst>
                <a:gd name="adj" fmla="val 2338"/>
              </a:avLst>
            </a:prstGeom>
            <a:solidFill>
              <a:srgbClr val="FFFFFF"/>
            </a:solidFill>
            <a:ln w="12700">
              <a:solidFill>
                <a:srgbClr val="D4DDEB"/>
              </a:solidFill>
              <a:prstDash val="solid"/>
            </a:ln>
          </p:spPr>
          <p:txBody>
            <a:bodyPr/>
            <a:lstStyle/>
            <a:p>
              <a:endParaRPr lang="pl-PL"/>
            </a:p>
          </p:txBody>
        </p:sp>
        <p:sp>
          <p:nvSpPr>
            <p:cNvPr id="7" name="Text 5"/>
            <p:cNvSpPr/>
            <p:nvPr/>
          </p:nvSpPr>
          <p:spPr>
            <a:xfrm>
              <a:off x="804672" y="1408176"/>
              <a:ext cx="3191256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b="1" dirty="0">
                  <a:solidFill>
                    <a:srgbClr val="152238"/>
                  </a:solidFill>
                </a:rPr>
                <a:t>Model</a:t>
              </a:r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 6"/>
                <p:cNvSpPr/>
                <p:nvPr/>
              </p:nvSpPr>
              <p:spPr>
                <a:xfrm>
                  <a:off x="914400" y="1828800"/>
                  <a:ext cx="2971800" cy="3743810"/>
                </a:xfrm>
                <a:prstGeom prst="rect">
                  <a:avLst/>
                </a:prstGeom>
                <a:noFill/>
                <a:ln/>
              </p:spPr>
              <p:txBody>
                <a:bodyPr wrap="square" lIns="381" tIns="381" rIns="381" bIns="381" rtlCol="0" anchor="ctr">
                  <a:normAutofit fontScale="92500" lnSpcReduction="20000"/>
                </a:bodyPr>
                <a:lstStyle/>
                <a:p>
                  <a:pPr marL="285750" indent="-285750">
                    <a:buFont typeface="Arial" panose="020B0604020202020204" pitchFamily="34" charset="0"/>
                    <a:buChar char="•"/>
                  </a:pPr>
                  <a:r>
                    <a:rPr lang="en-US" sz="1600" dirty="0">
                      <a:solidFill>
                        <a:srgbClr val="152238"/>
                      </a:solidFill>
                    </a:rPr>
                    <a:t>hBN supercell: 8 × 8 × 2</a:t>
                  </a:r>
                  <a:endParaRPr lang="en-US" sz="1600" dirty="0"/>
                </a:p>
                <a:p>
                  <a:pPr marL="285750" indent="-285750">
                    <a:buFont typeface="Arial" panose="020B0604020202020204" pitchFamily="34" charset="0"/>
                    <a:buChar char="•"/>
                  </a:pPr>
                  <a:r>
                    <a:rPr lang="en-US" sz="1600" dirty="0">
                      <a:solidFill>
                        <a:srgbClr val="152238"/>
                      </a:solidFill>
                    </a:rPr>
                    <a:t>Γ-point sampling</a:t>
                  </a:r>
                  <a:endParaRPr lang="en-US" sz="1600" dirty="0"/>
                </a:p>
                <a:p>
                  <a:pPr marL="285750" indent="-285750">
                    <a:buFont typeface="Arial" panose="020B0604020202020204" pitchFamily="34" charset="0"/>
                    <a:buChar char="•"/>
                  </a:pPr>
                  <a:r>
                    <a:rPr lang="en-US" sz="1600" dirty="0">
                      <a:solidFill>
                        <a:srgbClr val="152238"/>
                      </a:solidFill>
                    </a:rPr>
                    <a:t>Neutral charge state q = 0</a:t>
                  </a:r>
                  <a:endParaRPr lang="en-US" sz="1600" dirty="0"/>
                </a:p>
                <a:p>
                  <a:pPr marL="285750" indent="-285750">
                    <a:buFont typeface="Arial" panose="020B0604020202020204" pitchFamily="34" charset="0"/>
                    <a:buChar char="•"/>
                  </a:pPr>
                  <a:r>
                    <a:rPr lang="en-US" sz="1600" dirty="0">
                      <a:solidFill>
                        <a:srgbClr val="152238"/>
                      </a:solidFill>
                    </a:rPr>
                    <a:t>Spin-polarized calculations: ISPIN = 2</a:t>
                  </a:r>
                  <a:endParaRPr lang="en-US" sz="1600" dirty="0"/>
                </a:p>
                <a:p>
                  <a:pPr marL="285750" indent="-285750">
                    <a:buFont typeface="Arial" panose="020B0604020202020204" pitchFamily="34" charset="0"/>
                    <a:buChar char="•"/>
                  </a:pPr>
                  <a:r>
                    <a:rPr lang="en-US" sz="1600" dirty="0">
                      <a:solidFill>
                        <a:srgbClr val="152238"/>
                      </a:solidFill>
                    </a:rPr>
                    <a:t>ENCUT = 500 eV</a:t>
                  </a:r>
                  <a:endParaRPr lang="pl-PL" sz="1600" dirty="0">
                    <a:solidFill>
                      <a:srgbClr val="152238"/>
                    </a:solidFill>
                  </a:endParaRPr>
                </a:p>
                <a:p>
                  <a:pPr marL="285750" indent="-285750">
                    <a:buFont typeface="Arial" panose="020B0604020202020204" pitchFamily="34" charset="0"/>
                    <a:buChar char="•"/>
                  </a:pPr>
                  <a:r>
                    <a:rPr lang="pl-PL" sz="1600" dirty="0">
                      <a:solidFill>
                        <a:srgbClr val="152238"/>
                      </a:solidFill>
                    </a:rPr>
                    <a:t>Calculated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pl-PL" sz="1600" b="0" i="1" smtClean="0">
                              <a:solidFill>
                                <a:srgbClr val="152238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l-PL" sz="1600" b="0" i="1" smtClean="0">
                              <a:solidFill>
                                <a:srgbClr val="152238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pl-PL" sz="1600" b="0" i="1" smtClean="0">
                              <a:solidFill>
                                <a:srgbClr val="152238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</m:oMath>
                  </a14:m>
                  <a:r>
                    <a:rPr lang="pl-PL" sz="1600" dirty="0"/>
                    <a:t> = </a:t>
                  </a:r>
                  <a:r>
                    <a:rPr lang="pl-PL" dirty="0"/>
                    <a:t>5.914</a:t>
                  </a:r>
                </a:p>
                <a:p>
                  <a:pPr marL="285750" indent="-285750">
                    <a:buFont typeface="Arial" panose="020B0604020202020204" pitchFamily="34" charset="0"/>
                    <a:buChar char="•"/>
                  </a:pPr>
                  <a:endParaRPr lang="pl-PL" dirty="0"/>
                </a:p>
                <a:p>
                  <a:pPr marL="285750" indent="-285750">
                    <a:buFont typeface="Arial" panose="020B0604020202020204" pitchFamily="34" charset="0"/>
                    <a:buChar char="•"/>
                  </a:pPr>
                  <a:r>
                    <a:rPr lang="en-US" sz="1400" dirty="0">
                      <a:solidFill>
                        <a:srgbClr val="152238"/>
                      </a:solidFill>
                    </a:rPr>
                    <a:t>All candidates first relaxed in PBE</a:t>
                  </a:r>
                  <a:endParaRPr lang="en-US" sz="1400" dirty="0"/>
                </a:p>
                <a:p>
                  <a:pPr marL="285750" indent="-285750">
                    <a:buFont typeface="Arial" panose="020B0604020202020204" pitchFamily="34" charset="0"/>
                    <a:buChar char="•"/>
                  </a:pPr>
                  <a:r>
                    <a:rPr lang="en-US" sz="1400" dirty="0">
                      <a:solidFill>
                        <a:srgbClr val="152238"/>
                      </a:solidFill>
                    </a:rPr>
                    <a:t>HSE relaxation after PBE pre-relaxation</a:t>
                  </a:r>
                  <a:endParaRPr lang="en-US" sz="1400" dirty="0"/>
                </a:p>
                <a:p>
                  <a:pPr marL="285750" indent="-285750">
                    <a:buFont typeface="Arial" panose="020B0604020202020204" pitchFamily="34" charset="0"/>
                    <a:buChar char="•"/>
                  </a:pPr>
                  <a:r>
                    <a:rPr lang="en-US" sz="1400" dirty="0">
                      <a:solidFill>
                        <a:srgbClr val="152238"/>
                      </a:solidFill>
                    </a:rPr>
                    <a:t>HSE parameters: </a:t>
                  </a:r>
                  <a:endParaRPr lang="pl-PL" sz="1400" dirty="0">
                    <a:solidFill>
                      <a:srgbClr val="152238"/>
                    </a:solidFill>
                  </a:endParaRPr>
                </a:p>
                <a:p>
                  <a:pPr marL="742950" lvl="1" indent="-285750">
                    <a:buFont typeface="Arial" panose="020B0604020202020204" pitchFamily="34" charset="0"/>
                    <a:buChar char="•"/>
                  </a:pPr>
                  <a:r>
                    <a:rPr lang="en-US" sz="1400" dirty="0">
                      <a:solidFill>
                        <a:srgbClr val="152238"/>
                      </a:solidFill>
                    </a:rPr>
                    <a:t>HFSCREEN = 0.2</a:t>
                  </a:r>
                  <a:endParaRPr lang="pl-PL" sz="1400" dirty="0">
                    <a:solidFill>
                      <a:srgbClr val="152238"/>
                    </a:solidFill>
                  </a:endParaRPr>
                </a:p>
                <a:p>
                  <a:pPr marL="742950" lvl="1" indent="-285750">
                    <a:buFont typeface="Arial" panose="020B0604020202020204" pitchFamily="34" charset="0"/>
                    <a:buChar char="•"/>
                  </a:pPr>
                  <a:r>
                    <a:rPr lang="en-US" sz="1400" dirty="0">
                      <a:solidFill>
                        <a:srgbClr val="152238"/>
                      </a:solidFill>
                    </a:rPr>
                    <a:t>AEXX = 0.31</a:t>
                  </a:r>
                  <a:endParaRPr lang="pl-PL" sz="1600" dirty="0">
                    <a:solidFill>
                      <a:srgbClr val="152238"/>
                    </a:solidFill>
                  </a:endParaRPr>
                </a:p>
                <a:p>
                  <a:pPr marL="285750" indent="-285750">
                    <a:buFont typeface="Arial" panose="020B0604020202020204" pitchFamily="34" charset="0"/>
                    <a:buChar char="•"/>
                  </a:pPr>
                  <a:r>
                    <a:rPr lang="pl-PL" sz="1600" dirty="0">
                      <a:solidFill>
                        <a:srgbClr val="152238"/>
                      </a:solidFill>
                    </a:rPr>
                    <a:t>Van-der-Waals interactions taken into account using GrimmeD3 approach:</a:t>
                  </a:r>
                  <a:endParaRPr lang="en-US" sz="1600" dirty="0"/>
                </a:p>
                <a:p>
                  <a:pPr marL="742950" lvl="1" indent="-285750">
                    <a:buFont typeface="Arial" panose="020B0604020202020204" pitchFamily="34" charset="0"/>
                    <a:buChar char="•"/>
                  </a:pPr>
                  <a:r>
                    <a:rPr lang="en-US" sz="1600" dirty="0">
                      <a:solidFill>
                        <a:srgbClr val="152238"/>
                      </a:solidFill>
                    </a:rPr>
                    <a:t>IVDW = 11</a:t>
                  </a:r>
                  <a:endParaRPr lang="en-US" sz="1600" dirty="0"/>
                </a:p>
                <a:p>
                  <a:pPr marL="742950" lvl="1" indent="-285750">
                    <a:buFont typeface="Arial" panose="020B0604020202020204" pitchFamily="34" charset="0"/>
                    <a:buChar char="•"/>
                  </a:pPr>
                  <a:r>
                    <a:rPr lang="en-US" sz="1600" dirty="0">
                      <a:solidFill>
                        <a:srgbClr val="152238"/>
                      </a:solidFill>
                    </a:rPr>
                    <a:t>S6 = 1.000</a:t>
                  </a:r>
                  <a:endParaRPr lang="pl-PL" sz="1600" dirty="0">
                    <a:solidFill>
                      <a:srgbClr val="152238"/>
                    </a:solidFill>
                  </a:endParaRPr>
                </a:p>
                <a:p>
                  <a:pPr marL="742950" lvl="1" indent="-285750">
                    <a:buFont typeface="Arial" panose="020B0604020202020204" pitchFamily="34" charset="0"/>
                    <a:buChar char="•"/>
                  </a:pPr>
                  <a:r>
                    <a:rPr lang="en-US" sz="1600" dirty="0">
                      <a:solidFill>
                        <a:srgbClr val="152238"/>
                      </a:solidFill>
                    </a:rPr>
                    <a:t>S8 = 0.722</a:t>
                  </a:r>
                  <a:endParaRPr lang="pl-PL" sz="1600" dirty="0">
                    <a:solidFill>
                      <a:srgbClr val="152238"/>
                    </a:solidFill>
                  </a:endParaRPr>
                </a:p>
                <a:p>
                  <a:pPr marL="742950" lvl="1" indent="-285750">
                    <a:buFont typeface="Arial" panose="020B0604020202020204" pitchFamily="34" charset="0"/>
                    <a:buChar char="•"/>
                  </a:pPr>
                  <a:r>
                    <a:rPr lang="en-US" sz="1600" dirty="0">
                      <a:solidFill>
                        <a:srgbClr val="152238"/>
                      </a:solidFill>
                    </a:rPr>
                    <a:t>SR = 1.217</a:t>
                  </a:r>
                  <a:endParaRPr lang="en-US" sz="1600" dirty="0"/>
                </a:p>
                <a:p>
                  <a:pPr marL="285750" indent="-285750">
                    <a:buFont typeface="Arial" panose="020B0604020202020204" pitchFamily="34" charset="0"/>
                    <a:buChar char="•"/>
                  </a:pPr>
                  <a:endParaRPr lang="en-US" sz="1600" dirty="0"/>
                </a:p>
              </p:txBody>
            </p:sp>
          </mc:Choice>
          <mc:Fallback xmlns="">
            <p:sp>
              <p:nvSpPr>
                <p:cNvPr id="8" name="Text 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4400" y="1828800"/>
                  <a:ext cx="2971800" cy="3743810"/>
                </a:xfrm>
                <a:prstGeom prst="rect">
                  <a:avLst/>
                </a:prstGeom>
                <a:blipFill>
                  <a:blip r:embed="rId3"/>
                  <a:stretch>
                    <a:fillRect l="-3462" t="-310" r="-1731"/>
                  </a:stretch>
                </a:blipFill>
                <a:ln/>
              </p:spPr>
              <p:txBody>
                <a:bodyPr/>
                <a:lstStyle/>
                <a:p>
                  <a:r>
                    <a:rPr lang="pl-PL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36C8F03-FFA3-68EA-593E-F96355515C19}"/>
              </a:ext>
            </a:extLst>
          </p:cNvPr>
          <p:cNvGrpSpPr/>
          <p:nvPr/>
        </p:nvGrpSpPr>
        <p:grpSpPr>
          <a:xfrm>
            <a:off x="4203975" y="1280159"/>
            <a:ext cx="3757462" cy="4705549"/>
            <a:chOff x="4434840" y="1280160"/>
            <a:chExt cx="3520440" cy="4480560"/>
          </a:xfrm>
        </p:grpSpPr>
        <p:sp>
          <p:nvSpPr>
            <p:cNvPr id="9" name="Shape 7"/>
            <p:cNvSpPr/>
            <p:nvPr/>
          </p:nvSpPr>
          <p:spPr>
            <a:xfrm>
              <a:off x="4434840" y="1280160"/>
              <a:ext cx="3520440" cy="4480560"/>
            </a:xfrm>
            <a:prstGeom prst="roundRect">
              <a:avLst>
                <a:gd name="adj" fmla="val 2338"/>
              </a:avLst>
            </a:prstGeom>
            <a:solidFill>
              <a:srgbClr val="FFFFFF"/>
            </a:solidFill>
            <a:ln w="12700">
              <a:solidFill>
                <a:srgbClr val="D4DDEB"/>
              </a:solidFill>
              <a:prstDash val="solid"/>
            </a:ln>
          </p:spPr>
          <p:txBody>
            <a:bodyPr/>
            <a:lstStyle/>
            <a:p>
              <a:endParaRPr lang="pl-PL"/>
            </a:p>
          </p:txBody>
        </p:sp>
        <p:sp>
          <p:nvSpPr>
            <p:cNvPr id="10" name="Text 8"/>
            <p:cNvSpPr/>
            <p:nvPr/>
          </p:nvSpPr>
          <p:spPr>
            <a:xfrm>
              <a:off x="4599432" y="1408176"/>
              <a:ext cx="3191256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b="1" dirty="0">
                  <a:solidFill>
                    <a:srgbClr val="152238"/>
                  </a:solidFill>
                </a:rPr>
                <a:t>Functional strategy</a:t>
              </a:r>
              <a:endParaRPr lang="en-US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4709160" y="1828800"/>
              <a:ext cx="2971800" cy="3246120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rm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endParaRPr lang="en-US" sz="1400" dirty="0"/>
            </a:p>
          </p:txBody>
        </p:sp>
      </p:grpSp>
      <p:sp>
        <p:nvSpPr>
          <p:cNvPr id="12" name="Shape 10"/>
          <p:cNvSpPr/>
          <p:nvPr/>
        </p:nvSpPr>
        <p:spPr>
          <a:xfrm>
            <a:off x="8004891" y="1280159"/>
            <a:ext cx="3562269" cy="4705549"/>
          </a:xfrm>
          <a:prstGeom prst="roundRect">
            <a:avLst>
              <a:gd name="adj" fmla="val 2466"/>
            </a:avLst>
          </a:prstGeom>
          <a:solidFill>
            <a:srgbClr val="FFFFFF"/>
          </a:solidFill>
          <a:ln w="12700">
            <a:solidFill>
              <a:srgbClr val="D4DDEB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123E2F1E-5A65-99C7-7F80-E6377AAA5626}"/>
              </a:ext>
            </a:extLst>
          </p:cNvPr>
          <p:cNvGrpSpPr/>
          <p:nvPr/>
        </p:nvGrpSpPr>
        <p:grpSpPr>
          <a:xfrm>
            <a:off x="8394192" y="1408176"/>
            <a:ext cx="3008376" cy="3575304"/>
            <a:chOff x="8394192" y="1408176"/>
            <a:chExt cx="3008376" cy="3575304"/>
          </a:xfrm>
        </p:grpSpPr>
        <p:sp>
          <p:nvSpPr>
            <p:cNvPr id="13" name="Text 11"/>
            <p:cNvSpPr/>
            <p:nvPr/>
          </p:nvSpPr>
          <p:spPr>
            <a:xfrm>
              <a:off x="8394192" y="1408176"/>
              <a:ext cx="3008376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b="1" dirty="0">
                  <a:solidFill>
                    <a:srgbClr val="152238"/>
                  </a:solidFill>
                </a:rPr>
                <a:t>Excited states</a:t>
              </a:r>
              <a:endParaRPr lang="en-US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8503920" y="1828800"/>
              <a:ext cx="2788920" cy="3154680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rm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330" dirty="0">
                  <a:solidFill>
                    <a:srgbClr val="152238"/>
                  </a:solidFill>
                </a:rPr>
                <a:t>ΔSCF-like constrained occupations using FERWE / FERDO</a:t>
              </a:r>
              <a:endParaRPr lang="en-US" sz="1330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330" dirty="0">
                  <a:solidFill>
                    <a:srgbClr val="152238"/>
                  </a:solidFill>
                </a:rPr>
                <a:t>Excitation defined as electron transfer between selected defect levels</a:t>
              </a:r>
              <a:endParaRPr lang="en-US" sz="1330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330" dirty="0">
                  <a:solidFill>
                    <a:srgbClr val="152238"/>
                  </a:solidFill>
                </a:rPr>
                <a:t>Excited-state geometries partially converged; several remain problematic</a:t>
              </a:r>
              <a:endParaRPr lang="en-US" sz="1330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330" dirty="0">
                  <a:solidFill>
                    <a:srgbClr val="152238"/>
                  </a:solidFill>
                </a:rPr>
                <a:t>Triplet single-point energies via NUPDOWN = 2 where needed</a:t>
              </a:r>
              <a:endParaRPr lang="en-US" sz="1330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A8A5D76-18EE-5D4A-18C1-6C6924BA68D2}"/>
                  </a:ext>
                </a:extLst>
              </p:cNvPr>
              <p:cNvSpPr txBox="1"/>
              <p:nvPr/>
            </p:nvSpPr>
            <p:spPr>
              <a:xfrm>
                <a:off x="4496764" y="1917700"/>
                <a:ext cx="3171884" cy="28845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pl-PL" dirty="0"/>
                  <a:t>First relacation in PBE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pl-PL" dirty="0"/>
                  <a:t>Final geometry in HSE for ground state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pl-PL" dirty="0"/>
                  <a:t>Excited state geometry in PBE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l-PL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l-PL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pl-PL" b="0" i="1" smtClean="0">
                            <a:latin typeface="Cambria Math" panose="02040503050406030204" pitchFamily="18" charset="0"/>
                          </a:rPr>
                          <m:t>𝑓𝑐</m:t>
                        </m:r>
                      </m:sub>
                    </m:sSub>
                  </m:oMath>
                </a14:m>
                <a:r>
                  <a:rPr lang="pl-PL" dirty="0"/>
                  <a:t> approximation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pl-PL" dirty="0"/>
                  <a:t>Excited state in HSE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pl-PL" dirty="0"/>
                  <a:t>Tryplet energy for excited state geometry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pl-PL" dirty="0"/>
                  <a:t>Ground state energy for excited state geometry</a:t>
                </a: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A8A5D76-18EE-5D4A-18C1-6C6924BA68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6764" y="1917700"/>
                <a:ext cx="3171884" cy="2884572"/>
              </a:xfrm>
              <a:prstGeom prst="rect">
                <a:avLst/>
              </a:prstGeom>
              <a:blipFill>
                <a:blip r:embed="rId4"/>
                <a:stretch>
                  <a:fillRect l="-1346" t="-1057" b="-2537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Text 1"/>
          <p:cNvSpPr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Optical-property model: what the next calculations will deliver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069848"/>
            <a:ext cx="11155680" cy="0"/>
          </a:xfrm>
          <a:prstGeom prst="line">
            <a:avLst/>
          </a:prstGeom>
          <a:noFill/>
          <a:ln w="12700">
            <a:solidFill>
              <a:srgbClr val="CCD4E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" name="Text 3"/>
          <p:cNvSpPr/>
          <p:nvPr/>
        </p:nvSpPr>
        <p:spPr>
          <a:xfrm>
            <a:off x="502920" y="6510528"/>
            <a:ext cx="9692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A8494"/>
                </a:solidFill>
              </a:rPr>
              <a:t>Franciszek Zabierowski  |  FTMC project discussion</a:t>
            </a:r>
            <a:endParaRPr lang="en-US" sz="750" dirty="0"/>
          </a:p>
        </p:txBody>
      </p:sp>
      <p:pic>
        <p:nvPicPr>
          <p:cNvPr id="6" name="Image 0" descr="/mnt/data/generated_assets/ccd_schemat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800970"/>
            <a:ext cx="5486400" cy="3256059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355080" y="1234440"/>
            <a:ext cx="5212080" cy="4389120"/>
          </a:xfrm>
          <a:prstGeom prst="roundRect">
            <a:avLst>
              <a:gd name="adj" fmla="val 1875"/>
            </a:avLst>
          </a:prstGeom>
          <a:solidFill>
            <a:srgbClr val="FFFFFF"/>
          </a:solidFill>
          <a:ln w="12700">
            <a:solidFill>
              <a:srgbClr val="D4DDEB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8" name="Text 5"/>
          <p:cNvSpPr/>
          <p:nvPr/>
        </p:nvSpPr>
        <p:spPr>
          <a:xfrm>
            <a:off x="6519672" y="1362456"/>
            <a:ext cx="4882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2238"/>
                </a:solidFill>
              </a:rPr>
              <a:t>Energy quantities</a:t>
            </a:r>
            <a:endParaRPr lang="en-US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 6"/>
              <p:cNvSpPr/>
              <p:nvPr/>
            </p:nvSpPr>
            <p:spPr>
              <a:xfrm>
                <a:off x="6629400" y="1737360"/>
                <a:ext cx="4663440" cy="1554480"/>
              </a:xfrm>
              <a:prstGeom prst="rect">
                <a:avLst/>
              </a:prstGeom>
              <a:noFill/>
              <a:ln/>
            </p:spPr>
            <p:txBody>
              <a:bodyPr wrap="square" lIns="889" tIns="889" rIns="889" bIns="889" rtlCol="0" anchor="t">
                <a:normAutofit/>
              </a:bodyPr>
              <a:lstStyle/>
              <a:p>
                <a:pPr marL="0" indent="0" algn="l">
                  <a:buNone/>
                </a:pPr>
                <a:r>
                  <a:rPr lang="en-US" sz="1350" dirty="0">
                    <a:solidFill>
                      <a:srgbClr val="152238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Ground-state minimum: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350" i="0" dirty="0" smtClean="0">
                            <a:solidFill>
                              <a:srgbClr val="152238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Aptos" pitchFamily="34" charset="-12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350" i="0" dirty="0" smtClean="0">
                            <a:solidFill>
                              <a:srgbClr val="152238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Aptos" pitchFamily="34" charset="-120"/>
                          </a:rPr>
                          <m:t>E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pl-PL" sz="1350" b="0" i="0" dirty="0" smtClean="0">
                            <a:solidFill>
                              <a:srgbClr val="152238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Aptos" pitchFamily="34" charset="-120"/>
                          </a:rPr>
                          <m:t>GS</m:t>
                        </m:r>
                      </m:sub>
                    </m:sSub>
                    <m:r>
                      <a:rPr lang="en-US" sz="1350" i="0" dirty="0" smtClean="0">
                        <a:solidFill>
                          <a:srgbClr val="152238"/>
                        </a:solidFill>
                        <a:latin typeface="Cambria Math" panose="02040503050406030204" pitchFamily="18" charset="0"/>
                        <a:ea typeface="Aptos" pitchFamily="34" charset="-122"/>
                        <a:cs typeface="Aptos" pitchFamily="34" charset="-120"/>
                      </a:rPr>
                      <m:t>(</m:t>
                    </m:r>
                    <m:sSub>
                      <m:sSubPr>
                        <m:ctrlPr>
                          <a:rPr lang="en-US" sz="1350" i="0" dirty="0" smtClean="0">
                            <a:solidFill>
                              <a:srgbClr val="152238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Aptos" pitchFamily="34" charset="-12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350" i="0" dirty="0" smtClean="0">
                            <a:solidFill>
                              <a:srgbClr val="152238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Aptos" pitchFamily="34" charset="-120"/>
                          </a:rPr>
                          <m:t>Q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350" i="0" dirty="0" smtClean="0">
                            <a:solidFill>
                              <a:srgbClr val="152238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Aptos" pitchFamily="34" charset="-120"/>
                          </a:rPr>
                          <m:t>GS</m:t>
                        </m:r>
                      </m:sub>
                    </m:sSub>
                    <m:r>
                      <a:rPr lang="en-US" sz="1350" i="0" dirty="0" smtClean="0">
                        <a:solidFill>
                          <a:srgbClr val="152238"/>
                        </a:solidFill>
                        <a:latin typeface="Cambria Math" panose="02040503050406030204" pitchFamily="18" charset="0"/>
                        <a:ea typeface="Aptos" pitchFamily="34" charset="-122"/>
                        <a:cs typeface="Aptos" pitchFamily="34" charset="-120"/>
                      </a:rPr>
                      <m:t>)</m:t>
                    </m:r>
                  </m:oMath>
                </a14:m>
                <a:endParaRPr lang="en-US" sz="1350" dirty="0"/>
              </a:p>
              <a:p>
                <a:pPr marL="0" indent="0" algn="l">
                  <a:buNone/>
                </a:pPr>
                <a:r>
                  <a:rPr lang="en-US" sz="1350" dirty="0">
                    <a:solidFill>
                      <a:srgbClr val="152238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Excited-state minimum: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350" i="0" dirty="0" smtClean="0">
                            <a:solidFill>
                              <a:srgbClr val="152238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Aptos" pitchFamily="34" charset="-12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350" i="0" dirty="0" smtClean="0">
                            <a:solidFill>
                              <a:srgbClr val="152238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Aptos" pitchFamily="34" charset="-120"/>
                          </a:rPr>
                          <m:t>E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350" i="0" dirty="0" smtClean="0">
                            <a:solidFill>
                              <a:srgbClr val="152238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Aptos" pitchFamily="34" charset="-120"/>
                          </a:rPr>
                          <m:t>ES</m:t>
                        </m:r>
                      </m:sub>
                    </m:sSub>
                    <m:r>
                      <a:rPr lang="en-US" sz="1350" i="0" dirty="0" smtClean="0">
                        <a:solidFill>
                          <a:srgbClr val="152238"/>
                        </a:solidFill>
                        <a:latin typeface="Cambria Math" panose="02040503050406030204" pitchFamily="18" charset="0"/>
                        <a:ea typeface="Aptos" pitchFamily="34" charset="-122"/>
                        <a:cs typeface="Aptos" pitchFamily="34" charset="-120"/>
                      </a:rPr>
                      <m:t>(</m:t>
                    </m:r>
                    <m:sSub>
                      <m:sSubPr>
                        <m:ctrlPr>
                          <a:rPr lang="en-US" sz="1350" i="0" dirty="0" smtClean="0">
                            <a:solidFill>
                              <a:srgbClr val="152238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Aptos" pitchFamily="34" charset="-12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350" i="0" dirty="0" smtClean="0">
                            <a:solidFill>
                              <a:srgbClr val="152238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Aptos" pitchFamily="34" charset="-120"/>
                          </a:rPr>
                          <m:t>Q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350" i="0" dirty="0" smtClean="0">
                            <a:solidFill>
                              <a:srgbClr val="152238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Aptos" pitchFamily="34" charset="-120"/>
                          </a:rPr>
                          <m:t>ES</m:t>
                        </m:r>
                      </m:sub>
                    </m:sSub>
                    <m:r>
                      <a:rPr lang="en-US" sz="1350" i="0" dirty="0" smtClean="0">
                        <a:solidFill>
                          <a:srgbClr val="152238"/>
                        </a:solidFill>
                        <a:latin typeface="Cambria Math" panose="02040503050406030204" pitchFamily="18" charset="0"/>
                        <a:ea typeface="Aptos" pitchFamily="34" charset="-122"/>
                        <a:cs typeface="Aptos" pitchFamily="34" charset="-120"/>
                      </a:rPr>
                      <m:t>)</m:t>
                    </m:r>
                  </m:oMath>
                </a14:m>
                <a:endParaRPr lang="pl-PL" sz="1350" dirty="0"/>
              </a:p>
              <a:p>
                <a:pPr marL="0" indent="0" algn="l">
                  <a:buNone/>
                </a:pPr>
                <a:r>
                  <a:rPr lang="en-US" sz="1350" dirty="0">
                    <a:solidFill>
                      <a:srgbClr val="152238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Vertical absorption: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350" i="0" dirty="0" smtClean="0">
                            <a:solidFill>
                              <a:srgbClr val="152238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Aptos" pitchFamily="34" charset="-12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350" i="0" dirty="0" smtClean="0">
                            <a:solidFill>
                              <a:srgbClr val="152238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Aptos" pitchFamily="34" charset="-120"/>
                          </a:rPr>
                          <m:t>E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350" i="0" dirty="0" smtClean="0">
                            <a:solidFill>
                              <a:srgbClr val="152238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Aptos" pitchFamily="34" charset="-120"/>
                          </a:rPr>
                          <m:t>ES</m:t>
                        </m:r>
                      </m:sub>
                    </m:sSub>
                    <m:r>
                      <a:rPr lang="en-US" sz="1350" i="0" dirty="0" smtClean="0">
                        <a:solidFill>
                          <a:srgbClr val="152238"/>
                        </a:solidFill>
                        <a:latin typeface="Cambria Math" panose="02040503050406030204" pitchFamily="18" charset="0"/>
                        <a:ea typeface="Aptos" pitchFamily="34" charset="-122"/>
                        <a:cs typeface="Aptos" pitchFamily="34" charset="-120"/>
                      </a:rPr>
                      <m:t>(</m:t>
                    </m:r>
                    <m:sSub>
                      <m:sSubPr>
                        <m:ctrlPr>
                          <a:rPr lang="en-US" sz="1350" i="0" dirty="0" smtClean="0">
                            <a:solidFill>
                              <a:srgbClr val="152238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Aptos" pitchFamily="34" charset="-12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350" i="0" dirty="0" smtClean="0">
                            <a:solidFill>
                              <a:srgbClr val="152238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Aptos" pitchFamily="34" charset="-120"/>
                          </a:rPr>
                          <m:t>Q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350" i="0" dirty="0" smtClean="0">
                            <a:solidFill>
                              <a:srgbClr val="152238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Aptos" pitchFamily="34" charset="-120"/>
                          </a:rPr>
                          <m:t>GS</m:t>
                        </m:r>
                      </m:sub>
                    </m:sSub>
                    <m:r>
                      <a:rPr lang="en-US" sz="1350" i="0" dirty="0" smtClean="0">
                        <a:solidFill>
                          <a:srgbClr val="152238"/>
                        </a:solidFill>
                        <a:latin typeface="Cambria Math" panose="02040503050406030204" pitchFamily="18" charset="0"/>
                        <a:ea typeface="Aptos" pitchFamily="34" charset="-122"/>
                        <a:cs typeface="Aptos" pitchFamily="34" charset="-120"/>
                      </a:rPr>
                      <m:t>) − </m:t>
                    </m:r>
                    <m:sSub>
                      <m:sSubPr>
                        <m:ctrlPr>
                          <a:rPr lang="en-US" sz="1350" i="0" dirty="0" smtClean="0">
                            <a:solidFill>
                              <a:srgbClr val="152238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Aptos" pitchFamily="34" charset="-12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350" i="0" dirty="0" smtClean="0">
                            <a:solidFill>
                              <a:srgbClr val="152238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Aptos" pitchFamily="34" charset="-120"/>
                          </a:rPr>
                          <m:t>E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350" i="0" dirty="0" smtClean="0">
                            <a:solidFill>
                              <a:srgbClr val="152238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Aptos" pitchFamily="34" charset="-120"/>
                          </a:rPr>
                          <m:t>GS</m:t>
                        </m:r>
                      </m:sub>
                    </m:sSub>
                    <m:r>
                      <a:rPr lang="en-US" sz="1350" i="0" dirty="0" smtClean="0">
                        <a:solidFill>
                          <a:srgbClr val="152238"/>
                        </a:solidFill>
                        <a:latin typeface="Cambria Math" panose="02040503050406030204" pitchFamily="18" charset="0"/>
                        <a:ea typeface="Aptos" pitchFamily="34" charset="-122"/>
                        <a:cs typeface="Aptos" pitchFamily="34" charset="-120"/>
                      </a:rPr>
                      <m:t>(</m:t>
                    </m:r>
                    <m:sSub>
                      <m:sSubPr>
                        <m:ctrlPr>
                          <a:rPr lang="en-US" sz="1350" i="0" dirty="0" smtClean="0">
                            <a:solidFill>
                              <a:srgbClr val="152238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Aptos" pitchFamily="34" charset="-12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350" i="0" dirty="0" smtClean="0">
                            <a:solidFill>
                              <a:srgbClr val="152238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Aptos" pitchFamily="34" charset="-120"/>
                          </a:rPr>
                          <m:t>Q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350" i="0" dirty="0" smtClean="0">
                            <a:solidFill>
                              <a:srgbClr val="152238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Aptos" pitchFamily="34" charset="-120"/>
                          </a:rPr>
                          <m:t>GS</m:t>
                        </m:r>
                      </m:sub>
                    </m:sSub>
                    <m:r>
                      <a:rPr lang="en-US" sz="1350" i="0" dirty="0" smtClean="0">
                        <a:solidFill>
                          <a:srgbClr val="152238"/>
                        </a:solidFill>
                        <a:latin typeface="Cambria Math" panose="02040503050406030204" pitchFamily="18" charset="0"/>
                        <a:ea typeface="Aptos" pitchFamily="34" charset="-122"/>
                        <a:cs typeface="Aptos" pitchFamily="34" charset="-120"/>
                      </a:rPr>
                      <m:t>)</m:t>
                    </m:r>
                  </m:oMath>
                </a14:m>
                <a:endParaRPr lang="en-US" sz="1350" dirty="0"/>
              </a:p>
              <a:p>
                <a:pPr marL="0" indent="0" algn="l">
                  <a:buNone/>
                </a:pPr>
                <a:r>
                  <a:rPr lang="en-US" sz="1350" dirty="0">
                    <a:solidFill>
                      <a:srgbClr val="152238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Vertical emission: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350" i="0" dirty="0" smtClean="0">
                            <a:solidFill>
                              <a:srgbClr val="152238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Aptos" pitchFamily="34" charset="-12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350" i="0" dirty="0" smtClean="0">
                            <a:solidFill>
                              <a:srgbClr val="152238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Aptos" pitchFamily="34" charset="-120"/>
                          </a:rPr>
                          <m:t>E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350" i="0" dirty="0" smtClean="0">
                            <a:solidFill>
                              <a:srgbClr val="152238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Aptos" pitchFamily="34" charset="-120"/>
                          </a:rPr>
                          <m:t>ES</m:t>
                        </m:r>
                      </m:sub>
                    </m:sSub>
                    <m:r>
                      <a:rPr lang="en-US" sz="1350" i="0" dirty="0" smtClean="0">
                        <a:solidFill>
                          <a:srgbClr val="152238"/>
                        </a:solidFill>
                        <a:latin typeface="Cambria Math" panose="02040503050406030204" pitchFamily="18" charset="0"/>
                        <a:ea typeface="Aptos" pitchFamily="34" charset="-122"/>
                        <a:cs typeface="Aptos" pitchFamily="34" charset="-120"/>
                      </a:rPr>
                      <m:t>(</m:t>
                    </m:r>
                    <m:sSub>
                      <m:sSubPr>
                        <m:ctrlPr>
                          <a:rPr lang="en-US" sz="1350" i="0" dirty="0" smtClean="0">
                            <a:solidFill>
                              <a:srgbClr val="152238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Aptos" pitchFamily="34" charset="-12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350" i="0" dirty="0" smtClean="0">
                            <a:solidFill>
                              <a:srgbClr val="152238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Aptos" pitchFamily="34" charset="-120"/>
                          </a:rPr>
                          <m:t>Q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350" i="0" dirty="0" smtClean="0">
                            <a:solidFill>
                              <a:srgbClr val="152238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Aptos" pitchFamily="34" charset="-120"/>
                          </a:rPr>
                          <m:t>ES</m:t>
                        </m:r>
                      </m:sub>
                    </m:sSub>
                    <m:r>
                      <a:rPr lang="en-US" sz="1350" i="0" dirty="0" smtClean="0">
                        <a:solidFill>
                          <a:srgbClr val="152238"/>
                        </a:solidFill>
                        <a:latin typeface="Cambria Math" panose="02040503050406030204" pitchFamily="18" charset="0"/>
                        <a:ea typeface="Aptos" pitchFamily="34" charset="-122"/>
                        <a:cs typeface="Aptos" pitchFamily="34" charset="-120"/>
                      </a:rPr>
                      <m:t>) − </m:t>
                    </m:r>
                    <m:sSub>
                      <m:sSubPr>
                        <m:ctrlPr>
                          <a:rPr lang="en-US" sz="1350" i="0" dirty="0" smtClean="0">
                            <a:solidFill>
                              <a:srgbClr val="152238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Aptos" pitchFamily="34" charset="-12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350" i="0" dirty="0" smtClean="0">
                            <a:solidFill>
                              <a:srgbClr val="152238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Aptos" pitchFamily="34" charset="-120"/>
                          </a:rPr>
                          <m:t>E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350" i="0" dirty="0" smtClean="0">
                            <a:solidFill>
                              <a:srgbClr val="152238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Aptos" pitchFamily="34" charset="-120"/>
                          </a:rPr>
                          <m:t>GS</m:t>
                        </m:r>
                      </m:sub>
                    </m:sSub>
                    <m:r>
                      <a:rPr lang="en-US" sz="1350" i="0" dirty="0" smtClean="0">
                        <a:solidFill>
                          <a:srgbClr val="152238"/>
                        </a:solidFill>
                        <a:latin typeface="Cambria Math" panose="02040503050406030204" pitchFamily="18" charset="0"/>
                        <a:ea typeface="Aptos" pitchFamily="34" charset="-122"/>
                        <a:cs typeface="Aptos" pitchFamily="34" charset="-120"/>
                      </a:rPr>
                      <m:t>(</m:t>
                    </m:r>
                    <m:sSub>
                      <m:sSubPr>
                        <m:ctrlPr>
                          <a:rPr lang="en-US" sz="1350" i="0" dirty="0" smtClean="0">
                            <a:solidFill>
                              <a:srgbClr val="152238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Aptos" pitchFamily="34" charset="-12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350" i="0" dirty="0" smtClean="0">
                            <a:solidFill>
                              <a:srgbClr val="152238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Aptos" pitchFamily="34" charset="-120"/>
                          </a:rPr>
                          <m:t>Q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350" i="0" dirty="0" smtClean="0">
                            <a:solidFill>
                              <a:srgbClr val="152238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Aptos" pitchFamily="34" charset="-120"/>
                          </a:rPr>
                          <m:t>ES</m:t>
                        </m:r>
                      </m:sub>
                    </m:sSub>
                    <m:r>
                      <a:rPr lang="en-US" sz="1350" i="0" dirty="0" smtClean="0">
                        <a:solidFill>
                          <a:srgbClr val="152238"/>
                        </a:solidFill>
                        <a:latin typeface="Cambria Math" panose="02040503050406030204" pitchFamily="18" charset="0"/>
                        <a:ea typeface="Aptos" pitchFamily="34" charset="-122"/>
                        <a:cs typeface="Aptos" pitchFamily="34" charset="-120"/>
                      </a:rPr>
                      <m:t>)</m:t>
                    </m:r>
                  </m:oMath>
                </a14:m>
                <a:endParaRPr lang="en-US" sz="1350" dirty="0"/>
              </a:p>
              <a:p>
                <a:pPr marL="0" indent="0" algn="l">
                  <a:buNone/>
                </a:pPr>
                <a:r>
                  <a:rPr lang="en-US" sz="1350" dirty="0">
                    <a:solidFill>
                      <a:srgbClr val="152238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ZPL: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l-PL" sz="1350" b="0" i="0" dirty="0" smtClean="0">
                            <a:solidFill>
                              <a:srgbClr val="152238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Aptos" pitchFamily="34" charset="-12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pl-PL" sz="1350" b="0" i="0" dirty="0" smtClean="0">
                            <a:solidFill>
                              <a:srgbClr val="152238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Aptos" pitchFamily="34" charset="-120"/>
                          </a:rPr>
                          <m:t>E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pl-PL" sz="1350" b="0" i="0" dirty="0" smtClean="0">
                            <a:solidFill>
                              <a:srgbClr val="152238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Aptos" pitchFamily="34" charset="-120"/>
                          </a:rPr>
                          <m:t>ES</m:t>
                        </m:r>
                      </m:sub>
                    </m:sSub>
                    <m:r>
                      <a:rPr lang="pl-PL" sz="1350" b="0" i="0" dirty="0" smtClean="0">
                        <a:solidFill>
                          <a:srgbClr val="152238"/>
                        </a:solidFill>
                        <a:latin typeface="Cambria Math" panose="02040503050406030204" pitchFamily="18" charset="0"/>
                        <a:ea typeface="Aptos" pitchFamily="34" charset="-122"/>
                        <a:cs typeface="Aptos" pitchFamily="34" charset="-120"/>
                      </a:rPr>
                      <m:t> </m:t>
                    </m:r>
                    <m:d>
                      <m:dPr>
                        <m:ctrlPr>
                          <a:rPr lang="pl-PL" sz="1350" b="0" i="1" dirty="0" smtClean="0">
                            <a:solidFill>
                              <a:srgbClr val="152238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Aptos" pitchFamily="34" charset="-12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pl-PL" sz="1350" b="0" i="0" dirty="0" smtClean="0">
                                <a:solidFill>
                                  <a:srgbClr val="152238"/>
                                </a:solidFill>
                                <a:latin typeface="Cambria Math" panose="02040503050406030204" pitchFamily="18" charset="0"/>
                                <a:ea typeface="Aptos" pitchFamily="34" charset="-122"/>
                                <a:cs typeface="Aptos" pitchFamily="34" charset="-12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pl-PL" sz="1350" b="0" i="0" dirty="0" smtClean="0">
                                <a:solidFill>
                                  <a:srgbClr val="152238"/>
                                </a:solidFill>
                                <a:latin typeface="Cambria Math" panose="02040503050406030204" pitchFamily="18" charset="0"/>
                                <a:ea typeface="Aptos" pitchFamily="34" charset="-122"/>
                                <a:cs typeface="Aptos" pitchFamily="34" charset="-120"/>
                              </a:rPr>
                              <m:t>Q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pl-PL" sz="1350" b="0" i="0" dirty="0" smtClean="0">
                                <a:solidFill>
                                  <a:srgbClr val="152238"/>
                                </a:solidFill>
                                <a:latin typeface="Cambria Math" panose="02040503050406030204" pitchFamily="18" charset="0"/>
                                <a:ea typeface="Aptos" pitchFamily="34" charset="-122"/>
                                <a:cs typeface="Aptos" pitchFamily="34" charset="-120"/>
                              </a:rPr>
                              <m:t>ES</m:t>
                            </m:r>
                          </m:sub>
                        </m:sSub>
                      </m:e>
                    </m:d>
                    <m:r>
                      <a:rPr lang="pl-PL" sz="1350" b="0" i="0" dirty="0" smtClean="0">
                        <a:solidFill>
                          <a:srgbClr val="152238"/>
                        </a:solidFill>
                        <a:latin typeface="Cambria Math" panose="02040503050406030204" pitchFamily="18" charset="0"/>
                        <a:ea typeface="Aptos" pitchFamily="34" charset="-122"/>
                        <a:cs typeface="Aptos" pitchFamily="34" charset="-120"/>
                      </a:rPr>
                      <m:t>−</m:t>
                    </m:r>
                    <m:sSub>
                      <m:sSubPr>
                        <m:ctrlPr>
                          <a:rPr lang="pl-PL" sz="1350" b="0" i="0" dirty="0" smtClean="0">
                            <a:solidFill>
                              <a:srgbClr val="152238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Aptos" pitchFamily="34" charset="-12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pl-PL" sz="1350" b="0" i="0" dirty="0" smtClean="0">
                            <a:solidFill>
                              <a:srgbClr val="152238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Aptos" pitchFamily="34" charset="-120"/>
                          </a:rPr>
                          <m:t>E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pl-PL" sz="1350" b="0" i="0" dirty="0" smtClean="0">
                            <a:solidFill>
                              <a:srgbClr val="152238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Aptos" pitchFamily="34" charset="-120"/>
                          </a:rPr>
                          <m:t>GS</m:t>
                        </m:r>
                      </m:sub>
                    </m:sSub>
                    <m:r>
                      <a:rPr lang="pl-PL" sz="1350" b="0" i="0" dirty="0" smtClean="0">
                        <a:solidFill>
                          <a:srgbClr val="152238"/>
                        </a:solidFill>
                        <a:latin typeface="Cambria Math" panose="02040503050406030204" pitchFamily="18" charset="0"/>
                        <a:ea typeface="Aptos" pitchFamily="34" charset="-122"/>
                        <a:cs typeface="Aptos" pitchFamily="34" charset="-120"/>
                      </a:rPr>
                      <m:t>(</m:t>
                    </m:r>
                    <m:sSub>
                      <m:sSubPr>
                        <m:ctrlPr>
                          <a:rPr lang="pl-PL" sz="1350" b="0" i="0" dirty="0" smtClean="0">
                            <a:solidFill>
                              <a:srgbClr val="152238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Aptos" pitchFamily="34" charset="-12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pl-PL" sz="1350" b="0" i="0" dirty="0" smtClean="0">
                            <a:solidFill>
                              <a:srgbClr val="152238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Aptos" pitchFamily="34" charset="-120"/>
                          </a:rPr>
                          <m:t>Q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pl-PL" sz="1350" b="0" i="0" dirty="0" smtClean="0">
                            <a:solidFill>
                              <a:srgbClr val="152238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Aptos" pitchFamily="34" charset="-120"/>
                          </a:rPr>
                          <m:t>GS</m:t>
                        </m:r>
                      </m:sub>
                    </m:sSub>
                    <m:r>
                      <a:rPr lang="pl-PL" sz="1350" b="0" i="0" dirty="0" smtClean="0">
                        <a:solidFill>
                          <a:srgbClr val="152238"/>
                        </a:solidFill>
                        <a:latin typeface="Cambria Math" panose="02040503050406030204" pitchFamily="18" charset="0"/>
                        <a:ea typeface="Aptos" pitchFamily="34" charset="-122"/>
                        <a:cs typeface="Aptos" pitchFamily="34" charset="-120"/>
                      </a:rPr>
                      <m:t>)</m:t>
                    </m:r>
                  </m:oMath>
                </a14:m>
                <a:endParaRPr lang="en-US" sz="1350" dirty="0"/>
              </a:p>
            </p:txBody>
          </p:sp>
        </mc:Choice>
        <mc:Fallback xmlns="">
          <p:sp>
            <p:nvSpPr>
              <p:cNvPr id="9" name="Text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9400" y="1737360"/>
                <a:ext cx="4663440" cy="1554480"/>
              </a:xfrm>
              <a:prstGeom prst="rect">
                <a:avLst/>
              </a:prstGeom>
              <a:blipFill>
                <a:blip r:embed="rId4"/>
                <a:stretch>
                  <a:fillRect l="-2353" t="-3529"/>
                </a:stretch>
              </a:blipFill>
              <a:ln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Shape 7"/>
          <p:cNvSpPr/>
          <p:nvPr/>
        </p:nvSpPr>
        <p:spPr>
          <a:xfrm>
            <a:off x="6629400" y="3493008"/>
            <a:ext cx="4572000" cy="0"/>
          </a:xfrm>
          <a:prstGeom prst="line">
            <a:avLst/>
          </a:prstGeom>
          <a:noFill/>
          <a:ln w="12700">
            <a:solidFill>
              <a:srgbClr val="CCD4E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 8"/>
              <p:cNvSpPr/>
              <p:nvPr/>
            </p:nvSpPr>
            <p:spPr>
              <a:xfrm>
                <a:off x="6629400" y="3767328"/>
                <a:ext cx="4617720" cy="914400"/>
              </a:xfrm>
              <a:prstGeom prst="rect">
                <a:avLst/>
              </a:prstGeom>
              <a:noFill/>
              <a:ln/>
            </p:spPr>
            <p:txBody>
              <a:bodyPr wrap="square" lIns="889" tIns="889" rIns="889" bIns="889" rtlCol="0" anchor="t">
                <a:normAutofit/>
              </a:bodyPr>
              <a:lstStyle/>
              <a:p>
                <a:pPr marL="0" indent="0" algn="l">
                  <a:buNone/>
                </a:pPr>
                <a:r>
                  <a:rPr lang="en-US" sz="1250" dirty="0">
                    <a:solidFill>
                      <a:srgbClr val="152238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Project-specific spin-correction route under discussion:</a:t>
                </a:r>
                <a:endParaRPr lang="en-US" sz="1250" dirty="0"/>
              </a:p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250" i="0" dirty="0" smtClean="0">
                              <a:solidFill>
                                <a:srgbClr val="152238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Aptos" pitchFamily="34" charset="-12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250" i="0" dirty="0" smtClean="0">
                              <a:solidFill>
                                <a:srgbClr val="152238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Aptos" pitchFamily="34" charset="-120"/>
                            </a:rPr>
                            <m:t>E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250" i="0" dirty="0" smtClean="0">
                              <a:solidFill>
                                <a:srgbClr val="152238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Aptos" pitchFamily="34" charset="-120"/>
                            </a:rPr>
                            <m:t>ZPL</m:t>
                          </m:r>
                        </m:sub>
                      </m:sSub>
                      <m:r>
                        <a:rPr lang="en-US" sz="1250" i="0" dirty="0" smtClean="0">
                          <a:solidFill>
                            <a:srgbClr val="152238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Aptos" pitchFamily="34" charset="-120"/>
                        </a:rPr>
                        <m:t> = 2</m:t>
                      </m:r>
                      <m:sSub>
                        <m:sSubPr>
                          <m:ctrlPr>
                            <a:rPr lang="en-US" sz="1250" i="0" dirty="0" smtClean="0">
                              <a:solidFill>
                                <a:srgbClr val="152238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Aptos" pitchFamily="34" charset="-12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250" i="0" dirty="0" smtClean="0">
                              <a:solidFill>
                                <a:srgbClr val="152238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Aptos" pitchFamily="34" charset="-120"/>
                            </a:rPr>
                            <m:t>E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250" i="0" dirty="0" smtClean="0">
                              <a:solidFill>
                                <a:srgbClr val="152238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Aptos" pitchFamily="34" charset="-120"/>
                            </a:rPr>
                            <m:t>MIS</m:t>
                          </m:r>
                        </m:sub>
                      </m:sSub>
                      <m:r>
                        <a:rPr lang="en-US" sz="1250" i="0" dirty="0" smtClean="0">
                          <a:solidFill>
                            <a:srgbClr val="152238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Aptos" pitchFamily="34" charset="-120"/>
                        </a:rPr>
                        <m:t> − </m:t>
                      </m:r>
                      <m:sSub>
                        <m:sSubPr>
                          <m:ctrlPr>
                            <a:rPr lang="en-US" sz="1250" i="0" dirty="0" smtClean="0">
                              <a:solidFill>
                                <a:srgbClr val="152238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Aptos" pitchFamily="34" charset="-12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250" i="0" dirty="0" smtClean="0">
                              <a:solidFill>
                                <a:srgbClr val="152238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Aptos" pitchFamily="34" charset="-120"/>
                            </a:rPr>
                            <m:t>E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250" i="0" dirty="0" smtClean="0">
                              <a:solidFill>
                                <a:srgbClr val="152238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Aptos" pitchFamily="34" charset="-120"/>
                            </a:rPr>
                            <m:t>T</m:t>
                          </m:r>
                        </m:sub>
                      </m:sSub>
                      <m:r>
                        <a:rPr lang="en-US" sz="1250" i="0" dirty="0" smtClean="0">
                          <a:solidFill>
                            <a:srgbClr val="152238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Aptos" pitchFamily="34" charset="-120"/>
                        </a:rPr>
                        <m:t> − </m:t>
                      </m:r>
                      <m:sSub>
                        <m:sSubPr>
                          <m:ctrlPr>
                            <a:rPr lang="en-US" sz="1250" i="0" dirty="0" smtClean="0">
                              <a:solidFill>
                                <a:srgbClr val="152238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Aptos" pitchFamily="34" charset="-12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250" i="0" dirty="0" smtClean="0">
                              <a:solidFill>
                                <a:srgbClr val="152238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Aptos" pitchFamily="34" charset="-120"/>
                            </a:rPr>
                            <m:t>E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250" i="0" dirty="0" smtClean="0">
                              <a:solidFill>
                                <a:srgbClr val="152238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Aptos" pitchFamily="34" charset="-120"/>
                            </a:rPr>
                            <m:t>GS</m:t>
                          </m:r>
                        </m:sub>
                      </m:sSub>
                    </m:oMath>
                  </m:oMathPara>
                </a14:m>
                <a:endParaRPr lang="en-US" sz="1250" dirty="0"/>
              </a:p>
              <a:p>
                <a:pPr marL="0" indent="0" algn="l">
                  <a:buNone/>
                </a:pPr>
                <a:r>
                  <a:rPr lang="en-US" sz="1250" dirty="0">
                    <a:solidFill>
                      <a:srgbClr val="152238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50" i="0" dirty="0" smtClean="0">
                            <a:solidFill>
                              <a:srgbClr val="152238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Aptos" pitchFamily="34" charset="-12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250" i="0" dirty="0" smtClean="0">
                            <a:solidFill>
                              <a:srgbClr val="152238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Aptos" pitchFamily="34" charset="-120"/>
                          </a:rPr>
                          <m:t>E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250" i="0" dirty="0" smtClean="0">
                            <a:solidFill>
                              <a:srgbClr val="152238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Aptos" pitchFamily="34" charset="-120"/>
                          </a:rPr>
                          <m:t>T</m:t>
                        </m:r>
                      </m:sub>
                    </m:sSub>
                  </m:oMath>
                </a14:m>
                <a:r>
                  <a:rPr lang="en-US" sz="1250" dirty="0">
                    <a:solidFill>
                      <a:srgbClr val="152238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 is obtained as NUPDOWN = 2 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50" i="0" dirty="0" smtClean="0">
                            <a:solidFill>
                              <a:srgbClr val="152238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Aptos" pitchFamily="34" charset="-12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250" i="0" dirty="0" smtClean="0">
                            <a:solidFill>
                              <a:srgbClr val="152238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Aptos" pitchFamily="34" charset="-120"/>
                          </a:rPr>
                          <m:t>Q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250" i="0" dirty="0" smtClean="0">
                            <a:solidFill>
                              <a:srgbClr val="152238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Aptos" pitchFamily="34" charset="-120"/>
                          </a:rPr>
                          <m:t>ES</m:t>
                        </m:r>
                      </m:sub>
                    </m:sSub>
                  </m:oMath>
                </a14:m>
                <a:r>
                  <a:rPr lang="en-US" sz="1250" dirty="0">
                    <a:solidFill>
                      <a:srgbClr val="152238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 with NSW = 0.</a:t>
                </a:r>
                <a:endParaRPr lang="en-US" sz="1250" dirty="0"/>
              </a:p>
            </p:txBody>
          </p:sp>
        </mc:Choice>
        <mc:Fallback xmlns="">
          <p:sp>
            <p:nvSpPr>
              <p:cNvPr id="11" name="Text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9400" y="3767328"/>
                <a:ext cx="4617720" cy="914400"/>
              </a:xfrm>
              <a:prstGeom prst="rect">
                <a:avLst/>
              </a:prstGeom>
              <a:blipFill>
                <a:blip r:embed="rId5"/>
                <a:stretch>
                  <a:fillRect l="-2114" t="-5333"/>
                </a:stretch>
              </a:blipFill>
              <a:ln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Text 1"/>
          <p:cNvSpPr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Current numerical summary: relative energy and structural reorganization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069848"/>
            <a:ext cx="11155680" cy="0"/>
          </a:xfrm>
          <a:prstGeom prst="line">
            <a:avLst/>
          </a:prstGeom>
          <a:noFill/>
          <a:ln w="12700">
            <a:solidFill>
              <a:srgbClr val="CCD4E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" name="Text 3"/>
          <p:cNvSpPr/>
          <p:nvPr/>
        </p:nvSpPr>
        <p:spPr>
          <a:xfrm>
            <a:off x="502920" y="6510528"/>
            <a:ext cx="9692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A8494"/>
                </a:solidFill>
              </a:rPr>
              <a:t>Franciszek Zabierowski  |  FTMC project discussion</a:t>
            </a:r>
            <a:endParaRPr lang="en-US" sz="75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Table 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79779088"/>
                  </p:ext>
                </p:extLst>
              </p:nvPr>
            </p:nvGraphicFramePr>
            <p:xfrm>
              <a:off x="869891" y="1301495"/>
              <a:ext cx="10452218" cy="4169664"/>
            </p:xfrm>
            <a:graphic>
              <a:graphicData uri="http://schemas.openxmlformats.org/drawingml/2006/table">
                <a:tbl>
                  <a:tblPr/>
                  <a:tblGrid>
                    <a:gridCol w="1493174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493174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493174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493174">
                      <a:extLst>
                        <a:ext uri="{9D8B030D-6E8A-4147-A177-3AD203B41FA5}">
                          <a16:colId xmlns:a16="http://schemas.microsoft.com/office/drawing/2014/main" val="3849069576"/>
                        </a:ext>
                      </a:extLst>
                    </a:gridCol>
                    <a:gridCol w="1493174">
                      <a:extLst>
                        <a:ext uri="{9D8B030D-6E8A-4147-A177-3AD203B41FA5}">
                          <a16:colId xmlns:a16="http://schemas.microsoft.com/office/drawing/2014/main" val="1315476976"/>
                        </a:ext>
                      </a:extLst>
                    </a:gridCol>
                    <a:gridCol w="1493174">
                      <a:extLst>
                        <a:ext uri="{9D8B030D-6E8A-4147-A177-3AD203B41FA5}">
                          <a16:colId xmlns:a16="http://schemas.microsoft.com/office/drawing/2014/main" val="1765263700"/>
                        </a:ext>
                      </a:extLst>
                    </a:gridCol>
                    <a:gridCol w="1493174">
                      <a:extLst>
                        <a:ext uri="{9D8B030D-6E8A-4147-A177-3AD203B41FA5}">
                          <a16:colId xmlns:a16="http://schemas.microsoft.com/office/drawing/2014/main" val="2438726272"/>
                        </a:ext>
                      </a:extLst>
                    </a:gridCol>
                  </a:tblGrid>
                  <a:tr h="279526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>
                              <a:solidFill>
                                <a:srgbClr val="152238"/>
                              </a:solidFill>
                            </a:rPr>
                            <a:t>defect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pl-PL" sz="1800" b="0" i="0" smtClean="0">
                                  <a:solidFill>
                                    <a:srgbClr val="152238"/>
                                  </a:solidFill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sSub>
                                <m:sSubPr>
                                  <m:ctrlPr>
                                    <a:rPr lang="pl-PL" sz="1800" b="0" i="1" smtClean="0">
                                      <a:solidFill>
                                        <a:srgbClr val="152238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l-PL" sz="1800" b="0" i="1" smtClean="0">
                                      <a:solidFill>
                                        <a:srgbClr val="152238"/>
                                      </a:solidFill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pl-PL" sz="1800" b="0" i="1" smtClean="0">
                                      <a:solidFill>
                                        <a:srgbClr val="152238"/>
                                      </a:solidFill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[eV]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pl-PL" sz="1800" i="1" dirty="0" smtClean="0">
                                      <a:solidFill>
                                        <a:srgbClr val="152238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l-PL" sz="1800" i="1" dirty="0" smtClean="0">
                                      <a:solidFill>
                                        <a:srgbClr val="152238"/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sz="1800" i="1" dirty="0">
                                      <a:solidFill>
                                        <a:srgbClr val="152238"/>
                                      </a:solidFill>
                                      <a:latin typeface="Cambria Math" panose="02040503050406030204" pitchFamily="18" charset="0"/>
                                    </a:rPr>
                                    <m:t>𝐹𝐶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 [eV]</a:t>
                          </a:r>
                          <a:r>
                            <a:rPr lang="pl-PL" sz="1800" dirty="0">
                              <a:solidFill>
                                <a:srgbClr val="152238"/>
                              </a:solidFill>
                            </a:rPr>
                            <a:t> (PBE)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pl-PL" sz="1800" b="0" i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pl-PL" sz="1800" b="0" i="0" smtClean="0"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pl-PL" sz="1800" b="0" i="0" smtClean="0">
                                      <a:latin typeface="Cambria Math" panose="02040503050406030204" pitchFamily="18" charset="0"/>
                                    </a:rPr>
                                    <m:t>FC</m:t>
                                  </m:r>
                                </m:sub>
                              </m:sSub>
                              <m:r>
                                <a:rPr lang="pl-PL" sz="1800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pl-PL" sz="1800" i="0" dirty="0"/>
                            <a:t>[eV]</a:t>
                          </a:r>
                          <a:r>
                            <a:rPr lang="pl-PL" sz="1800" i="0" baseline="0" dirty="0"/>
                            <a:t> (HSE)</a:t>
                          </a:r>
                          <a:endParaRPr lang="en-US" sz="1800" i="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ZPL [eV]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pl-PL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l-PL" sz="1800" b="0" i="1" smtClean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pl-PL" sz="1800" b="0" i="1" smtClean="0">
                                      <a:latin typeface="Cambria Math" panose="02040503050406030204" pitchFamily="18" charset="0"/>
                                    </a:rPr>
                                    <m:t>𝑎𝑏𝑠</m:t>
                                  </m:r>
                                </m:sub>
                              </m:sSub>
                            </m:oMath>
                          </a14:m>
                          <a:r>
                            <a:rPr lang="pl-PL" sz="1800" b="0" dirty="0"/>
                            <a:t> /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pl-PL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l-PL" sz="1800" b="0" i="1" smtClean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pl-PL" sz="1800" b="0" i="1" smtClean="0">
                                      <a:latin typeface="Cambria Math" panose="02040503050406030204" pitchFamily="18" charset="0"/>
                                    </a:rPr>
                                    <m:t>𝑒𝑚</m:t>
                                  </m:r>
                                </m:sub>
                              </m:sSub>
                            </m:oMath>
                          </a14:m>
                          <a:endParaRPr lang="pl-PL" sz="1800" b="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DW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79526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pl-PL" sz="1800" b="0" i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pl-PL" sz="1800" b="0" i="0" smtClean="0">
                                        <a:latin typeface="Cambria Math" panose="02040503050406030204" pitchFamily="18" charset="0"/>
                                      </a:rPr>
                                      <m:t>C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pl-PL" sz="1800" b="0" i="0" smtClean="0">
                                        <a:latin typeface="Cambria Math" panose="02040503050406030204" pitchFamily="18" charset="0"/>
                                      </a:rPr>
                                      <m:t>B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pl-PL" sz="1800" b="0" i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pl-PL" sz="1800" b="0" i="0" smtClean="0">
                                        <a:latin typeface="Cambria Math" panose="02040503050406030204" pitchFamily="18" charset="0"/>
                                      </a:rPr>
                                      <m:t>C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pl-PL" sz="1800" b="0" i="0" smtClean="0">
                                        <a:latin typeface="Cambria Math" panose="02040503050406030204" pitchFamily="18" charset="0"/>
                                      </a:rPr>
                                      <m:t>N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 i="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0.209 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4.2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1.97/2.06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2128582"/>
                      </a:ext>
                    </a:extLst>
                  </a:tr>
                  <a:tr h="279526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pl-PL" sz="1800" b="0" i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pl-PL" sz="1800" b="0" i="0" smtClean="0">
                                        <a:latin typeface="Cambria Math" panose="02040503050406030204" pitchFamily="18" charset="0"/>
                                      </a:rPr>
                                      <m:t>V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pl-PL" sz="1800" b="0" i="0" smtClean="0">
                                        <a:latin typeface="Cambria Math" panose="02040503050406030204" pitchFamily="18" charset="0"/>
                                      </a:rPr>
                                      <m:t>C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pl-PL" sz="1800" b="0" i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pl-PL" sz="1800" b="0" i="0" smtClean="0">
                                        <a:latin typeface="Cambria Math" panose="02040503050406030204" pitchFamily="18" charset="0"/>
                                      </a:rPr>
                                      <m:t>V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pl-PL" sz="1800" b="0" i="0" smtClean="0">
                                        <a:latin typeface="Cambria Math" panose="02040503050406030204" pitchFamily="18" charset="0"/>
                                      </a:rPr>
                                      <m:t>N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 i="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0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79654485"/>
                      </a:ext>
                    </a:extLst>
                  </a:tr>
                  <a:tr h="279526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b="0" dirty="0">
                              <a:solidFill>
                                <a:srgbClr val="152238"/>
                              </a:solidFill>
                            </a:rPr>
                            <a:t>1–2</a:t>
                          </a:r>
                          <a:endParaRPr lang="en-US" sz="1800" b="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0.541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>
                              <a:solidFill>
                                <a:srgbClr val="152238"/>
                              </a:solidFill>
                            </a:rPr>
                            <a:t>2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79526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2–3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2.491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0.4</a:t>
                          </a:r>
                          <a:r>
                            <a:rPr lang="pl-PL" sz="1800" dirty="0">
                              <a:solidFill>
                                <a:srgbClr val="152238"/>
                              </a:solidFill>
                            </a:rPr>
                            <a:t>78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0.698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279526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2–6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1.783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279526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3–4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2.089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0.860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279526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3–8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3.903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0.460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m:rPr>
                                    <m:nor/>
                                  </m:rPr>
                                  <a:rPr lang="pl-PL" sz="1800" i="0" smtClean="0"/>
                                  <m:t>0.776</m:t>
                                </m:r>
                              </m:oMath>
                            </m:oMathPara>
                          </a14:m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279526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4–5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1.213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0.375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0.417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279526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4–6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2.150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0.3</a:t>
                          </a:r>
                          <a:r>
                            <a:rPr lang="pl-PL" sz="1800" dirty="0">
                              <a:solidFill>
                                <a:srgbClr val="152238"/>
                              </a:solidFill>
                            </a:rPr>
                            <a:t>52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0.380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  <a:tr h="279526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4–9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1.842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0.926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8"/>
                      </a:ext>
                    </a:extLst>
                  </a:tr>
                  <a:tr h="279526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6–7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1.131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0.172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0.220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Table 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79779088"/>
                  </p:ext>
                </p:extLst>
              </p:nvPr>
            </p:nvGraphicFramePr>
            <p:xfrm>
              <a:off x="869891" y="1301495"/>
              <a:ext cx="10452218" cy="4169664"/>
            </p:xfrm>
            <a:graphic>
              <a:graphicData uri="http://schemas.openxmlformats.org/drawingml/2006/table">
                <a:tbl>
                  <a:tblPr/>
                  <a:tblGrid>
                    <a:gridCol w="1493174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493174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493174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493174">
                      <a:extLst>
                        <a:ext uri="{9D8B030D-6E8A-4147-A177-3AD203B41FA5}">
                          <a16:colId xmlns:a16="http://schemas.microsoft.com/office/drawing/2014/main" val="3849069576"/>
                        </a:ext>
                      </a:extLst>
                    </a:gridCol>
                    <a:gridCol w="1493174">
                      <a:extLst>
                        <a:ext uri="{9D8B030D-6E8A-4147-A177-3AD203B41FA5}">
                          <a16:colId xmlns:a16="http://schemas.microsoft.com/office/drawing/2014/main" val="1315476976"/>
                        </a:ext>
                      </a:extLst>
                    </a:gridCol>
                    <a:gridCol w="1493174">
                      <a:extLst>
                        <a:ext uri="{9D8B030D-6E8A-4147-A177-3AD203B41FA5}">
                          <a16:colId xmlns:a16="http://schemas.microsoft.com/office/drawing/2014/main" val="1765263700"/>
                        </a:ext>
                      </a:extLst>
                    </a:gridCol>
                    <a:gridCol w="1493174">
                      <a:extLst>
                        <a:ext uri="{9D8B030D-6E8A-4147-A177-3AD203B41FA5}">
                          <a16:colId xmlns:a16="http://schemas.microsoft.com/office/drawing/2014/main" val="2438726272"/>
                        </a:ext>
                      </a:extLst>
                    </a:gridCol>
                  </a:tblGrid>
                  <a:tr h="347472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>
                              <a:solidFill>
                                <a:srgbClr val="152238"/>
                              </a:solidFill>
                            </a:rPr>
                            <a:t>defect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pl-PL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000" t="-8772" r="-500816" b="-113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l-PL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0000" t="-8772" r="-400816" b="-113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l-PL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98780" t="-8772" r="-299187" b="-113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ZPL [eV]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pl-PL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00408" t="-8772" r="-100408" b="-113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DW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47472">
                    <a:tc>
                      <a:txBody>
                        <a:bodyPr/>
                        <a:lstStyle/>
                        <a:p>
                          <a:endParaRPr lang="pl-PL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t="-108772" r="-600816" b="-103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0.209 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4.2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1.97/2.06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2128582"/>
                      </a:ext>
                    </a:extLst>
                  </a:tr>
                  <a:tr h="347472">
                    <a:tc>
                      <a:txBody>
                        <a:bodyPr/>
                        <a:lstStyle/>
                        <a:p>
                          <a:endParaRPr lang="pl-PL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t="-208772" r="-600816" b="-93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0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79654485"/>
                      </a:ext>
                    </a:extLst>
                  </a:tr>
                  <a:tr h="347472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b="0" dirty="0">
                              <a:solidFill>
                                <a:srgbClr val="152238"/>
                              </a:solidFill>
                            </a:rPr>
                            <a:t>1–2</a:t>
                          </a:r>
                          <a:endParaRPr lang="en-US" sz="1800" b="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0.541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>
                              <a:solidFill>
                                <a:srgbClr val="152238"/>
                              </a:solidFill>
                            </a:rPr>
                            <a:t>2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47472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2–3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2.491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0.4</a:t>
                          </a:r>
                          <a:r>
                            <a:rPr lang="pl-PL" sz="1800" dirty="0">
                              <a:solidFill>
                                <a:srgbClr val="152238"/>
                              </a:solidFill>
                            </a:rPr>
                            <a:t>78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0.698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47472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2–6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1.783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47472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3–4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2.089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0.860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47472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3–8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3.903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0.460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pl-PL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98780" t="-710526" r="-299187" b="-4315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347472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4–5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1.213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0.375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0.417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347472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4–6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2.150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0.3</a:t>
                          </a:r>
                          <a:r>
                            <a:rPr lang="pl-PL" sz="1800" dirty="0">
                              <a:solidFill>
                                <a:srgbClr val="152238"/>
                              </a:solidFill>
                            </a:rPr>
                            <a:t>52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0.380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  <a:tr h="347472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4–9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1.842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0.926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8"/>
                      </a:ext>
                    </a:extLst>
                  </a:tr>
                  <a:tr h="347472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6–7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1.131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0.172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0.220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9" name="Text 4"/>
          <p:cNvSpPr/>
          <p:nvPr/>
        </p:nvSpPr>
        <p:spPr>
          <a:xfrm>
            <a:off x="685800" y="6190488"/>
            <a:ext cx="10789920" cy="292608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t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5C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Interpretation used here: the V₂-referenced formation/binding-energy formalism cancels chemical-potential dependence. Δ_FC is treated as a proxy for structural relaxation/electron–phonon coupling strength.</a:t>
            </a:r>
            <a:endParaRPr lang="en-US" sz="9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Text 1"/>
          <p:cNvSpPr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l-PL" sz="24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Geometry 1-2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717423"/>
            <a:ext cx="11155680" cy="0"/>
          </a:xfrm>
          <a:prstGeom prst="line">
            <a:avLst/>
          </a:prstGeom>
          <a:noFill/>
          <a:ln w="12700">
            <a:solidFill>
              <a:srgbClr val="CCD4E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" name="Text 3"/>
          <p:cNvSpPr/>
          <p:nvPr/>
        </p:nvSpPr>
        <p:spPr>
          <a:xfrm>
            <a:off x="502920" y="6510528"/>
            <a:ext cx="9692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A8494"/>
                </a:solidFill>
              </a:rPr>
              <a:t>Franciszek Zabierowski  |  FTMC project discussion</a:t>
            </a:r>
            <a:endParaRPr lang="en-US" sz="750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E3F7BB70-D1F9-738D-8D9A-4920D9DC96E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099" r="8470"/>
          <a:stretch>
            <a:fillRect/>
          </a:stretch>
        </p:blipFill>
        <p:spPr>
          <a:xfrm>
            <a:off x="209549" y="925832"/>
            <a:ext cx="3971926" cy="2743668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EB6776B3-91BC-7B5F-6F68-6DB232EE5020}"/>
              </a:ext>
            </a:extLst>
          </p:cNvPr>
          <p:cNvSpPr txBox="1"/>
          <p:nvPr/>
        </p:nvSpPr>
        <p:spPr>
          <a:xfrm>
            <a:off x="97087" y="4168142"/>
            <a:ext cx="562442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dirty="0"/>
              <a:t>Lack of convergance in PBE and HSE in excited state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dirty="0"/>
              <a:t>Franck-Condon shift already large (&gt;2eV) (PBE).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dirty="0"/>
              <a:t>Further calculations are abandoned</a:t>
            </a: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565BFC4A-ED46-8268-1D4D-8F4180585C6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7794" b="20400"/>
          <a:stretch>
            <a:fillRect/>
          </a:stretch>
        </p:blipFill>
        <p:spPr>
          <a:xfrm>
            <a:off x="7284455" y="717423"/>
            <a:ext cx="4907545" cy="511606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68A01A-EC4A-DB3E-2019-05FA448EF9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20AC37E-D1A3-1829-1B3E-27ACA69614F2}"/>
              </a:ext>
            </a:extLst>
          </p:cNvPr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CD5EC23-7EA2-4497-0F60-767D2081801D}"/>
              </a:ext>
            </a:extLst>
          </p:cNvPr>
          <p:cNvSpPr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l-PL" sz="24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Geometry 2-3</a:t>
            </a:r>
            <a:endParaRPr lang="en-US" sz="24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296E9569-A580-C815-36C6-85B228293FE4}"/>
              </a:ext>
            </a:extLst>
          </p:cNvPr>
          <p:cNvSpPr/>
          <p:nvPr/>
        </p:nvSpPr>
        <p:spPr>
          <a:xfrm>
            <a:off x="502920" y="717423"/>
            <a:ext cx="11155680" cy="0"/>
          </a:xfrm>
          <a:prstGeom prst="line">
            <a:avLst/>
          </a:prstGeom>
          <a:noFill/>
          <a:ln w="12700">
            <a:solidFill>
              <a:srgbClr val="CCD4E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164126A-EC5C-7A1E-4D19-2C346DE24D3D}"/>
              </a:ext>
            </a:extLst>
          </p:cNvPr>
          <p:cNvSpPr/>
          <p:nvPr/>
        </p:nvSpPr>
        <p:spPr>
          <a:xfrm>
            <a:off x="502920" y="6510528"/>
            <a:ext cx="9692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A8494"/>
                </a:solidFill>
              </a:rPr>
              <a:t>Franciszek Zabierowski  |  FTMC project discussion</a:t>
            </a:r>
            <a:endParaRPr lang="en-US" sz="75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52DED62-F49F-2A76-078D-CBA7D712B45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689" r="8002"/>
          <a:stretch>
            <a:fillRect/>
          </a:stretch>
        </p:blipFill>
        <p:spPr>
          <a:xfrm>
            <a:off x="1" y="666142"/>
            <a:ext cx="4714874" cy="326179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0308881-CFCA-8EB3-F275-4F6E2CF46F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" y="3914356"/>
            <a:ext cx="3488017" cy="294364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F2C9EEE-E069-94DE-2A3D-608CF51DED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97528" y="758952"/>
            <a:ext cx="2787638" cy="216522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F08C5DD-DF8D-01A6-71F8-2BD34A768F1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17796" y="4445317"/>
            <a:ext cx="2747102" cy="206521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7" name="Table 16">
                <a:extLst>
                  <a:ext uri="{FF2B5EF4-FFF2-40B4-BE49-F238E27FC236}">
                    <a16:creationId xmlns:a16="http://schemas.microsoft.com/office/drawing/2014/main" id="{A389610D-6CA8-29AD-7F34-7EB261C79C8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68750743"/>
                  </p:ext>
                </p:extLst>
              </p:nvPr>
            </p:nvGraphicFramePr>
            <p:xfrm>
              <a:off x="2857500" y="-22706"/>
              <a:ext cx="9334500" cy="633984"/>
            </p:xfrm>
            <a:graphic>
              <a:graphicData uri="http://schemas.openxmlformats.org/drawingml/2006/table">
                <a:tbl>
                  <a:tblPr/>
                  <a:tblGrid>
                    <a:gridCol w="1333500">
                      <a:extLst>
                        <a:ext uri="{9D8B030D-6E8A-4147-A177-3AD203B41FA5}">
                          <a16:colId xmlns:a16="http://schemas.microsoft.com/office/drawing/2014/main" val="1550071964"/>
                        </a:ext>
                      </a:extLst>
                    </a:gridCol>
                    <a:gridCol w="1333500">
                      <a:extLst>
                        <a:ext uri="{9D8B030D-6E8A-4147-A177-3AD203B41FA5}">
                          <a16:colId xmlns:a16="http://schemas.microsoft.com/office/drawing/2014/main" val="2729272009"/>
                        </a:ext>
                      </a:extLst>
                    </a:gridCol>
                    <a:gridCol w="1333500">
                      <a:extLst>
                        <a:ext uri="{9D8B030D-6E8A-4147-A177-3AD203B41FA5}">
                          <a16:colId xmlns:a16="http://schemas.microsoft.com/office/drawing/2014/main" val="3501752897"/>
                        </a:ext>
                      </a:extLst>
                    </a:gridCol>
                    <a:gridCol w="1333500">
                      <a:extLst>
                        <a:ext uri="{9D8B030D-6E8A-4147-A177-3AD203B41FA5}">
                          <a16:colId xmlns:a16="http://schemas.microsoft.com/office/drawing/2014/main" val="1075343134"/>
                        </a:ext>
                      </a:extLst>
                    </a:gridCol>
                    <a:gridCol w="1333500">
                      <a:extLst>
                        <a:ext uri="{9D8B030D-6E8A-4147-A177-3AD203B41FA5}">
                          <a16:colId xmlns:a16="http://schemas.microsoft.com/office/drawing/2014/main" val="3409595524"/>
                        </a:ext>
                      </a:extLst>
                    </a:gridCol>
                    <a:gridCol w="1333500">
                      <a:extLst>
                        <a:ext uri="{9D8B030D-6E8A-4147-A177-3AD203B41FA5}">
                          <a16:colId xmlns:a16="http://schemas.microsoft.com/office/drawing/2014/main" val="3949273380"/>
                        </a:ext>
                      </a:extLst>
                    </a:gridCol>
                    <a:gridCol w="1333500">
                      <a:extLst>
                        <a:ext uri="{9D8B030D-6E8A-4147-A177-3AD203B41FA5}">
                          <a16:colId xmlns:a16="http://schemas.microsoft.com/office/drawing/2014/main" val="2984048277"/>
                        </a:ext>
                      </a:extLst>
                    </a:gridCol>
                  </a:tblGrid>
                  <a:tr h="279526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600" dirty="0">
                              <a:solidFill>
                                <a:srgbClr val="152238"/>
                              </a:solidFill>
                            </a:rPr>
                            <a:t>defect</a:t>
                          </a:r>
                          <a:endParaRPr lang="en-US" sz="16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pl-PL" sz="1600" b="0" i="0" smtClean="0">
                                  <a:solidFill>
                                    <a:srgbClr val="152238"/>
                                  </a:solidFill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sSub>
                                <m:sSubPr>
                                  <m:ctrlPr>
                                    <a:rPr lang="pl-PL" sz="1600" b="0" i="1" smtClean="0">
                                      <a:solidFill>
                                        <a:srgbClr val="152238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l-PL" sz="1600" b="0" i="1" smtClean="0">
                                      <a:solidFill>
                                        <a:srgbClr val="152238"/>
                                      </a:solidFill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pl-PL" sz="1600" b="0" i="1" smtClean="0">
                                      <a:solidFill>
                                        <a:srgbClr val="152238"/>
                                      </a:solidFill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600" dirty="0">
                              <a:solidFill>
                                <a:srgbClr val="152238"/>
                              </a:solidFill>
                            </a:rPr>
                            <a:t>[eV]</a:t>
                          </a:r>
                          <a:endParaRPr lang="en-US" sz="16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pl-PL" sz="1600" i="1" dirty="0" smtClean="0">
                                      <a:solidFill>
                                        <a:srgbClr val="152238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l-PL" sz="1600" i="1" dirty="0" smtClean="0">
                                      <a:solidFill>
                                        <a:srgbClr val="152238"/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sz="1600" i="1" dirty="0">
                                      <a:solidFill>
                                        <a:srgbClr val="152238"/>
                                      </a:solidFill>
                                      <a:latin typeface="Cambria Math" panose="02040503050406030204" pitchFamily="18" charset="0"/>
                                    </a:rPr>
                                    <m:t>𝐹𝐶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600" dirty="0">
                              <a:solidFill>
                                <a:srgbClr val="152238"/>
                              </a:solidFill>
                            </a:rPr>
                            <a:t> [eV]</a:t>
                          </a:r>
                          <a:r>
                            <a:rPr lang="pl-PL" sz="1600" dirty="0">
                              <a:solidFill>
                                <a:srgbClr val="152238"/>
                              </a:solidFill>
                            </a:rPr>
                            <a:t> (PBE)</a:t>
                          </a:r>
                          <a:endParaRPr lang="en-US" sz="16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pl-PL" sz="1600" b="0" i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pl-PL" sz="1600" b="0" i="0" smtClean="0"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pl-PL" sz="1600" b="0" i="0" smtClean="0">
                                      <a:latin typeface="Cambria Math" panose="02040503050406030204" pitchFamily="18" charset="0"/>
                                    </a:rPr>
                                    <m:t>FC</m:t>
                                  </m:r>
                                </m:sub>
                              </m:sSub>
                              <m:r>
                                <a:rPr lang="pl-PL" sz="1600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pl-PL" sz="1600" i="0" dirty="0"/>
                            <a:t>[eV]</a:t>
                          </a:r>
                          <a:r>
                            <a:rPr lang="pl-PL" sz="1600" i="0" baseline="0" dirty="0"/>
                            <a:t> (HSE)</a:t>
                          </a:r>
                          <a:endParaRPr lang="en-US" sz="1600" i="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600" dirty="0"/>
                            <a:t>ZPL [eV]</a:t>
                          </a:r>
                          <a:endParaRPr lang="en-US" sz="16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600" dirty="0"/>
                            <a:t>S</a:t>
                          </a:r>
                          <a:endParaRPr lang="en-US" sz="16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600" dirty="0"/>
                            <a:t>DW</a:t>
                          </a:r>
                          <a:endParaRPr lang="en-US" sz="16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27182833"/>
                      </a:ext>
                    </a:extLst>
                  </a:tr>
                  <a:tr h="279526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solidFill>
                                <a:srgbClr val="152238"/>
                              </a:solidFill>
                            </a:rPr>
                            <a:t>2–3</a:t>
                          </a:r>
                          <a:endParaRPr lang="en-US" sz="16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solidFill>
                                <a:srgbClr val="152238"/>
                              </a:solidFill>
                            </a:rPr>
                            <a:t>2.491</a:t>
                          </a:r>
                          <a:endParaRPr lang="en-US" sz="16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solidFill>
                                <a:srgbClr val="152238"/>
                              </a:solidFill>
                            </a:rPr>
                            <a:t>0.4</a:t>
                          </a:r>
                          <a:r>
                            <a:rPr lang="pl-PL" sz="1600" dirty="0">
                              <a:solidFill>
                                <a:srgbClr val="152238"/>
                              </a:solidFill>
                            </a:rPr>
                            <a:t>78</a:t>
                          </a:r>
                          <a:endParaRPr lang="en-US" sz="16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600" dirty="0"/>
                            <a:t>0.698</a:t>
                          </a:r>
                          <a:endParaRPr lang="en-US" sz="16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600" dirty="0"/>
                            <a:t>---</a:t>
                          </a:r>
                          <a:endParaRPr lang="en-US" sz="16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600" dirty="0"/>
                            <a:t>---</a:t>
                          </a:r>
                          <a:endParaRPr lang="en-US" sz="16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600" dirty="0"/>
                            <a:t>---</a:t>
                          </a:r>
                          <a:endParaRPr lang="en-US" sz="16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1783074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7" name="Table 16">
                <a:extLst>
                  <a:ext uri="{FF2B5EF4-FFF2-40B4-BE49-F238E27FC236}">
                    <a16:creationId xmlns:a16="http://schemas.microsoft.com/office/drawing/2014/main" id="{A389610D-6CA8-29AD-7F34-7EB261C79C8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68750743"/>
                  </p:ext>
                </p:extLst>
              </p:nvPr>
            </p:nvGraphicFramePr>
            <p:xfrm>
              <a:off x="2857500" y="-22706"/>
              <a:ext cx="9334500" cy="633984"/>
            </p:xfrm>
            <a:graphic>
              <a:graphicData uri="http://schemas.openxmlformats.org/drawingml/2006/table">
                <a:tbl>
                  <a:tblPr/>
                  <a:tblGrid>
                    <a:gridCol w="1333500">
                      <a:extLst>
                        <a:ext uri="{9D8B030D-6E8A-4147-A177-3AD203B41FA5}">
                          <a16:colId xmlns:a16="http://schemas.microsoft.com/office/drawing/2014/main" val="1550071964"/>
                        </a:ext>
                      </a:extLst>
                    </a:gridCol>
                    <a:gridCol w="1333500">
                      <a:extLst>
                        <a:ext uri="{9D8B030D-6E8A-4147-A177-3AD203B41FA5}">
                          <a16:colId xmlns:a16="http://schemas.microsoft.com/office/drawing/2014/main" val="2729272009"/>
                        </a:ext>
                      </a:extLst>
                    </a:gridCol>
                    <a:gridCol w="1333500">
                      <a:extLst>
                        <a:ext uri="{9D8B030D-6E8A-4147-A177-3AD203B41FA5}">
                          <a16:colId xmlns:a16="http://schemas.microsoft.com/office/drawing/2014/main" val="3501752897"/>
                        </a:ext>
                      </a:extLst>
                    </a:gridCol>
                    <a:gridCol w="1333500">
                      <a:extLst>
                        <a:ext uri="{9D8B030D-6E8A-4147-A177-3AD203B41FA5}">
                          <a16:colId xmlns:a16="http://schemas.microsoft.com/office/drawing/2014/main" val="1075343134"/>
                        </a:ext>
                      </a:extLst>
                    </a:gridCol>
                    <a:gridCol w="1333500">
                      <a:extLst>
                        <a:ext uri="{9D8B030D-6E8A-4147-A177-3AD203B41FA5}">
                          <a16:colId xmlns:a16="http://schemas.microsoft.com/office/drawing/2014/main" val="3409595524"/>
                        </a:ext>
                      </a:extLst>
                    </a:gridCol>
                    <a:gridCol w="1333500">
                      <a:extLst>
                        <a:ext uri="{9D8B030D-6E8A-4147-A177-3AD203B41FA5}">
                          <a16:colId xmlns:a16="http://schemas.microsoft.com/office/drawing/2014/main" val="3949273380"/>
                        </a:ext>
                      </a:extLst>
                    </a:gridCol>
                    <a:gridCol w="1333500">
                      <a:extLst>
                        <a:ext uri="{9D8B030D-6E8A-4147-A177-3AD203B41FA5}">
                          <a16:colId xmlns:a16="http://schemas.microsoft.com/office/drawing/2014/main" val="2984048277"/>
                        </a:ext>
                      </a:extLst>
                    </a:gridCol>
                  </a:tblGrid>
                  <a:tr h="316992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600" dirty="0">
                              <a:solidFill>
                                <a:srgbClr val="152238"/>
                              </a:solidFill>
                            </a:rPr>
                            <a:t>defect</a:t>
                          </a:r>
                          <a:endParaRPr lang="en-US" sz="16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pl-PL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100000" t="-7547" r="-500000" b="-12452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l-PL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200000" t="-7547" r="-400000" b="-12452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l-PL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301376" t="-7547" r="-301835" b="-12452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600" dirty="0"/>
                            <a:t>ZPL [eV]</a:t>
                          </a:r>
                          <a:endParaRPr lang="en-US" sz="16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600" dirty="0"/>
                            <a:t>S</a:t>
                          </a:r>
                          <a:endParaRPr lang="en-US" sz="16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600" dirty="0"/>
                            <a:t>DW</a:t>
                          </a:r>
                          <a:endParaRPr lang="en-US" sz="16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27182833"/>
                      </a:ext>
                    </a:extLst>
                  </a:tr>
                  <a:tr h="316992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solidFill>
                                <a:srgbClr val="152238"/>
                              </a:solidFill>
                            </a:rPr>
                            <a:t>2–3</a:t>
                          </a:r>
                          <a:endParaRPr lang="en-US" sz="16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solidFill>
                                <a:srgbClr val="152238"/>
                              </a:solidFill>
                            </a:rPr>
                            <a:t>2.491</a:t>
                          </a:r>
                          <a:endParaRPr lang="en-US" sz="16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solidFill>
                                <a:srgbClr val="152238"/>
                              </a:solidFill>
                            </a:rPr>
                            <a:t>0.4</a:t>
                          </a:r>
                          <a:r>
                            <a:rPr lang="pl-PL" sz="1600" dirty="0">
                              <a:solidFill>
                                <a:srgbClr val="152238"/>
                              </a:solidFill>
                            </a:rPr>
                            <a:t>78</a:t>
                          </a:r>
                          <a:endParaRPr lang="en-US" sz="16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600" dirty="0"/>
                            <a:t>0.698</a:t>
                          </a:r>
                          <a:endParaRPr lang="en-US" sz="16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600" dirty="0"/>
                            <a:t>---</a:t>
                          </a:r>
                          <a:endParaRPr lang="en-US" sz="16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600" dirty="0"/>
                            <a:t>---</a:t>
                          </a:r>
                          <a:endParaRPr lang="en-US" sz="16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600" dirty="0"/>
                            <a:t>---</a:t>
                          </a:r>
                          <a:endParaRPr lang="en-US" sz="16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17830741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19" name="Picture 18">
            <a:extLst>
              <a:ext uri="{FF2B5EF4-FFF2-40B4-BE49-F238E27FC236}">
                <a16:creationId xmlns:a16="http://schemas.microsoft.com/office/drawing/2014/main" id="{15198352-F272-8134-DBCA-02135D652632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17047" b="19703"/>
          <a:stretch>
            <a:fillRect/>
          </a:stretch>
        </p:blipFill>
        <p:spPr>
          <a:xfrm>
            <a:off x="8085166" y="1140225"/>
            <a:ext cx="4065866" cy="4337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48565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32B962-0B88-4A10-8E36-07394C6CB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6314BF5-DF80-7C77-D6AC-9BF609680D8B}"/>
              </a:ext>
            </a:extLst>
          </p:cNvPr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A0524CE-F68F-6FA3-041D-EAF123CD53E5}"/>
              </a:ext>
            </a:extLst>
          </p:cNvPr>
          <p:cNvSpPr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l-PL" sz="24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Geometry 2-6</a:t>
            </a:r>
            <a:endParaRPr lang="en-US" sz="24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5C6EE7C6-A021-7D8C-9497-9106C0C1ABA9}"/>
              </a:ext>
            </a:extLst>
          </p:cNvPr>
          <p:cNvSpPr/>
          <p:nvPr/>
        </p:nvSpPr>
        <p:spPr>
          <a:xfrm>
            <a:off x="502920" y="717423"/>
            <a:ext cx="11155680" cy="0"/>
          </a:xfrm>
          <a:prstGeom prst="line">
            <a:avLst/>
          </a:prstGeom>
          <a:noFill/>
          <a:ln w="12700">
            <a:solidFill>
              <a:srgbClr val="CCD4E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0600F2E-51DE-80D2-849D-414F5C4C38E2}"/>
              </a:ext>
            </a:extLst>
          </p:cNvPr>
          <p:cNvSpPr/>
          <p:nvPr/>
        </p:nvSpPr>
        <p:spPr>
          <a:xfrm>
            <a:off x="502920" y="6510528"/>
            <a:ext cx="9692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A8494"/>
                </a:solidFill>
              </a:rPr>
              <a:t>Franciszek Zabierowski  |  FTMC project discussion</a:t>
            </a:r>
            <a:endParaRPr lang="en-US" sz="75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FE569EF-FAE4-175E-E5D9-F95BA0F2F8D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625" b="1625"/>
          <a:stretch/>
        </p:blipFill>
        <p:spPr>
          <a:xfrm>
            <a:off x="1" y="717423"/>
            <a:ext cx="4254988" cy="294364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7EDAD8A-B7DE-89C4-9C91-3E93F1AC9E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97528" y="758952"/>
            <a:ext cx="2787638" cy="216522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A398100-A668-7FB0-437D-A4B2914AB3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17796" y="4445317"/>
            <a:ext cx="2747102" cy="206521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D51B3749-578C-D826-9F04-B6A44E34D03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02156615"/>
                  </p:ext>
                </p:extLst>
              </p:nvPr>
            </p:nvGraphicFramePr>
            <p:xfrm>
              <a:off x="2857500" y="-22706"/>
              <a:ext cx="9334500" cy="664464"/>
            </p:xfrm>
            <a:graphic>
              <a:graphicData uri="http://schemas.openxmlformats.org/drawingml/2006/table">
                <a:tbl>
                  <a:tblPr/>
                  <a:tblGrid>
                    <a:gridCol w="1333500">
                      <a:extLst>
                        <a:ext uri="{9D8B030D-6E8A-4147-A177-3AD203B41FA5}">
                          <a16:colId xmlns:a16="http://schemas.microsoft.com/office/drawing/2014/main" val="1550071964"/>
                        </a:ext>
                      </a:extLst>
                    </a:gridCol>
                    <a:gridCol w="1333500">
                      <a:extLst>
                        <a:ext uri="{9D8B030D-6E8A-4147-A177-3AD203B41FA5}">
                          <a16:colId xmlns:a16="http://schemas.microsoft.com/office/drawing/2014/main" val="2729272009"/>
                        </a:ext>
                      </a:extLst>
                    </a:gridCol>
                    <a:gridCol w="1333500">
                      <a:extLst>
                        <a:ext uri="{9D8B030D-6E8A-4147-A177-3AD203B41FA5}">
                          <a16:colId xmlns:a16="http://schemas.microsoft.com/office/drawing/2014/main" val="3501752897"/>
                        </a:ext>
                      </a:extLst>
                    </a:gridCol>
                    <a:gridCol w="1333500">
                      <a:extLst>
                        <a:ext uri="{9D8B030D-6E8A-4147-A177-3AD203B41FA5}">
                          <a16:colId xmlns:a16="http://schemas.microsoft.com/office/drawing/2014/main" val="1075343134"/>
                        </a:ext>
                      </a:extLst>
                    </a:gridCol>
                    <a:gridCol w="1333500">
                      <a:extLst>
                        <a:ext uri="{9D8B030D-6E8A-4147-A177-3AD203B41FA5}">
                          <a16:colId xmlns:a16="http://schemas.microsoft.com/office/drawing/2014/main" val="3409595524"/>
                        </a:ext>
                      </a:extLst>
                    </a:gridCol>
                    <a:gridCol w="1333500">
                      <a:extLst>
                        <a:ext uri="{9D8B030D-6E8A-4147-A177-3AD203B41FA5}">
                          <a16:colId xmlns:a16="http://schemas.microsoft.com/office/drawing/2014/main" val="3949273380"/>
                        </a:ext>
                      </a:extLst>
                    </a:gridCol>
                    <a:gridCol w="1333500">
                      <a:extLst>
                        <a:ext uri="{9D8B030D-6E8A-4147-A177-3AD203B41FA5}">
                          <a16:colId xmlns:a16="http://schemas.microsoft.com/office/drawing/2014/main" val="2984048277"/>
                        </a:ext>
                      </a:extLst>
                    </a:gridCol>
                  </a:tblGrid>
                  <a:tr h="279526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600" dirty="0">
                              <a:solidFill>
                                <a:srgbClr val="152238"/>
                              </a:solidFill>
                            </a:rPr>
                            <a:t>defect</a:t>
                          </a:r>
                          <a:endParaRPr lang="en-US" sz="16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pl-PL" sz="1600" b="0" i="0" smtClean="0">
                                  <a:solidFill>
                                    <a:srgbClr val="152238"/>
                                  </a:solidFill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sSub>
                                <m:sSubPr>
                                  <m:ctrlPr>
                                    <a:rPr lang="pl-PL" sz="1600" b="0" i="1" smtClean="0">
                                      <a:solidFill>
                                        <a:srgbClr val="152238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l-PL" sz="1600" b="0" i="1" smtClean="0">
                                      <a:solidFill>
                                        <a:srgbClr val="152238"/>
                                      </a:solidFill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pl-PL" sz="1600" b="0" i="1" smtClean="0">
                                      <a:solidFill>
                                        <a:srgbClr val="152238"/>
                                      </a:solidFill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600" dirty="0">
                              <a:solidFill>
                                <a:srgbClr val="152238"/>
                              </a:solidFill>
                            </a:rPr>
                            <a:t>[eV]</a:t>
                          </a:r>
                          <a:endParaRPr lang="en-US" sz="16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pl-PL" sz="1600" i="1" dirty="0" smtClean="0">
                                      <a:solidFill>
                                        <a:srgbClr val="152238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l-PL" sz="1600" i="1" dirty="0" smtClean="0">
                                      <a:solidFill>
                                        <a:srgbClr val="152238"/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sz="1600" i="1" dirty="0">
                                      <a:solidFill>
                                        <a:srgbClr val="152238"/>
                                      </a:solidFill>
                                      <a:latin typeface="Cambria Math" panose="02040503050406030204" pitchFamily="18" charset="0"/>
                                    </a:rPr>
                                    <m:t>𝐹𝐶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600" dirty="0">
                              <a:solidFill>
                                <a:srgbClr val="152238"/>
                              </a:solidFill>
                            </a:rPr>
                            <a:t> [eV]</a:t>
                          </a:r>
                          <a:r>
                            <a:rPr lang="pl-PL" sz="1600" dirty="0">
                              <a:solidFill>
                                <a:srgbClr val="152238"/>
                              </a:solidFill>
                            </a:rPr>
                            <a:t> (PBE)</a:t>
                          </a:r>
                          <a:endParaRPr lang="en-US" sz="16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pl-PL" sz="1600" b="0" i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pl-PL" sz="1600" b="0" i="0" smtClean="0"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pl-PL" sz="1600" b="0" i="0" smtClean="0">
                                      <a:latin typeface="Cambria Math" panose="02040503050406030204" pitchFamily="18" charset="0"/>
                                    </a:rPr>
                                    <m:t>FC</m:t>
                                  </m:r>
                                </m:sub>
                              </m:sSub>
                              <m:r>
                                <a:rPr lang="pl-PL" sz="1600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pl-PL" sz="1600" i="0" dirty="0"/>
                            <a:t>[eV]</a:t>
                          </a:r>
                          <a:r>
                            <a:rPr lang="pl-PL" sz="1600" i="0" baseline="0" dirty="0"/>
                            <a:t> (HSE)</a:t>
                          </a:r>
                          <a:endParaRPr lang="en-US" sz="1600" i="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600" dirty="0"/>
                            <a:t>ZPL [eV]</a:t>
                          </a:r>
                          <a:endParaRPr lang="en-US" sz="16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600" dirty="0"/>
                            <a:t>S</a:t>
                          </a:r>
                          <a:endParaRPr lang="en-US" sz="16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600" dirty="0"/>
                            <a:t>DW</a:t>
                          </a:r>
                          <a:endParaRPr lang="en-US" sz="16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27182833"/>
                      </a:ext>
                    </a:extLst>
                  </a:tr>
                  <a:tr h="279526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2–6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1.783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1783074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D51B3749-578C-D826-9F04-B6A44E34D03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02156615"/>
                  </p:ext>
                </p:extLst>
              </p:nvPr>
            </p:nvGraphicFramePr>
            <p:xfrm>
              <a:off x="2857500" y="-22706"/>
              <a:ext cx="9334500" cy="664464"/>
            </p:xfrm>
            <a:graphic>
              <a:graphicData uri="http://schemas.openxmlformats.org/drawingml/2006/table">
                <a:tbl>
                  <a:tblPr/>
                  <a:tblGrid>
                    <a:gridCol w="1333500">
                      <a:extLst>
                        <a:ext uri="{9D8B030D-6E8A-4147-A177-3AD203B41FA5}">
                          <a16:colId xmlns:a16="http://schemas.microsoft.com/office/drawing/2014/main" val="1550071964"/>
                        </a:ext>
                      </a:extLst>
                    </a:gridCol>
                    <a:gridCol w="1333500">
                      <a:extLst>
                        <a:ext uri="{9D8B030D-6E8A-4147-A177-3AD203B41FA5}">
                          <a16:colId xmlns:a16="http://schemas.microsoft.com/office/drawing/2014/main" val="2729272009"/>
                        </a:ext>
                      </a:extLst>
                    </a:gridCol>
                    <a:gridCol w="1333500">
                      <a:extLst>
                        <a:ext uri="{9D8B030D-6E8A-4147-A177-3AD203B41FA5}">
                          <a16:colId xmlns:a16="http://schemas.microsoft.com/office/drawing/2014/main" val="3501752897"/>
                        </a:ext>
                      </a:extLst>
                    </a:gridCol>
                    <a:gridCol w="1333500">
                      <a:extLst>
                        <a:ext uri="{9D8B030D-6E8A-4147-A177-3AD203B41FA5}">
                          <a16:colId xmlns:a16="http://schemas.microsoft.com/office/drawing/2014/main" val="1075343134"/>
                        </a:ext>
                      </a:extLst>
                    </a:gridCol>
                    <a:gridCol w="1333500">
                      <a:extLst>
                        <a:ext uri="{9D8B030D-6E8A-4147-A177-3AD203B41FA5}">
                          <a16:colId xmlns:a16="http://schemas.microsoft.com/office/drawing/2014/main" val="3409595524"/>
                        </a:ext>
                      </a:extLst>
                    </a:gridCol>
                    <a:gridCol w="1333500">
                      <a:extLst>
                        <a:ext uri="{9D8B030D-6E8A-4147-A177-3AD203B41FA5}">
                          <a16:colId xmlns:a16="http://schemas.microsoft.com/office/drawing/2014/main" val="3949273380"/>
                        </a:ext>
                      </a:extLst>
                    </a:gridCol>
                    <a:gridCol w="1333500">
                      <a:extLst>
                        <a:ext uri="{9D8B030D-6E8A-4147-A177-3AD203B41FA5}">
                          <a16:colId xmlns:a16="http://schemas.microsoft.com/office/drawing/2014/main" val="2984048277"/>
                        </a:ext>
                      </a:extLst>
                    </a:gridCol>
                  </a:tblGrid>
                  <a:tr h="316992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600" dirty="0">
                              <a:solidFill>
                                <a:srgbClr val="152238"/>
                              </a:solidFill>
                            </a:rPr>
                            <a:t>defect</a:t>
                          </a:r>
                          <a:endParaRPr lang="en-US" sz="16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pl-PL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100000" t="-7692" r="-500000" b="-1461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l-PL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200000" t="-7692" r="-400000" b="-1461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l-PL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301376" t="-7692" r="-301835" b="-1461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600" dirty="0"/>
                            <a:t>ZPL [eV]</a:t>
                          </a:r>
                          <a:endParaRPr lang="en-US" sz="16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600" dirty="0"/>
                            <a:t>S</a:t>
                          </a:r>
                          <a:endParaRPr lang="en-US" sz="16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600" dirty="0"/>
                            <a:t>DW</a:t>
                          </a:r>
                          <a:endParaRPr lang="en-US" sz="16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27182833"/>
                      </a:ext>
                    </a:extLst>
                  </a:tr>
                  <a:tr h="347472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2–6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1.783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1783074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FCF4B5EA-B8F7-3136-D783-F9C0E9C1D22E}"/>
              </a:ext>
            </a:extLst>
          </p:cNvPr>
          <p:cNvSpPr txBox="1"/>
          <p:nvPr/>
        </p:nvSpPr>
        <p:spPr>
          <a:xfrm>
            <a:off x="-63519" y="4859047"/>
            <a:ext cx="529274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dirty="0"/>
              <a:t>Lack of convergance in HSE and PBE for excited state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dirty="0"/>
              <a:t>VASP is changing the order of orbitals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02B6144-8DEB-F623-36FF-AE3E6C5A65A3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17686" b="20820"/>
          <a:stretch>
            <a:fillRect/>
          </a:stretch>
        </p:blipFill>
        <p:spPr>
          <a:xfrm>
            <a:off x="8085166" y="1220343"/>
            <a:ext cx="4065866" cy="4217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17057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F305102-0989-DC79-1348-8D77207527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162F66E-1B65-4FDD-F4D8-3213B885C3F0}"/>
              </a:ext>
            </a:extLst>
          </p:cNvPr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2C99472-1CA0-8114-1C20-0A506D3F0906}"/>
              </a:ext>
            </a:extLst>
          </p:cNvPr>
          <p:cNvSpPr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l-PL" sz="24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Geometry 3-4</a:t>
            </a:r>
            <a:endParaRPr lang="en-US" sz="24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9567625A-40F4-EA43-8D81-2ED38EDBED8D}"/>
              </a:ext>
            </a:extLst>
          </p:cNvPr>
          <p:cNvSpPr/>
          <p:nvPr/>
        </p:nvSpPr>
        <p:spPr>
          <a:xfrm>
            <a:off x="502920" y="717423"/>
            <a:ext cx="11155680" cy="0"/>
          </a:xfrm>
          <a:prstGeom prst="line">
            <a:avLst/>
          </a:prstGeom>
          <a:noFill/>
          <a:ln w="12700">
            <a:solidFill>
              <a:srgbClr val="CCD4E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4F451D2E-9E8F-4582-2D92-FB12305CA51F}"/>
              </a:ext>
            </a:extLst>
          </p:cNvPr>
          <p:cNvSpPr/>
          <p:nvPr/>
        </p:nvSpPr>
        <p:spPr>
          <a:xfrm>
            <a:off x="502920" y="6510528"/>
            <a:ext cx="9692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A8494"/>
                </a:solidFill>
              </a:rPr>
              <a:t>Franciszek Zabierowski  |  FTMC project discussion</a:t>
            </a:r>
            <a:endParaRPr lang="en-US" sz="75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92B5E98-7B35-FDEC-B111-32376EAD5F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58952"/>
            <a:ext cx="4152900" cy="300698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C04B564-1F86-2EDC-B7A2-6FD672A131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76829" y="758952"/>
            <a:ext cx="3832445" cy="300511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AD406FA-E8B2-227B-70B4-EFF5AB3CD9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79777" y="3952864"/>
            <a:ext cx="3832445" cy="285982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2" name="Table 21">
                <a:extLst>
                  <a:ext uri="{FF2B5EF4-FFF2-40B4-BE49-F238E27FC236}">
                    <a16:creationId xmlns:a16="http://schemas.microsoft.com/office/drawing/2014/main" id="{3CD562B6-5EF0-50EA-28B3-E1B9169B419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20246408"/>
                  </p:ext>
                </p:extLst>
              </p:nvPr>
            </p:nvGraphicFramePr>
            <p:xfrm>
              <a:off x="2857500" y="-22706"/>
              <a:ext cx="9334500" cy="664464"/>
            </p:xfrm>
            <a:graphic>
              <a:graphicData uri="http://schemas.openxmlformats.org/drawingml/2006/table">
                <a:tbl>
                  <a:tblPr/>
                  <a:tblGrid>
                    <a:gridCol w="1333500">
                      <a:extLst>
                        <a:ext uri="{9D8B030D-6E8A-4147-A177-3AD203B41FA5}">
                          <a16:colId xmlns:a16="http://schemas.microsoft.com/office/drawing/2014/main" val="1550071964"/>
                        </a:ext>
                      </a:extLst>
                    </a:gridCol>
                    <a:gridCol w="1333500">
                      <a:extLst>
                        <a:ext uri="{9D8B030D-6E8A-4147-A177-3AD203B41FA5}">
                          <a16:colId xmlns:a16="http://schemas.microsoft.com/office/drawing/2014/main" val="2729272009"/>
                        </a:ext>
                      </a:extLst>
                    </a:gridCol>
                    <a:gridCol w="1333500">
                      <a:extLst>
                        <a:ext uri="{9D8B030D-6E8A-4147-A177-3AD203B41FA5}">
                          <a16:colId xmlns:a16="http://schemas.microsoft.com/office/drawing/2014/main" val="3501752897"/>
                        </a:ext>
                      </a:extLst>
                    </a:gridCol>
                    <a:gridCol w="1333500">
                      <a:extLst>
                        <a:ext uri="{9D8B030D-6E8A-4147-A177-3AD203B41FA5}">
                          <a16:colId xmlns:a16="http://schemas.microsoft.com/office/drawing/2014/main" val="1075343134"/>
                        </a:ext>
                      </a:extLst>
                    </a:gridCol>
                    <a:gridCol w="1333500">
                      <a:extLst>
                        <a:ext uri="{9D8B030D-6E8A-4147-A177-3AD203B41FA5}">
                          <a16:colId xmlns:a16="http://schemas.microsoft.com/office/drawing/2014/main" val="3409595524"/>
                        </a:ext>
                      </a:extLst>
                    </a:gridCol>
                    <a:gridCol w="1333500">
                      <a:extLst>
                        <a:ext uri="{9D8B030D-6E8A-4147-A177-3AD203B41FA5}">
                          <a16:colId xmlns:a16="http://schemas.microsoft.com/office/drawing/2014/main" val="3949273380"/>
                        </a:ext>
                      </a:extLst>
                    </a:gridCol>
                    <a:gridCol w="1333500">
                      <a:extLst>
                        <a:ext uri="{9D8B030D-6E8A-4147-A177-3AD203B41FA5}">
                          <a16:colId xmlns:a16="http://schemas.microsoft.com/office/drawing/2014/main" val="2984048277"/>
                        </a:ext>
                      </a:extLst>
                    </a:gridCol>
                  </a:tblGrid>
                  <a:tr h="279526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600" dirty="0">
                              <a:solidFill>
                                <a:srgbClr val="152238"/>
                              </a:solidFill>
                            </a:rPr>
                            <a:t>defect</a:t>
                          </a:r>
                          <a:endParaRPr lang="en-US" sz="16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pl-PL" sz="1600" b="0" i="0" smtClean="0">
                                  <a:solidFill>
                                    <a:srgbClr val="152238"/>
                                  </a:solidFill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sSub>
                                <m:sSubPr>
                                  <m:ctrlPr>
                                    <a:rPr lang="pl-PL" sz="1600" b="0" i="1" smtClean="0">
                                      <a:solidFill>
                                        <a:srgbClr val="152238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l-PL" sz="1600" b="0" i="1" smtClean="0">
                                      <a:solidFill>
                                        <a:srgbClr val="152238"/>
                                      </a:solidFill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pl-PL" sz="1600" b="0" i="1" smtClean="0">
                                      <a:solidFill>
                                        <a:srgbClr val="152238"/>
                                      </a:solidFill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600" dirty="0">
                              <a:solidFill>
                                <a:srgbClr val="152238"/>
                              </a:solidFill>
                            </a:rPr>
                            <a:t>[eV]</a:t>
                          </a:r>
                          <a:endParaRPr lang="en-US" sz="16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pl-PL" sz="1600" i="1" dirty="0" smtClean="0">
                                      <a:solidFill>
                                        <a:srgbClr val="152238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l-PL" sz="1600" i="1" dirty="0" smtClean="0">
                                      <a:solidFill>
                                        <a:srgbClr val="152238"/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sz="1600" i="1" dirty="0">
                                      <a:solidFill>
                                        <a:srgbClr val="152238"/>
                                      </a:solidFill>
                                      <a:latin typeface="Cambria Math" panose="02040503050406030204" pitchFamily="18" charset="0"/>
                                    </a:rPr>
                                    <m:t>𝐹𝐶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600" dirty="0">
                              <a:solidFill>
                                <a:srgbClr val="152238"/>
                              </a:solidFill>
                            </a:rPr>
                            <a:t> [eV]</a:t>
                          </a:r>
                          <a:r>
                            <a:rPr lang="pl-PL" sz="1600" dirty="0">
                              <a:solidFill>
                                <a:srgbClr val="152238"/>
                              </a:solidFill>
                            </a:rPr>
                            <a:t> (PBE)</a:t>
                          </a:r>
                          <a:endParaRPr lang="en-US" sz="16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pl-PL" sz="1600" b="0" i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pl-PL" sz="1600" b="0" i="0" smtClean="0"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pl-PL" sz="1600" b="0" i="0" smtClean="0">
                                      <a:latin typeface="Cambria Math" panose="02040503050406030204" pitchFamily="18" charset="0"/>
                                    </a:rPr>
                                    <m:t>FC</m:t>
                                  </m:r>
                                </m:sub>
                              </m:sSub>
                              <m:r>
                                <a:rPr lang="pl-PL" sz="1600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pl-PL" sz="1600" i="0" dirty="0"/>
                            <a:t>[eV]</a:t>
                          </a:r>
                          <a:r>
                            <a:rPr lang="pl-PL" sz="1600" i="0" baseline="0" dirty="0"/>
                            <a:t> (HSE)</a:t>
                          </a:r>
                          <a:endParaRPr lang="en-US" sz="1600" i="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600" dirty="0"/>
                            <a:t>ZPL [eV]</a:t>
                          </a:r>
                          <a:endParaRPr lang="en-US" sz="16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600" dirty="0"/>
                            <a:t>S</a:t>
                          </a:r>
                          <a:endParaRPr lang="en-US" sz="16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600" dirty="0"/>
                            <a:t>DW</a:t>
                          </a:r>
                          <a:endParaRPr lang="en-US" sz="16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27182833"/>
                      </a:ext>
                    </a:extLst>
                  </a:tr>
                  <a:tr h="279526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3-4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2.089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0.860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1783074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2" name="Table 21">
                <a:extLst>
                  <a:ext uri="{FF2B5EF4-FFF2-40B4-BE49-F238E27FC236}">
                    <a16:creationId xmlns:a16="http://schemas.microsoft.com/office/drawing/2014/main" id="{3CD562B6-5EF0-50EA-28B3-E1B9169B419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20246408"/>
                  </p:ext>
                </p:extLst>
              </p:nvPr>
            </p:nvGraphicFramePr>
            <p:xfrm>
              <a:off x="2857500" y="-22706"/>
              <a:ext cx="9334500" cy="664464"/>
            </p:xfrm>
            <a:graphic>
              <a:graphicData uri="http://schemas.openxmlformats.org/drawingml/2006/table">
                <a:tbl>
                  <a:tblPr/>
                  <a:tblGrid>
                    <a:gridCol w="1333500">
                      <a:extLst>
                        <a:ext uri="{9D8B030D-6E8A-4147-A177-3AD203B41FA5}">
                          <a16:colId xmlns:a16="http://schemas.microsoft.com/office/drawing/2014/main" val="1550071964"/>
                        </a:ext>
                      </a:extLst>
                    </a:gridCol>
                    <a:gridCol w="1333500">
                      <a:extLst>
                        <a:ext uri="{9D8B030D-6E8A-4147-A177-3AD203B41FA5}">
                          <a16:colId xmlns:a16="http://schemas.microsoft.com/office/drawing/2014/main" val="2729272009"/>
                        </a:ext>
                      </a:extLst>
                    </a:gridCol>
                    <a:gridCol w="1333500">
                      <a:extLst>
                        <a:ext uri="{9D8B030D-6E8A-4147-A177-3AD203B41FA5}">
                          <a16:colId xmlns:a16="http://schemas.microsoft.com/office/drawing/2014/main" val="3501752897"/>
                        </a:ext>
                      </a:extLst>
                    </a:gridCol>
                    <a:gridCol w="1333500">
                      <a:extLst>
                        <a:ext uri="{9D8B030D-6E8A-4147-A177-3AD203B41FA5}">
                          <a16:colId xmlns:a16="http://schemas.microsoft.com/office/drawing/2014/main" val="1075343134"/>
                        </a:ext>
                      </a:extLst>
                    </a:gridCol>
                    <a:gridCol w="1333500">
                      <a:extLst>
                        <a:ext uri="{9D8B030D-6E8A-4147-A177-3AD203B41FA5}">
                          <a16:colId xmlns:a16="http://schemas.microsoft.com/office/drawing/2014/main" val="3409595524"/>
                        </a:ext>
                      </a:extLst>
                    </a:gridCol>
                    <a:gridCol w="1333500">
                      <a:extLst>
                        <a:ext uri="{9D8B030D-6E8A-4147-A177-3AD203B41FA5}">
                          <a16:colId xmlns:a16="http://schemas.microsoft.com/office/drawing/2014/main" val="3949273380"/>
                        </a:ext>
                      </a:extLst>
                    </a:gridCol>
                    <a:gridCol w="1333500">
                      <a:extLst>
                        <a:ext uri="{9D8B030D-6E8A-4147-A177-3AD203B41FA5}">
                          <a16:colId xmlns:a16="http://schemas.microsoft.com/office/drawing/2014/main" val="2984048277"/>
                        </a:ext>
                      </a:extLst>
                    </a:gridCol>
                  </a:tblGrid>
                  <a:tr h="316992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600" dirty="0">
                              <a:solidFill>
                                <a:srgbClr val="152238"/>
                              </a:solidFill>
                            </a:rPr>
                            <a:t>defect</a:t>
                          </a:r>
                          <a:endParaRPr lang="en-US" sz="16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pl-PL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100000" t="-7692" r="-500000" b="-1461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l-PL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200000" t="-7692" r="-400000" b="-1461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l-PL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301376" t="-7692" r="-301835" b="-1461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600" dirty="0"/>
                            <a:t>ZPL [eV]</a:t>
                          </a:r>
                          <a:endParaRPr lang="en-US" sz="16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600" dirty="0"/>
                            <a:t>S</a:t>
                          </a:r>
                          <a:endParaRPr lang="en-US" sz="16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600" dirty="0"/>
                            <a:t>DW</a:t>
                          </a:r>
                          <a:endParaRPr lang="en-US" sz="16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27182833"/>
                      </a:ext>
                    </a:extLst>
                  </a:tr>
                  <a:tr h="347472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3-4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2.089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0.860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1783074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3" name="TextBox 22">
            <a:extLst>
              <a:ext uri="{FF2B5EF4-FFF2-40B4-BE49-F238E27FC236}">
                <a16:creationId xmlns:a16="http://schemas.microsoft.com/office/drawing/2014/main" id="{634775B3-F765-11B5-8EA2-9F3165645711}"/>
              </a:ext>
            </a:extLst>
          </p:cNvPr>
          <p:cNvSpPr txBox="1"/>
          <p:nvPr/>
        </p:nvSpPr>
        <p:spPr>
          <a:xfrm>
            <a:off x="76200" y="4295775"/>
            <a:ext cx="383244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/>
              <a:t>-5423.67339549 eV</a:t>
            </a:r>
          </a:p>
          <a:p>
            <a:r>
              <a:rPr lang="pl-PL" dirty="0"/>
              <a:t>-5424.33944231 eV</a:t>
            </a:r>
          </a:p>
          <a:p>
            <a:r>
              <a:rPr lang="pl-PL" dirty="0"/>
              <a:t>-5424.59162756 eV</a:t>
            </a:r>
          </a:p>
          <a:p>
            <a:r>
              <a:rPr lang="pl-PL" dirty="0"/>
              <a:t>-5423.67339549 eV</a:t>
            </a:r>
          </a:p>
          <a:p>
            <a:r>
              <a:rPr lang="pl-PL" dirty="0"/>
              <a:t>-5423.88315488 eV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34BB4CF7-C6C2-42F2-3060-2184D945093A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17794" b="21250"/>
          <a:stretch>
            <a:fillRect/>
          </a:stretch>
        </p:blipFill>
        <p:spPr>
          <a:xfrm>
            <a:off x="8095654" y="1220343"/>
            <a:ext cx="4065866" cy="4180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17907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34B9C7-186E-CC35-3B28-768117F271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2A02D2A-2EA9-7117-54CE-E9B67754566D}"/>
              </a:ext>
            </a:extLst>
          </p:cNvPr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F4DC034-4B35-B1B6-D864-EBAA05A9E40F}"/>
              </a:ext>
            </a:extLst>
          </p:cNvPr>
          <p:cNvSpPr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l-PL" sz="24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Geometry 3-8</a:t>
            </a:r>
            <a:endParaRPr lang="en-US" sz="24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333B73F0-DB0F-8379-6883-C0F99920BEC3}"/>
              </a:ext>
            </a:extLst>
          </p:cNvPr>
          <p:cNvSpPr/>
          <p:nvPr/>
        </p:nvSpPr>
        <p:spPr>
          <a:xfrm>
            <a:off x="502920" y="717423"/>
            <a:ext cx="11155680" cy="0"/>
          </a:xfrm>
          <a:prstGeom prst="line">
            <a:avLst/>
          </a:prstGeom>
          <a:noFill/>
          <a:ln w="12700">
            <a:solidFill>
              <a:srgbClr val="CCD4E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B98C1BF-AA0B-4A07-B982-47D3563C5D93}"/>
              </a:ext>
            </a:extLst>
          </p:cNvPr>
          <p:cNvSpPr/>
          <p:nvPr/>
        </p:nvSpPr>
        <p:spPr>
          <a:xfrm>
            <a:off x="502920" y="6510528"/>
            <a:ext cx="9692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A8494"/>
                </a:solidFill>
              </a:rPr>
              <a:t>Franciszek Zabierowski  |  FTMC project discussion</a:t>
            </a:r>
            <a:endParaRPr lang="en-US" sz="75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A63CEE7-5024-AEC3-3AB7-87259ECBF0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758953"/>
            <a:ext cx="3970877" cy="283789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848C5E5-48A0-7065-E564-C8A47589F9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17" y="3638378"/>
            <a:ext cx="3962612" cy="3219622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40EE4DBF-D6BC-2893-9C77-8476E85C0A1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85178" y="751676"/>
            <a:ext cx="3903123" cy="2837896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7BFDEE14-4113-474E-FCC4-EA0A62A5FF2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19376" y="3672630"/>
            <a:ext cx="4268925" cy="296330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5" name="Table 24">
                <a:extLst>
                  <a:ext uri="{FF2B5EF4-FFF2-40B4-BE49-F238E27FC236}">
                    <a16:creationId xmlns:a16="http://schemas.microsoft.com/office/drawing/2014/main" id="{10F466D8-AF29-DA5E-873A-879C885E6B5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61040539"/>
                  </p:ext>
                </p:extLst>
              </p:nvPr>
            </p:nvGraphicFramePr>
            <p:xfrm>
              <a:off x="2857500" y="-22706"/>
              <a:ext cx="9334500" cy="664464"/>
            </p:xfrm>
            <a:graphic>
              <a:graphicData uri="http://schemas.openxmlformats.org/drawingml/2006/table">
                <a:tbl>
                  <a:tblPr/>
                  <a:tblGrid>
                    <a:gridCol w="1333500">
                      <a:extLst>
                        <a:ext uri="{9D8B030D-6E8A-4147-A177-3AD203B41FA5}">
                          <a16:colId xmlns:a16="http://schemas.microsoft.com/office/drawing/2014/main" val="1550071964"/>
                        </a:ext>
                      </a:extLst>
                    </a:gridCol>
                    <a:gridCol w="1333500">
                      <a:extLst>
                        <a:ext uri="{9D8B030D-6E8A-4147-A177-3AD203B41FA5}">
                          <a16:colId xmlns:a16="http://schemas.microsoft.com/office/drawing/2014/main" val="2729272009"/>
                        </a:ext>
                      </a:extLst>
                    </a:gridCol>
                    <a:gridCol w="1333500">
                      <a:extLst>
                        <a:ext uri="{9D8B030D-6E8A-4147-A177-3AD203B41FA5}">
                          <a16:colId xmlns:a16="http://schemas.microsoft.com/office/drawing/2014/main" val="3501752897"/>
                        </a:ext>
                      </a:extLst>
                    </a:gridCol>
                    <a:gridCol w="1333500">
                      <a:extLst>
                        <a:ext uri="{9D8B030D-6E8A-4147-A177-3AD203B41FA5}">
                          <a16:colId xmlns:a16="http://schemas.microsoft.com/office/drawing/2014/main" val="1075343134"/>
                        </a:ext>
                      </a:extLst>
                    </a:gridCol>
                    <a:gridCol w="1333500">
                      <a:extLst>
                        <a:ext uri="{9D8B030D-6E8A-4147-A177-3AD203B41FA5}">
                          <a16:colId xmlns:a16="http://schemas.microsoft.com/office/drawing/2014/main" val="3409595524"/>
                        </a:ext>
                      </a:extLst>
                    </a:gridCol>
                    <a:gridCol w="1333500">
                      <a:extLst>
                        <a:ext uri="{9D8B030D-6E8A-4147-A177-3AD203B41FA5}">
                          <a16:colId xmlns:a16="http://schemas.microsoft.com/office/drawing/2014/main" val="3949273380"/>
                        </a:ext>
                      </a:extLst>
                    </a:gridCol>
                    <a:gridCol w="1333500">
                      <a:extLst>
                        <a:ext uri="{9D8B030D-6E8A-4147-A177-3AD203B41FA5}">
                          <a16:colId xmlns:a16="http://schemas.microsoft.com/office/drawing/2014/main" val="2984048277"/>
                        </a:ext>
                      </a:extLst>
                    </a:gridCol>
                  </a:tblGrid>
                  <a:tr h="279526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600" dirty="0">
                              <a:solidFill>
                                <a:srgbClr val="152238"/>
                              </a:solidFill>
                            </a:rPr>
                            <a:t>defect</a:t>
                          </a:r>
                          <a:endParaRPr lang="en-US" sz="16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pl-PL" sz="1600" b="0" i="0" smtClean="0">
                                  <a:solidFill>
                                    <a:srgbClr val="152238"/>
                                  </a:solidFill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sSub>
                                <m:sSubPr>
                                  <m:ctrlPr>
                                    <a:rPr lang="pl-PL" sz="1600" b="0" i="1" smtClean="0">
                                      <a:solidFill>
                                        <a:srgbClr val="152238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l-PL" sz="1600" b="0" i="1" smtClean="0">
                                      <a:solidFill>
                                        <a:srgbClr val="152238"/>
                                      </a:solidFill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pl-PL" sz="1600" b="0" i="1" smtClean="0">
                                      <a:solidFill>
                                        <a:srgbClr val="152238"/>
                                      </a:solidFill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600" dirty="0">
                              <a:solidFill>
                                <a:srgbClr val="152238"/>
                              </a:solidFill>
                            </a:rPr>
                            <a:t>[eV]</a:t>
                          </a:r>
                          <a:endParaRPr lang="en-US" sz="16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pl-PL" sz="1600" i="1" dirty="0" smtClean="0">
                                      <a:solidFill>
                                        <a:srgbClr val="152238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l-PL" sz="1600" i="1" dirty="0" smtClean="0">
                                      <a:solidFill>
                                        <a:srgbClr val="152238"/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sz="1600" i="1" dirty="0">
                                      <a:solidFill>
                                        <a:srgbClr val="152238"/>
                                      </a:solidFill>
                                      <a:latin typeface="Cambria Math" panose="02040503050406030204" pitchFamily="18" charset="0"/>
                                    </a:rPr>
                                    <m:t>𝐹𝐶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600" dirty="0">
                              <a:solidFill>
                                <a:srgbClr val="152238"/>
                              </a:solidFill>
                            </a:rPr>
                            <a:t> [eV]</a:t>
                          </a:r>
                          <a:r>
                            <a:rPr lang="pl-PL" sz="1600" dirty="0">
                              <a:solidFill>
                                <a:srgbClr val="152238"/>
                              </a:solidFill>
                            </a:rPr>
                            <a:t> (PBE)</a:t>
                          </a:r>
                          <a:endParaRPr lang="en-US" sz="16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pl-PL" sz="1600" b="0" i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pl-PL" sz="1600" b="0" i="0" smtClean="0"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pl-PL" sz="1600" b="0" i="0" smtClean="0">
                                      <a:latin typeface="Cambria Math" panose="02040503050406030204" pitchFamily="18" charset="0"/>
                                    </a:rPr>
                                    <m:t>FC</m:t>
                                  </m:r>
                                </m:sub>
                              </m:sSub>
                              <m:r>
                                <a:rPr lang="pl-PL" sz="1600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pl-PL" sz="1600" i="0" dirty="0"/>
                            <a:t>[eV]</a:t>
                          </a:r>
                          <a:r>
                            <a:rPr lang="pl-PL" sz="1600" i="0" baseline="0" dirty="0"/>
                            <a:t> (HSE)</a:t>
                          </a:r>
                          <a:endParaRPr lang="en-US" sz="1600" i="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600" dirty="0"/>
                            <a:t>ZPL [eV]</a:t>
                          </a:r>
                          <a:endParaRPr lang="en-US" sz="16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600" dirty="0"/>
                            <a:t>S</a:t>
                          </a:r>
                          <a:endParaRPr lang="en-US" sz="16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600" dirty="0"/>
                            <a:t>DW</a:t>
                          </a:r>
                          <a:endParaRPr lang="en-US" sz="16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27182833"/>
                      </a:ext>
                    </a:extLst>
                  </a:tr>
                  <a:tr h="279526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3–8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3.903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0.460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m:rPr>
                                    <m:nor/>
                                  </m:rPr>
                                  <a:rPr lang="pl-PL" sz="1800" i="0" smtClean="0"/>
                                  <m:t>0.776</m:t>
                                </m:r>
                              </m:oMath>
                            </m:oMathPara>
                          </a14:m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1783074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5" name="Table 24">
                <a:extLst>
                  <a:ext uri="{FF2B5EF4-FFF2-40B4-BE49-F238E27FC236}">
                    <a16:creationId xmlns:a16="http://schemas.microsoft.com/office/drawing/2014/main" id="{10F466D8-AF29-DA5E-873A-879C885E6B5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61040539"/>
                  </p:ext>
                </p:extLst>
              </p:nvPr>
            </p:nvGraphicFramePr>
            <p:xfrm>
              <a:off x="2857500" y="-22706"/>
              <a:ext cx="9334500" cy="664464"/>
            </p:xfrm>
            <a:graphic>
              <a:graphicData uri="http://schemas.openxmlformats.org/drawingml/2006/table">
                <a:tbl>
                  <a:tblPr/>
                  <a:tblGrid>
                    <a:gridCol w="1333500">
                      <a:extLst>
                        <a:ext uri="{9D8B030D-6E8A-4147-A177-3AD203B41FA5}">
                          <a16:colId xmlns:a16="http://schemas.microsoft.com/office/drawing/2014/main" val="1550071964"/>
                        </a:ext>
                      </a:extLst>
                    </a:gridCol>
                    <a:gridCol w="1333500">
                      <a:extLst>
                        <a:ext uri="{9D8B030D-6E8A-4147-A177-3AD203B41FA5}">
                          <a16:colId xmlns:a16="http://schemas.microsoft.com/office/drawing/2014/main" val="2729272009"/>
                        </a:ext>
                      </a:extLst>
                    </a:gridCol>
                    <a:gridCol w="1333500">
                      <a:extLst>
                        <a:ext uri="{9D8B030D-6E8A-4147-A177-3AD203B41FA5}">
                          <a16:colId xmlns:a16="http://schemas.microsoft.com/office/drawing/2014/main" val="3501752897"/>
                        </a:ext>
                      </a:extLst>
                    </a:gridCol>
                    <a:gridCol w="1333500">
                      <a:extLst>
                        <a:ext uri="{9D8B030D-6E8A-4147-A177-3AD203B41FA5}">
                          <a16:colId xmlns:a16="http://schemas.microsoft.com/office/drawing/2014/main" val="1075343134"/>
                        </a:ext>
                      </a:extLst>
                    </a:gridCol>
                    <a:gridCol w="1333500">
                      <a:extLst>
                        <a:ext uri="{9D8B030D-6E8A-4147-A177-3AD203B41FA5}">
                          <a16:colId xmlns:a16="http://schemas.microsoft.com/office/drawing/2014/main" val="3409595524"/>
                        </a:ext>
                      </a:extLst>
                    </a:gridCol>
                    <a:gridCol w="1333500">
                      <a:extLst>
                        <a:ext uri="{9D8B030D-6E8A-4147-A177-3AD203B41FA5}">
                          <a16:colId xmlns:a16="http://schemas.microsoft.com/office/drawing/2014/main" val="3949273380"/>
                        </a:ext>
                      </a:extLst>
                    </a:gridCol>
                    <a:gridCol w="1333500">
                      <a:extLst>
                        <a:ext uri="{9D8B030D-6E8A-4147-A177-3AD203B41FA5}">
                          <a16:colId xmlns:a16="http://schemas.microsoft.com/office/drawing/2014/main" val="2984048277"/>
                        </a:ext>
                      </a:extLst>
                    </a:gridCol>
                  </a:tblGrid>
                  <a:tr h="316992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600" dirty="0">
                              <a:solidFill>
                                <a:srgbClr val="152238"/>
                              </a:solidFill>
                            </a:rPr>
                            <a:t>defect</a:t>
                          </a:r>
                          <a:endParaRPr lang="en-US" sz="16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pl-PL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100000" t="-7692" r="-500000" b="-1461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l-PL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200000" t="-7692" r="-400000" b="-1461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l-PL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301376" t="-7692" r="-301835" b="-1461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600" dirty="0"/>
                            <a:t>ZPL [eV]</a:t>
                          </a:r>
                          <a:endParaRPr lang="en-US" sz="16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600" dirty="0"/>
                            <a:t>S</a:t>
                          </a:r>
                          <a:endParaRPr lang="en-US" sz="16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600" dirty="0"/>
                            <a:t>DW</a:t>
                          </a:r>
                          <a:endParaRPr lang="en-US" sz="16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27182833"/>
                      </a:ext>
                    </a:extLst>
                  </a:tr>
                  <a:tr h="347472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3–8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3.903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0.460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pl-PL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301376" t="-96552" r="-301835" b="-3103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17830741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27" name="Picture 26">
            <a:extLst>
              <a:ext uri="{FF2B5EF4-FFF2-40B4-BE49-F238E27FC236}">
                <a16:creationId xmlns:a16="http://schemas.microsoft.com/office/drawing/2014/main" id="{C8FED00B-285F-6DC3-B7DE-FCB07CA103A3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17794" b="20472"/>
          <a:stretch>
            <a:fillRect/>
          </a:stretch>
        </p:blipFill>
        <p:spPr>
          <a:xfrm>
            <a:off x="8095653" y="1220343"/>
            <a:ext cx="4065866" cy="4233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31504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4571E93-92F6-4793-82B9-E3BC5424A2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BEE2330-9C30-773D-33B2-118399066A47}"/>
              </a:ext>
            </a:extLst>
          </p:cNvPr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B8D1279-23A6-017C-853E-D768D9A56105}"/>
              </a:ext>
            </a:extLst>
          </p:cNvPr>
          <p:cNvSpPr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l-PL" sz="24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Geometry 4-5</a:t>
            </a:r>
            <a:endParaRPr lang="en-US" sz="24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E6BD1341-22E9-9F46-5B06-7764C9BDC718}"/>
              </a:ext>
            </a:extLst>
          </p:cNvPr>
          <p:cNvSpPr/>
          <p:nvPr/>
        </p:nvSpPr>
        <p:spPr>
          <a:xfrm>
            <a:off x="502920" y="717423"/>
            <a:ext cx="11155680" cy="0"/>
          </a:xfrm>
          <a:prstGeom prst="line">
            <a:avLst/>
          </a:prstGeom>
          <a:noFill/>
          <a:ln w="12700">
            <a:solidFill>
              <a:srgbClr val="CCD4E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632F351-ACEC-0941-F96E-F97069264B08}"/>
              </a:ext>
            </a:extLst>
          </p:cNvPr>
          <p:cNvSpPr/>
          <p:nvPr/>
        </p:nvSpPr>
        <p:spPr>
          <a:xfrm>
            <a:off x="502920" y="6510528"/>
            <a:ext cx="9692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A8494"/>
                </a:solidFill>
              </a:rPr>
              <a:t>Franciszek Zabierowski  |  FTMC project discussion</a:t>
            </a:r>
            <a:endParaRPr lang="en-US" sz="75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23D9B48-5225-F728-30A2-EA20729E51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717422"/>
            <a:ext cx="3895725" cy="318381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26B76A5-E42C-084D-1467-3B95F03B3D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950320"/>
            <a:ext cx="3895725" cy="290767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CD10837-A627-153B-FB3E-D691595E45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21677" y="844912"/>
            <a:ext cx="4086742" cy="285017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A341E66-D606-E300-C662-ED656FA0974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40860" y="3950320"/>
            <a:ext cx="3967559" cy="2907679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1AE90997-D725-200E-4C56-A1A346A9DB24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17794" b="20417"/>
          <a:stretch>
            <a:fillRect/>
          </a:stretch>
        </p:blipFill>
        <p:spPr>
          <a:xfrm>
            <a:off x="8125829" y="1576343"/>
            <a:ext cx="4065866" cy="423748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4" name="Table 23">
                <a:extLst>
                  <a:ext uri="{FF2B5EF4-FFF2-40B4-BE49-F238E27FC236}">
                    <a16:creationId xmlns:a16="http://schemas.microsoft.com/office/drawing/2014/main" id="{1930EA5D-B0FE-05E1-399A-B529ABD42D6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30468678"/>
                  </p:ext>
                </p:extLst>
              </p:nvPr>
            </p:nvGraphicFramePr>
            <p:xfrm>
              <a:off x="2857500" y="-22706"/>
              <a:ext cx="9334500" cy="664464"/>
            </p:xfrm>
            <a:graphic>
              <a:graphicData uri="http://schemas.openxmlformats.org/drawingml/2006/table">
                <a:tbl>
                  <a:tblPr/>
                  <a:tblGrid>
                    <a:gridCol w="1333500">
                      <a:extLst>
                        <a:ext uri="{9D8B030D-6E8A-4147-A177-3AD203B41FA5}">
                          <a16:colId xmlns:a16="http://schemas.microsoft.com/office/drawing/2014/main" val="1550071964"/>
                        </a:ext>
                      </a:extLst>
                    </a:gridCol>
                    <a:gridCol w="1333500">
                      <a:extLst>
                        <a:ext uri="{9D8B030D-6E8A-4147-A177-3AD203B41FA5}">
                          <a16:colId xmlns:a16="http://schemas.microsoft.com/office/drawing/2014/main" val="2729272009"/>
                        </a:ext>
                      </a:extLst>
                    </a:gridCol>
                    <a:gridCol w="1333500">
                      <a:extLst>
                        <a:ext uri="{9D8B030D-6E8A-4147-A177-3AD203B41FA5}">
                          <a16:colId xmlns:a16="http://schemas.microsoft.com/office/drawing/2014/main" val="3501752897"/>
                        </a:ext>
                      </a:extLst>
                    </a:gridCol>
                    <a:gridCol w="1333500">
                      <a:extLst>
                        <a:ext uri="{9D8B030D-6E8A-4147-A177-3AD203B41FA5}">
                          <a16:colId xmlns:a16="http://schemas.microsoft.com/office/drawing/2014/main" val="1075343134"/>
                        </a:ext>
                      </a:extLst>
                    </a:gridCol>
                    <a:gridCol w="1333500">
                      <a:extLst>
                        <a:ext uri="{9D8B030D-6E8A-4147-A177-3AD203B41FA5}">
                          <a16:colId xmlns:a16="http://schemas.microsoft.com/office/drawing/2014/main" val="3409595524"/>
                        </a:ext>
                      </a:extLst>
                    </a:gridCol>
                    <a:gridCol w="1333500">
                      <a:extLst>
                        <a:ext uri="{9D8B030D-6E8A-4147-A177-3AD203B41FA5}">
                          <a16:colId xmlns:a16="http://schemas.microsoft.com/office/drawing/2014/main" val="3949273380"/>
                        </a:ext>
                      </a:extLst>
                    </a:gridCol>
                    <a:gridCol w="1333500">
                      <a:extLst>
                        <a:ext uri="{9D8B030D-6E8A-4147-A177-3AD203B41FA5}">
                          <a16:colId xmlns:a16="http://schemas.microsoft.com/office/drawing/2014/main" val="2984048277"/>
                        </a:ext>
                      </a:extLst>
                    </a:gridCol>
                  </a:tblGrid>
                  <a:tr h="279526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600" dirty="0">
                              <a:solidFill>
                                <a:srgbClr val="152238"/>
                              </a:solidFill>
                            </a:rPr>
                            <a:t>defect</a:t>
                          </a:r>
                          <a:endParaRPr lang="en-US" sz="16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pl-PL" sz="1600" b="0" i="0" smtClean="0">
                                  <a:solidFill>
                                    <a:srgbClr val="152238"/>
                                  </a:solidFill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sSub>
                                <m:sSubPr>
                                  <m:ctrlPr>
                                    <a:rPr lang="pl-PL" sz="1600" b="0" i="1" smtClean="0">
                                      <a:solidFill>
                                        <a:srgbClr val="152238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l-PL" sz="1600" b="0" i="1" smtClean="0">
                                      <a:solidFill>
                                        <a:srgbClr val="152238"/>
                                      </a:solidFill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pl-PL" sz="1600" b="0" i="1" smtClean="0">
                                      <a:solidFill>
                                        <a:srgbClr val="152238"/>
                                      </a:solidFill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600" dirty="0">
                              <a:solidFill>
                                <a:srgbClr val="152238"/>
                              </a:solidFill>
                            </a:rPr>
                            <a:t>[eV]</a:t>
                          </a:r>
                          <a:endParaRPr lang="en-US" sz="16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pl-PL" sz="1600" i="1" dirty="0" smtClean="0">
                                      <a:solidFill>
                                        <a:srgbClr val="152238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l-PL" sz="1600" i="1" dirty="0" smtClean="0">
                                      <a:solidFill>
                                        <a:srgbClr val="152238"/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sz="1600" i="1" dirty="0">
                                      <a:solidFill>
                                        <a:srgbClr val="152238"/>
                                      </a:solidFill>
                                      <a:latin typeface="Cambria Math" panose="02040503050406030204" pitchFamily="18" charset="0"/>
                                    </a:rPr>
                                    <m:t>𝐹𝐶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600" dirty="0">
                              <a:solidFill>
                                <a:srgbClr val="152238"/>
                              </a:solidFill>
                            </a:rPr>
                            <a:t> [eV]</a:t>
                          </a:r>
                          <a:r>
                            <a:rPr lang="pl-PL" sz="1600" dirty="0">
                              <a:solidFill>
                                <a:srgbClr val="152238"/>
                              </a:solidFill>
                            </a:rPr>
                            <a:t> (PBE)</a:t>
                          </a:r>
                          <a:endParaRPr lang="en-US" sz="16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pl-PL" sz="1600" b="0" i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pl-PL" sz="1600" b="0" i="0" smtClean="0"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pl-PL" sz="1600" b="0" i="0" smtClean="0">
                                      <a:latin typeface="Cambria Math" panose="02040503050406030204" pitchFamily="18" charset="0"/>
                                    </a:rPr>
                                    <m:t>FC</m:t>
                                  </m:r>
                                </m:sub>
                              </m:sSub>
                              <m:r>
                                <a:rPr lang="pl-PL" sz="1600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pl-PL" sz="1600" i="0" dirty="0"/>
                            <a:t>[eV]</a:t>
                          </a:r>
                          <a:r>
                            <a:rPr lang="pl-PL" sz="1600" i="0" baseline="0" dirty="0"/>
                            <a:t> (HSE)</a:t>
                          </a:r>
                          <a:endParaRPr lang="en-US" sz="1600" i="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600" dirty="0"/>
                            <a:t>ZPL [eV]</a:t>
                          </a:r>
                          <a:endParaRPr lang="en-US" sz="16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600" dirty="0"/>
                            <a:t>S</a:t>
                          </a:r>
                          <a:endParaRPr lang="en-US" sz="16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600" dirty="0"/>
                            <a:t>DW</a:t>
                          </a:r>
                          <a:endParaRPr lang="en-US" sz="16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27182833"/>
                      </a:ext>
                    </a:extLst>
                  </a:tr>
                  <a:tr h="279526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4–5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1.213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0.375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0.417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1783074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4" name="Table 23">
                <a:extLst>
                  <a:ext uri="{FF2B5EF4-FFF2-40B4-BE49-F238E27FC236}">
                    <a16:creationId xmlns:a16="http://schemas.microsoft.com/office/drawing/2014/main" id="{1930EA5D-B0FE-05E1-399A-B529ABD42D6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30468678"/>
                  </p:ext>
                </p:extLst>
              </p:nvPr>
            </p:nvGraphicFramePr>
            <p:xfrm>
              <a:off x="2857500" y="-22706"/>
              <a:ext cx="9334500" cy="664464"/>
            </p:xfrm>
            <a:graphic>
              <a:graphicData uri="http://schemas.openxmlformats.org/drawingml/2006/table">
                <a:tbl>
                  <a:tblPr/>
                  <a:tblGrid>
                    <a:gridCol w="1333500">
                      <a:extLst>
                        <a:ext uri="{9D8B030D-6E8A-4147-A177-3AD203B41FA5}">
                          <a16:colId xmlns:a16="http://schemas.microsoft.com/office/drawing/2014/main" val="1550071964"/>
                        </a:ext>
                      </a:extLst>
                    </a:gridCol>
                    <a:gridCol w="1333500">
                      <a:extLst>
                        <a:ext uri="{9D8B030D-6E8A-4147-A177-3AD203B41FA5}">
                          <a16:colId xmlns:a16="http://schemas.microsoft.com/office/drawing/2014/main" val="2729272009"/>
                        </a:ext>
                      </a:extLst>
                    </a:gridCol>
                    <a:gridCol w="1333500">
                      <a:extLst>
                        <a:ext uri="{9D8B030D-6E8A-4147-A177-3AD203B41FA5}">
                          <a16:colId xmlns:a16="http://schemas.microsoft.com/office/drawing/2014/main" val="3501752897"/>
                        </a:ext>
                      </a:extLst>
                    </a:gridCol>
                    <a:gridCol w="1333500">
                      <a:extLst>
                        <a:ext uri="{9D8B030D-6E8A-4147-A177-3AD203B41FA5}">
                          <a16:colId xmlns:a16="http://schemas.microsoft.com/office/drawing/2014/main" val="1075343134"/>
                        </a:ext>
                      </a:extLst>
                    </a:gridCol>
                    <a:gridCol w="1333500">
                      <a:extLst>
                        <a:ext uri="{9D8B030D-6E8A-4147-A177-3AD203B41FA5}">
                          <a16:colId xmlns:a16="http://schemas.microsoft.com/office/drawing/2014/main" val="3409595524"/>
                        </a:ext>
                      </a:extLst>
                    </a:gridCol>
                    <a:gridCol w="1333500">
                      <a:extLst>
                        <a:ext uri="{9D8B030D-6E8A-4147-A177-3AD203B41FA5}">
                          <a16:colId xmlns:a16="http://schemas.microsoft.com/office/drawing/2014/main" val="3949273380"/>
                        </a:ext>
                      </a:extLst>
                    </a:gridCol>
                    <a:gridCol w="1333500">
                      <a:extLst>
                        <a:ext uri="{9D8B030D-6E8A-4147-A177-3AD203B41FA5}">
                          <a16:colId xmlns:a16="http://schemas.microsoft.com/office/drawing/2014/main" val="2984048277"/>
                        </a:ext>
                      </a:extLst>
                    </a:gridCol>
                  </a:tblGrid>
                  <a:tr h="316992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600" dirty="0">
                              <a:solidFill>
                                <a:srgbClr val="152238"/>
                              </a:solidFill>
                            </a:rPr>
                            <a:t>defect</a:t>
                          </a:r>
                          <a:endParaRPr lang="en-US" sz="16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pl-PL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8"/>
                          <a:stretch>
                            <a:fillRect l="-100000" t="-7692" r="-500000" b="-1461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l-PL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8"/>
                          <a:stretch>
                            <a:fillRect l="-200000" t="-7692" r="-400000" b="-1461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l-PL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8"/>
                          <a:stretch>
                            <a:fillRect l="-301376" t="-7692" r="-301835" b="-1461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600" dirty="0"/>
                            <a:t>ZPL [eV]</a:t>
                          </a:r>
                          <a:endParaRPr lang="en-US" sz="16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600" dirty="0"/>
                            <a:t>S</a:t>
                          </a:r>
                          <a:endParaRPr lang="en-US" sz="16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600" dirty="0"/>
                            <a:t>DW</a:t>
                          </a:r>
                          <a:endParaRPr lang="en-US" sz="16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27182833"/>
                      </a:ext>
                    </a:extLst>
                  </a:tr>
                  <a:tr h="347472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4–5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1.213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0.375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0.417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1783074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6824568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0CBC851-BDE7-56B1-081A-FB122201B5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D2D3754-F68C-8706-6AF3-32360DF803D4}"/>
              </a:ext>
            </a:extLst>
          </p:cNvPr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E1C9079-73FA-59D2-F3AF-62A41C8ACC69}"/>
              </a:ext>
            </a:extLst>
          </p:cNvPr>
          <p:cNvSpPr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l-PL" sz="24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Geometry 4-6</a:t>
            </a:r>
            <a:endParaRPr lang="en-US" sz="24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9B728BC4-14AB-B4FB-DB09-7E892849F8F7}"/>
              </a:ext>
            </a:extLst>
          </p:cNvPr>
          <p:cNvSpPr/>
          <p:nvPr/>
        </p:nvSpPr>
        <p:spPr>
          <a:xfrm>
            <a:off x="502920" y="717423"/>
            <a:ext cx="11155680" cy="0"/>
          </a:xfrm>
          <a:prstGeom prst="line">
            <a:avLst/>
          </a:prstGeom>
          <a:noFill/>
          <a:ln w="12700">
            <a:solidFill>
              <a:srgbClr val="CCD4E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37046BD-BEAF-EB3E-B8C8-11E6AF441F71}"/>
              </a:ext>
            </a:extLst>
          </p:cNvPr>
          <p:cNvSpPr/>
          <p:nvPr/>
        </p:nvSpPr>
        <p:spPr>
          <a:xfrm>
            <a:off x="502920" y="6510528"/>
            <a:ext cx="9692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A8494"/>
                </a:solidFill>
              </a:rPr>
              <a:t>Franciszek Zabierowski  |  FTMC project discussion</a:t>
            </a:r>
            <a:endParaRPr lang="en-US" sz="75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BCCF9EA-399C-9F12-BF3F-9B1EBFB822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58951"/>
            <a:ext cx="3829050" cy="291574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8F97ECE-977E-4BDD-E532-06F16BFEF1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4028471"/>
            <a:ext cx="3829051" cy="282952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D05ECEE-EE19-C5D2-E1E8-7CBF31CBF7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55823" y="758952"/>
            <a:ext cx="3873735" cy="2915744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8EBCAF80-07A0-C1F3-88C1-38D438FE7C9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55823" y="3887072"/>
            <a:ext cx="3873735" cy="2943336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DA6F1ADF-509F-09AF-DA36-39D22399D07C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18656" b="19933"/>
          <a:stretch>
            <a:fillRect/>
          </a:stretch>
        </p:blipFill>
        <p:spPr>
          <a:xfrm>
            <a:off x="7829558" y="1413847"/>
            <a:ext cx="4365241" cy="452169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5" name="Table 24">
                <a:extLst>
                  <a:ext uri="{FF2B5EF4-FFF2-40B4-BE49-F238E27FC236}">
                    <a16:creationId xmlns:a16="http://schemas.microsoft.com/office/drawing/2014/main" id="{EA9CD786-7CBA-F491-8B4C-E77592BC98F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81391931"/>
                  </p:ext>
                </p:extLst>
              </p:nvPr>
            </p:nvGraphicFramePr>
            <p:xfrm>
              <a:off x="2857500" y="-22706"/>
              <a:ext cx="9334500" cy="664464"/>
            </p:xfrm>
            <a:graphic>
              <a:graphicData uri="http://schemas.openxmlformats.org/drawingml/2006/table">
                <a:tbl>
                  <a:tblPr/>
                  <a:tblGrid>
                    <a:gridCol w="1333500">
                      <a:extLst>
                        <a:ext uri="{9D8B030D-6E8A-4147-A177-3AD203B41FA5}">
                          <a16:colId xmlns:a16="http://schemas.microsoft.com/office/drawing/2014/main" val="1550071964"/>
                        </a:ext>
                      </a:extLst>
                    </a:gridCol>
                    <a:gridCol w="1333500">
                      <a:extLst>
                        <a:ext uri="{9D8B030D-6E8A-4147-A177-3AD203B41FA5}">
                          <a16:colId xmlns:a16="http://schemas.microsoft.com/office/drawing/2014/main" val="2729272009"/>
                        </a:ext>
                      </a:extLst>
                    </a:gridCol>
                    <a:gridCol w="1333500">
                      <a:extLst>
                        <a:ext uri="{9D8B030D-6E8A-4147-A177-3AD203B41FA5}">
                          <a16:colId xmlns:a16="http://schemas.microsoft.com/office/drawing/2014/main" val="3501752897"/>
                        </a:ext>
                      </a:extLst>
                    </a:gridCol>
                    <a:gridCol w="1333500">
                      <a:extLst>
                        <a:ext uri="{9D8B030D-6E8A-4147-A177-3AD203B41FA5}">
                          <a16:colId xmlns:a16="http://schemas.microsoft.com/office/drawing/2014/main" val="1075343134"/>
                        </a:ext>
                      </a:extLst>
                    </a:gridCol>
                    <a:gridCol w="1333500">
                      <a:extLst>
                        <a:ext uri="{9D8B030D-6E8A-4147-A177-3AD203B41FA5}">
                          <a16:colId xmlns:a16="http://schemas.microsoft.com/office/drawing/2014/main" val="3409595524"/>
                        </a:ext>
                      </a:extLst>
                    </a:gridCol>
                    <a:gridCol w="1333500">
                      <a:extLst>
                        <a:ext uri="{9D8B030D-6E8A-4147-A177-3AD203B41FA5}">
                          <a16:colId xmlns:a16="http://schemas.microsoft.com/office/drawing/2014/main" val="3949273380"/>
                        </a:ext>
                      </a:extLst>
                    </a:gridCol>
                    <a:gridCol w="1333500">
                      <a:extLst>
                        <a:ext uri="{9D8B030D-6E8A-4147-A177-3AD203B41FA5}">
                          <a16:colId xmlns:a16="http://schemas.microsoft.com/office/drawing/2014/main" val="2984048277"/>
                        </a:ext>
                      </a:extLst>
                    </a:gridCol>
                  </a:tblGrid>
                  <a:tr h="279526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600" dirty="0">
                              <a:solidFill>
                                <a:srgbClr val="152238"/>
                              </a:solidFill>
                            </a:rPr>
                            <a:t>defect</a:t>
                          </a:r>
                          <a:endParaRPr lang="en-US" sz="16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pl-PL" sz="1600" b="0" i="0" smtClean="0">
                                  <a:solidFill>
                                    <a:srgbClr val="152238"/>
                                  </a:solidFill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sSub>
                                <m:sSubPr>
                                  <m:ctrlPr>
                                    <a:rPr lang="pl-PL" sz="1600" b="0" i="1" smtClean="0">
                                      <a:solidFill>
                                        <a:srgbClr val="152238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l-PL" sz="1600" b="0" i="1" smtClean="0">
                                      <a:solidFill>
                                        <a:srgbClr val="152238"/>
                                      </a:solidFill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pl-PL" sz="1600" b="0" i="1" smtClean="0">
                                      <a:solidFill>
                                        <a:srgbClr val="152238"/>
                                      </a:solidFill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600" dirty="0">
                              <a:solidFill>
                                <a:srgbClr val="152238"/>
                              </a:solidFill>
                            </a:rPr>
                            <a:t>[eV]</a:t>
                          </a:r>
                          <a:endParaRPr lang="en-US" sz="16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pl-PL" sz="1600" i="1" dirty="0" smtClean="0">
                                      <a:solidFill>
                                        <a:srgbClr val="152238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l-PL" sz="1600" i="1" dirty="0" smtClean="0">
                                      <a:solidFill>
                                        <a:srgbClr val="152238"/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sz="1600" i="1" dirty="0">
                                      <a:solidFill>
                                        <a:srgbClr val="152238"/>
                                      </a:solidFill>
                                      <a:latin typeface="Cambria Math" panose="02040503050406030204" pitchFamily="18" charset="0"/>
                                    </a:rPr>
                                    <m:t>𝐹𝐶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600" dirty="0">
                              <a:solidFill>
                                <a:srgbClr val="152238"/>
                              </a:solidFill>
                            </a:rPr>
                            <a:t> [eV]</a:t>
                          </a:r>
                          <a:r>
                            <a:rPr lang="pl-PL" sz="1600" dirty="0">
                              <a:solidFill>
                                <a:srgbClr val="152238"/>
                              </a:solidFill>
                            </a:rPr>
                            <a:t> (PBE)</a:t>
                          </a:r>
                          <a:endParaRPr lang="en-US" sz="16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pl-PL" sz="1600" b="0" i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pl-PL" sz="1600" b="0" i="0" smtClean="0"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pl-PL" sz="1600" b="0" i="0" smtClean="0">
                                      <a:latin typeface="Cambria Math" panose="02040503050406030204" pitchFamily="18" charset="0"/>
                                    </a:rPr>
                                    <m:t>FC</m:t>
                                  </m:r>
                                </m:sub>
                              </m:sSub>
                              <m:r>
                                <a:rPr lang="pl-PL" sz="1600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pl-PL" sz="1600" i="0" dirty="0"/>
                            <a:t>[eV]</a:t>
                          </a:r>
                          <a:r>
                            <a:rPr lang="pl-PL" sz="1600" i="0" baseline="0" dirty="0"/>
                            <a:t> (HSE)</a:t>
                          </a:r>
                          <a:endParaRPr lang="en-US" sz="1600" i="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600" dirty="0"/>
                            <a:t>ZPL [eV]</a:t>
                          </a:r>
                          <a:endParaRPr lang="en-US" sz="16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600" dirty="0"/>
                            <a:t>S</a:t>
                          </a:r>
                          <a:endParaRPr lang="en-US" sz="16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600" dirty="0"/>
                            <a:t>DW</a:t>
                          </a:r>
                          <a:endParaRPr lang="en-US" sz="16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27182833"/>
                      </a:ext>
                    </a:extLst>
                  </a:tr>
                  <a:tr h="279526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4–6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2.150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0.3</a:t>
                          </a:r>
                          <a:r>
                            <a:rPr lang="pl-PL" sz="1800" dirty="0">
                              <a:solidFill>
                                <a:srgbClr val="152238"/>
                              </a:solidFill>
                            </a:rPr>
                            <a:t>52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0.380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1783074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5" name="Table 24">
                <a:extLst>
                  <a:ext uri="{FF2B5EF4-FFF2-40B4-BE49-F238E27FC236}">
                    <a16:creationId xmlns:a16="http://schemas.microsoft.com/office/drawing/2014/main" id="{EA9CD786-7CBA-F491-8B4C-E77592BC98F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81391931"/>
                  </p:ext>
                </p:extLst>
              </p:nvPr>
            </p:nvGraphicFramePr>
            <p:xfrm>
              <a:off x="2857500" y="-22706"/>
              <a:ext cx="9334500" cy="664464"/>
            </p:xfrm>
            <a:graphic>
              <a:graphicData uri="http://schemas.openxmlformats.org/drawingml/2006/table">
                <a:tbl>
                  <a:tblPr/>
                  <a:tblGrid>
                    <a:gridCol w="1333500">
                      <a:extLst>
                        <a:ext uri="{9D8B030D-6E8A-4147-A177-3AD203B41FA5}">
                          <a16:colId xmlns:a16="http://schemas.microsoft.com/office/drawing/2014/main" val="1550071964"/>
                        </a:ext>
                      </a:extLst>
                    </a:gridCol>
                    <a:gridCol w="1333500">
                      <a:extLst>
                        <a:ext uri="{9D8B030D-6E8A-4147-A177-3AD203B41FA5}">
                          <a16:colId xmlns:a16="http://schemas.microsoft.com/office/drawing/2014/main" val="2729272009"/>
                        </a:ext>
                      </a:extLst>
                    </a:gridCol>
                    <a:gridCol w="1333500">
                      <a:extLst>
                        <a:ext uri="{9D8B030D-6E8A-4147-A177-3AD203B41FA5}">
                          <a16:colId xmlns:a16="http://schemas.microsoft.com/office/drawing/2014/main" val="3501752897"/>
                        </a:ext>
                      </a:extLst>
                    </a:gridCol>
                    <a:gridCol w="1333500">
                      <a:extLst>
                        <a:ext uri="{9D8B030D-6E8A-4147-A177-3AD203B41FA5}">
                          <a16:colId xmlns:a16="http://schemas.microsoft.com/office/drawing/2014/main" val="1075343134"/>
                        </a:ext>
                      </a:extLst>
                    </a:gridCol>
                    <a:gridCol w="1333500">
                      <a:extLst>
                        <a:ext uri="{9D8B030D-6E8A-4147-A177-3AD203B41FA5}">
                          <a16:colId xmlns:a16="http://schemas.microsoft.com/office/drawing/2014/main" val="3409595524"/>
                        </a:ext>
                      </a:extLst>
                    </a:gridCol>
                    <a:gridCol w="1333500">
                      <a:extLst>
                        <a:ext uri="{9D8B030D-6E8A-4147-A177-3AD203B41FA5}">
                          <a16:colId xmlns:a16="http://schemas.microsoft.com/office/drawing/2014/main" val="3949273380"/>
                        </a:ext>
                      </a:extLst>
                    </a:gridCol>
                    <a:gridCol w="1333500">
                      <a:extLst>
                        <a:ext uri="{9D8B030D-6E8A-4147-A177-3AD203B41FA5}">
                          <a16:colId xmlns:a16="http://schemas.microsoft.com/office/drawing/2014/main" val="2984048277"/>
                        </a:ext>
                      </a:extLst>
                    </a:gridCol>
                  </a:tblGrid>
                  <a:tr h="316992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600" dirty="0">
                              <a:solidFill>
                                <a:srgbClr val="152238"/>
                              </a:solidFill>
                            </a:rPr>
                            <a:t>defect</a:t>
                          </a:r>
                          <a:endParaRPr lang="en-US" sz="16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pl-PL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8"/>
                          <a:stretch>
                            <a:fillRect l="-100000" t="-7692" r="-500000" b="-1461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l-PL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8"/>
                          <a:stretch>
                            <a:fillRect l="-200000" t="-7692" r="-400000" b="-1461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l-PL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8"/>
                          <a:stretch>
                            <a:fillRect l="-301376" t="-7692" r="-301835" b="-1461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600" dirty="0"/>
                            <a:t>ZPL [eV]</a:t>
                          </a:r>
                          <a:endParaRPr lang="en-US" sz="16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600" dirty="0"/>
                            <a:t>S</a:t>
                          </a:r>
                          <a:endParaRPr lang="en-US" sz="16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600" dirty="0"/>
                            <a:t>DW</a:t>
                          </a:r>
                          <a:endParaRPr lang="en-US" sz="16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27182833"/>
                      </a:ext>
                    </a:extLst>
                  </a:tr>
                  <a:tr h="347472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4–6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2.150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0.3</a:t>
                          </a:r>
                          <a:r>
                            <a:rPr lang="pl-PL" sz="1800" dirty="0">
                              <a:solidFill>
                                <a:srgbClr val="152238"/>
                              </a:solidFill>
                            </a:rPr>
                            <a:t>52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0.380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1783074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966054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2F5ED7-4A08-CF36-BBE5-CACDE67E7B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3EFCEB0-E01A-F372-C1F2-02EFD3D9625E}"/>
              </a:ext>
            </a:extLst>
          </p:cNvPr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2ED134D-5E32-3DF9-5B3B-664B7175EE82}"/>
              </a:ext>
            </a:extLst>
          </p:cNvPr>
          <p:cNvSpPr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l-PL" sz="24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Geometry 4-9</a:t>
            </a:r>
            <a:endParaRPr lang="en-US" sz="24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7C9AA0D1-85AD-D3D3-7DD9-CFFBE43A1B17}"/>
              </a:ext>
            </a:extLst>
          </p:cNvPr>
          <p:cNvSpPr/>
          <p:nvPr/>
        </p:nvSpPr>
        <p:spPr>
          <a:xfrm>
            <a:off x="502920" y="717423"/>
            <a:ext cx="11155680" cy="0"/>
          </a:xfrm>
          <a:prstGeom prst="line">
            <a:avLst/>
          </a:prstGeom>
          <a:noFill/>
          <a:ln w="12700">
            <a:solidFill>
              <a:srgbClr val="CCD4E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BD1E932-F41D-B144-7CA4-54405F90D9D4}"/>
              </a:ext>
            </a:extLst>
          </p:cNvPr>
          <p:cNvSpPr/>
          <p:nvPr/>
        </p:nvSpPr>
        <p:spPr>
          <a:xfrm>
            <a:off x="502920" y="6510528"/>
            <a:ext cx="9692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A8494"/>
                </a:solidFill>
              </a:rPr>
              <a:t>Franciszek Zabierowski  |  FTMC project discussion</a:t>
            </a:r>
            <a:endParaRPr lang="en-US" sz="75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F06BF79-28BA-4CE2-B946-04C1151BA8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717423"/>
            <a:ext cx="3913464" cy="294970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3D39092-8E7C-FDB2-4AF3-4987896425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13465" y="3834435"/>
            <a:ext cx="3820071" cy="289671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3B14C41-8E84-466B-2F4B-D8E7950B6A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22841" y="717422"/>
            <a:ext cx="3963192" cy="2843406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52A6E668-A6E7-7AD8-5C6A-4D2E4BD50809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18740" b="20866"/>
          <a:stretch>
            <a:fillRect/>
          </a:stretch>
        </p:blipFill>
        <p:spPr>
          <a:xfrm>
            <a:off x="7786033" y="1362075"/>
            <a:ext cx="4309013" cy="438950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2" name="Table 21">
                <a:extLst>
                  <a:ext uri="{FF2B5EF4-FFF2-40B4-BE49-F238E27FC236}">
                    <a16:creationId xmlns:a16="http://schemas.microsoft.com/office/drawing/2014/main" id="{9E2CB25D-96D3-9C5B-1073-7EA68877A66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20177713"/>
                  </p:ext>
                </p:extLst>
              </p:nvPr>
            </p:nvGraphicFramePr>
            <p:xfrm>
              <a:off x="2857500" y="-22706"/>
              <a:ext cx="9334500" cy="664464"/>
            </p:xfrm>
            <a:graphic>
              <a:graphicData uri="http://schemas.openxmlformats.org/drawingml/2006/table">
                <a:tbl>
                  <a:tblPr/>
                  <a:tblGrid>
                    <a:gridCol w="1333500">
                      <a:extLst>
                        <a:ext uri="{9D8B030D-6E8A-4147-A177-3AD203B41FA5}">
                          <a16:colId xmlns:a16="http://schemas.microsoft.com/office/drawing/2014/main" val="1550071964"/>
                        </a:ext>
                      </a:extLst>
                    </a:gridCol>
                    <a:gridCol w="1333500">
                      <a:extLst>
                        <a:ext uri="{9D8B030D-6E8A-4147-A177-3AD203B41FA5}">
                          <a16:colId xmlns:a16="http://schemas.microsoft.com/office/drawing/2014/main" val="2729272009"/>
                        </a:ext>
                      </a:extLst>
                    </a:gridCol>
                    <a:gridCol w="1333500">
                      <a:extLst>
                        <a:ext uri="{9D8B030D-6E8A-4147-A177-3AD203B41FA5}">
                          <a16:colId xmlns:a16="http://schemas.microsoft.com/office/drawing/2014/main" val="3501752897"/>
                        </a:ext>
                      </a:extLst>
                    </a:gridCol>
                    <a:gridCol w="1333500">
                      <a:extLst>
                        <a:ext uri="{9D8B030D-6E8A-4147-A177-3AD203B41FA5}">
                          <a16:colId xmlns:a16="http://schemas.microsoft.com/office/drawing/2014/main" val="1075343134"/>
                        </a:ext>
                      </a:extLst>
                    </a:gridCol>
                    <a:gridCol w="1333500">
                      <a:extLst>
                        <a:ext uri="{9D8B030D-6E8A-4147-A177-3AD203B41FA5}">
                          <a16:colId xmlns:a16="http://schemas.microsoft.com/office/drawing/2014/main" val="3409595524"/>
                        </a:ext>
                      </a:extLst>
                    </a:gridCol>
                    <a:gridCol w="1333500">
                      <a:extLst>
                        <a:ext uri="{9D8B030D-6E8A-4147-A177-3AD203B41FA5}">
                          <a16:colId xmlns:a16="http://schemas.microsoft.com/office/drawing/2014/main" val="3949273380"/>
                        </a:ext>
                      </a:extLst>
                    </a:gridCol>
                    <a:gridCol w="1333500">
                      <a:extLst>
                        <a:ext uri="{9D8B030D-6E8A-4147-A177-3AD203B41FA5}">
                          <a16:colId xmlns:a16="http://schemas.microsoft.com/office/drawing/2014/main" val="2984048277"/>
                        </a:ext>
                      </a:extLst>
                    </a:gridCol>
                  </a:tblGrid>
                  <a:tr h="279526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600" dirty="0">
                              <a:solidFill>
                                <a:srgbClr val="152238"/>
                              </a:solidFill>
                            </a:rPr>
                            <a:t>defect</a:t>
                          </a:r>
                          <a:endParaRPr lang="en-US" sz="16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pl-PL" sz="1600" b="0" i="0" smtClean="0">
                                  <a:solidFill>
                                    <a:srgbClr val="152238"/>
                                  </a:solidFill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sSub>
                                <m:sSubPr>
                                  <m:ctrlPr>
                                    <a:rPr lang="pl-PL" sz="1600" b="0" i="1" smtClean="0">
                                      <a:solidFill>
                                        <a:srgbClr val="152238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l-PL" sz="1600" b="0" i="1" smtClean="0">
                                      <a:solidFill>
                                        <a:srgbClr val="152238"/>
                                      </a:solidFill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pl-PL" sz="1600" b="0" i="1" smtClean="0">
                                      <a:solidFill>
                                        <a:srgbClr val="152238"/>
                                      </a:solidFill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600" dirty="0">
                              <a:solidFill>
                                <a:srgbClr val="152238"/>
                              </a:solidFill>
                            </a:rPr>
                            <a:t>[eV]</a:t>
                          </a:r>
                          <a:endParaRPr lang="en-US" sz="16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pl-PL" sz="1600" i="1" dirty="0" smtClean="0">
                                      <a:solidFill>
                                        <a:srgbClr val="152238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l-PL" sz="1600" i="1" dirty="0" smtClean="0">
                                      <a:solidFill>
                                        <a:srgbClr val="152238"/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sz="1600" i="1" dirty="0">
                                      <a:solidFill>
                                        <a:srgbClr val="152238"/>
                                      </a:solidFill>
                                      <a:latin typeface="Cambria Math" panose="02040503050406030204" pitchFamily="18" charset="0"/>
                                    </a:rPr>
                                    <m:t>𝐹𝐶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600" dirty="0">
                              <a:solidFill>
                                <a:srgbClr val="152238"/>
                              </a:solidFill>
                            </a:rPr>
                            <a:t> [eV]</a:t>
                          </a:r>
                          <a:r>
                            <a:rPr lang="pl-PL" sz="1600" dirty="0">
                              <a:solidFill>
                                <a:srgbClr val="152238"/>
                              </a:solidFill>
                            </a:rPr>
                            <a:t> (PBE)</a:t>
                          </a:r>
                          <a:endParaRPr lang="en-US" sz="16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pl-PL" sz="1600" b="0" i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pl-PL" sz="1600" b="0" i="0" smtClean="0"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pl-PL" sz="1600" b="0" i="0" smtClean="0">
                                      <a:latin typeface="Cambria Math" panose="02040503050406030204" pitchFamily="18" charset="0"/>
                                    </a:rPr>
                                    <m:t>FC</m:t>
                                  </m:r>
                                </m:sub>
                              </m:sSub>
                              <m:r>
                                <a:rPr lang="pl-PL" sz="1600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pl-PL" sz="1600" i="0" dirty="0"/>
                            <a:t>[eV]</a:t>
                          </a:r>
                          <a:r>
                            <a:rPr lang="pl-PL" sz="1600" i="0" baseline="0" dirty="0"/>
                            <a:t> (HSE)</a:t>
                          </a:r>
                          <a:endParaRPr lang="en-US" sz="1600" i="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600" dirty="0"/>
                            <a:t>ZPL [eV]</a:t>
                          </a:r>
                          <a:endParaRPr lang="en-US" sz="16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600" dirty="0"/>
                            <a:t>S</a:t>
                          </a:r>
                          <a:endParaRPr lang="en-US" sz="16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600" dirty="0"/>
                            <a:t>DW</a:t>
                          </a:r>
                          <a:endParaRPr lang="en-US" sz="16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27182833"/>
                      </a:ext>
                    </a:extLst>
                  </a:tr>
                  <a:tr h="279526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4–9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1.842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0.926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1783074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2" name="Table 21">
                <a:extLst>
                  <a:ext uri="{FF2B5EF4-FFF2-40B4-BE49-F238E27FC236}">
                    <a16:creationId xmlns:a16="http://schemas.microsoft.com/office/drawing/2014/main" id="{9E2CB25D-96D3-9C5B-1073-7EA68877A66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20177713"/>
                  </p:ext>
                </p:extLst>
              </p:nvPr>
            </p:nvGraphicFramePr>
            <p:xfrm>
              <a:off x="2857500" y="-22706"/>
              <a:ext cx="9334500" cy="664464"/>
            </p:xfrm>
            <a:graphic>
              <a:graphicData uri="http://schemas.openxmlformats.org/drawingml/2006/table">
                <a:tbl>
                  <a:tblPr/>
                  <a:tblGrid>
                    <a:gridCol w="1333500">
                      <a:extLst>
                        <a:ext uri="{9D8B030D-6E8A-4147-A177-3AD203B41FA5}">
                          <a16:colId xmlns:a16="http://schemas.microsoft.com/office/drawing/2014/main" val="1550071964"/>
                        </a:ext>
                      </a:extLst>
                    </a:gridCol>
                    <a:gridCol w="1333500">
                      <a:extLst>
                        <a:ext uri="{9D8B030D-6E8A-4147-A177-3AD203B41FA5}">
                          <a16:colId xmlns:a16="http://schemas.microsoft.com/office/drawing/2014/main" val="2729272009"/>
                        </a:ext>
                      </a:extLst>
                    </a:gridCol>
                    <a:gridCol w="1333500">
                      <a:extLst>
                        <a:ext uri="{9D8B030D-6E8A-4147-A177-3AD203B41FA5}">
                          <a16:colId xmlns:a16="http://schemas.microsoft.com/office/drawing/2014/main" val="3501752897"/>
                        </a:ext>
                      </a:extLst>
                    </a:gridCol>
                    <a:gridCol w="1333500">
                      <a:extLst>
                        <a:ext uri="{9D8B030D-6E8A-4147-A177-3AD203B41FA5}">
                          <a16:colId xmlns:a16="http://schemas.microsoft.com/office/drawing/2014/main" val="1075343134"/>
                        </a:ext>
                      </a:extLst>
                    </a:gridCol>
                    <a:gridCol w="1333500">
                      <a:extLst>
                        <a:ext uri="{9D8B030D-6E8A-4147-A177-3AD203B41FA5}">
                          <a16:colId xmlns:a16="http://schemas.microsoft.com/office/drawing/2014/main" val="3409595524"/>
                        </a:ext>
                      </a:extLst>
                    </a:gridCol>
                    <a:gridCol w="1333500">
                      <a:extLst>
                        <a:ext uri="{9D8B030D-6E8A-4147-A177-3AD203B41FA5}">
                          <a16:colId xmlns:a16="http://schemas.microsoft.com/office/drawing/2014/main" val="3949273380"/>
                        </a:ext>
                      </a:extLst>
                    </a:gridCol>
                    <a:gridCol w="1333500">
                      <a:extLst>
                        <a:ext uri="{9D8B030D-6E8A-4147-A177-3AD203B41FA5}">
                          <a16:colId xmlns:a16="http://schemas.microsoft.com/office/drawing/2014/main" val="2984048277"/>
                        </a:ext>
                      </a:extLst>
                    </a:gridCol>
                  </a:tblGrid>
                  <a:tr h="316992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600" dirty="0">
                              <a:solidFill>
                                <a:srgbClr val="152238"/>
                              </a:solidFill>
                            </a:rPr>
                            <a:t>defect</a:t>
                          </a:r>
                          <a:endParaRPr lang="en-US" sz="16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pl-PL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100000" t="-7692" r="-500000" b="-1461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l-PL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200000" t="-7692" r="-400000" b="-1461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l-PL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301376" t="-7692" r="-301835" b="-1461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600" dirty="0"/>
                            <a:t>ZPL [eV]</a:t>
                          </a:r>
                          <a:endParaRPr lang="en-US" sz="16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600" dirty="0"/>
                            <a:t>S</a:t>
                          </a:r>
                          <a:endParaRPr lang="en-US" sz="16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600" dirty="0"/>
                            <a:t>DW</a:t>
                          </a:r>
                          <a:endParaRPr lang="en-US" sz="16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27182833"/>
                      </a:ext>
                    </a:extLst>
                  </a:tr>
                  <a:tr h="347472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4–9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1.842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0.926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1783074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3" name="TextBox 22">
            <a:extLst>
              <a:ext uri="{FF2B5EF4-FFF2-40B4-BE49-F238E27FC236}">
                <a16:creationId xmlns:a16="http://schemas.microsoft.com/office/drawing/2014/main" id="{2ABCC8F3-EB7F-A691-B473-3F8B3F4EC0A3}"/>
              </a:ext>
            </a:extLst>
          </p:cNvPr>
          <p:cNvSpPr txBox="1"/>
          <p:nvPr/>
        </p:nvSpPr>
        <p:spPr>
          <a:xfrm>
            <a:off x="96954" y="5066867"/>
            <a:ext cx="3708541" cy="121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/>
              <a:t>-5423.60167078 eV</a:t>
            </a:r>
          </a:p>
          <a:p>
            <a:r>
              <a:rPr lang="pl-PL" dirty="0"/>
              <a:t>-5424.31766788 eV</a:t>
            </a:r>
          </a:p>
          <a:p>
            <a:r>
              <a:rPr lang="pl-PL" dirty="0"/>
              <a:t>-5424.41533639 eV</a:t>
            </a:r>
          </a:p>
          <a:p>
            <a:r>
              <a:rPr lang="pl-PL" dirty="0"/>
              <a:t>-5421.18710134 eV</a:t>
            </a:r>
          </a:p>
        </p:txBody>
      </p:sp>
    </p:spTree>
    <p:extLst>
      <p:ext uri="{BB962C8B-B14F-4D97-AF65-F5344CB8AC3E}">
        <p14:creationId xmlns:p14="http://schemas.microsoft.com/office/powerpoint/2010/main" val="10351636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1C0680-CE6C-7146-3819-232A9B91A6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06EB87F-F01F-D3BF-DD33-AF694D8EBEC8}"/>
              </a:ext>
            </a:extLst>
          </p:cNvPr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23813FC-BD7B-66E4-07C9-392475A09C36}"/>
              </a:ext>
            </a:extLst>
          </p:cNvPr>
          <p:cNvSpPr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l-PL" sz="24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Geometry 6-7</a:t>
            </a:r>
            <a:endParaRPr lang="en-US" sz="24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6D295B0A-F94B-1DA5-50C5-499AA8B7CBA9}"/>
              </a:ext>
            </a:extLst>
          </p:cNvPr>
          <p:cNvSpPr/>
          <p:nvPr/>
        </p:nvSpPr>
        <p:spPr>
          <a:xfrm>
            <a:off x="502920" y="717423"/>
            <a:ext cx="11155680" cy="0"/>
          </a:xfrm>
          <a:prstGeom prst="line">
            <a:avLst/>
          </a:prstGeom>
          <a:noFill/>
          <a:ln w="12700">
            <a:solidFill>
              <a:srgbClr val="CCD4E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A607A6E-8E34-7ACA-F004-3A747204639C}"/>
              </a:ext>
            </a:extLst>
          </p:cNvPr>
          <p:cNvSpPr/>
          <p:nvPr/>
        </p:nvSpPr>
        <p:spPr>
          <a:xfrm>
            <a:off x="502920" y="6510528"/>
            <a:ext cx="9692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A8494"/>
                </a:solidFill>
              </a:rPr>
              <a:t>Franciszek Zabierowski  |  FTMC project discussion</a:t>
            </a:r>
            <a:endParaRPr lang="en-US" sz="75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85E524C-4012-84E6-4486-35B7B4FBAB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23" y="717423"/>
            <a:ext cx="4675288" cy="314552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C6D45FD-6A79-1693-40C2-F7B1B7C0A6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45" y="3763155"/>
            <a:ext cx="4626445" cy="309484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9DE5666-8E8F-8077-8208-4D211A7303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6690" y="758952"/>
            <a:ext cx="3986654" cy="296266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D6970CF-225A-451A-90F1-322AE9AA8C8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35533" y="3862952"/>
            <a:ext cx="3937811" cy="2979168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3420F1DE-DFDF-7B4A-695D-8F1DE16D6173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17600" b="18830"/>
          <a:stretch>
            <a:fillRect/>
          </a:stretch>
        </p:blipFill>
        <p:spPr>
          <a:xfrm>
            <a:off x="8683158" y="1840432"/>
            <a:ext cx="3508842" cy="376237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3" name="Table 22">
                <a:extLst>
                  <a:ext uri="{FF2B5EF4-FFF2-40B4-BE49-F238E27FC236}">
                    <a16:creationId xmlns:a16="http://schemas.microsoft.com/office/drawing/2014/main" id="{F3697A89-AA47-3F65-474D-27FAA7A74E9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44848579"/>
                  </p:ext>
                </p:extLst>
              </p:nvPr>
            </p:nvGraphicFramePr>
            <p:xfrm>
              <a:off x="2857500" y="-22706"/>
              <a:ext cx="9334500" cy="664464"/>
            </p:xfrm>
            <a:graphic>
              <a:graphicData uri="http://schemas.openxmlformats.org/drawingml/2006/table">
                <a:tbl>
                  <a:tblPr/>
                  <a:tblGrid>
                    <a:gridCol w="1333500">
                      <a:extLst>
                        <a:ext uri="{9D8B030D-6E8A-4147-A177-3AD203B41FA5}">
                          <a16:colId xmlns:a16="http://schemas.microsoft.com/office/drawing/2014/main" val="1550071964"/>
                        </a:ext>
                      </a:extLst>
                    </a:gridCol>
                    <a:gridCol w="1333500">
                      <a:extLst>
                        <a:ext uri="{9D8B030D-6E8A-4147-A177-3AD203B41FA5}">
                          <a16:colId xmlns:a16="http://schemas.microsoft.com/office/drawing/2014/main" val="2729272009"/>
                        </a:ext>
                      </a:extLst>
                    </a:gridCol>
                    <a:gridCol w="1333500">
                      <a:extLst>
                        <a:ext uri="{9D8B030D-6E8A-4147-A177-3AD203B41FA5}">
                          <a16:colId xmlns:a16="http://schemas.microsoft.com/office/drawing/2014/main" val="3501752897"/>
                        </a:ext>
                      </a:extLst>
                    </a:gridCol>
                    <a:gridCol w="1333500">
                      <a:extLst>
                        <a:ext uri="{9D8B030D-6E8A-4147-A177-3AD203B41FA5}">
                          <a16:colId xmlns:a16="http://schemas.microsoft.com/office/drawing/2014/main" val="1075343134"/>
                        </a:ext>
                      </a:extLst>
                    </a:gridCol>
                    <a:gridCol w="1333500">
                      <a:extLst>
                        <a:ext uri="{9D8B030D-6E8A-4147-A177-3AD203B41FA5}">
                          <a16:colId xmlns:a16="http://schemas.microsoft.com/office/drawing/2014/main" val="3409595524"/>
                        </a:ext>
                      </a:extLst>
                    </a:gridCol>
                    <a:gridCol w="1333500">
                      <a:extLst>
                        <a:ext uri="{9D8B030D-6E8A-4147-A177-3AD203B41FA5}">
                          <a16:colId xmlns:a16="http://schemas.microsoft.com/office/drawing/2014/main" val="3949273380"/>
                        </a:ext>
                      </a:extLst>
                    </a:gridCol>
                    <a:gridCol w="1333500">
                      <a:extLst>
                        <a:ext uri="{9D8B030D-6E8A-4147-A177-3AD203B41FA5}">
                          <a16:colId xmlns:a16="http://schemas.microsoft.com/office/drawing/2014/main" val="2984048277"/>
                        </a:ext>
                      </a:extLst>
                    </a:gridCol>
                  </a:tblGrid>
                  <a:tr h="279526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600" dirty="0">
                              <a:solidFill>
                                <a:srgbClr val="152238"/>
                              </a:solidFill>
                            </a:rPr>
                            <a:t>defect</a:t>
                          </a:r>
                          <a:endParaRPr lang="en-US" sz="16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pl-PL" sz="1600" b="0" i="0" smtClean="0">
                                  <a:solidFill>
                                    <a:srgbClr val="152238"/>
                                  </a:solidFill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sSub>
                                <m:sSubPr>
                                  <m:ctrlPr>
                                    <a:rPr lang="pl-PL" sz="1600" b="0" i="1" smtClean="0">
                                      <a:solidFill>
                                        <a:srgbClr val="152238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l-PL" sz="1600" b="0" i="1" smtClean="0">
                                      <a:solidFill>
                                        <a:srgbClr val="152238"/>
                                      </a:solidFill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pl-PL" sz="1600" b="0" i="1" smtClean="0">
                                      <a:solidFill>
                                        <a:srgbClr val="152238"/>
                                      </a:solidFill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600" dirty="0">
                              <a:solidFill>
                                <a:srgbClr val="152238"/>
                              </a:solidFill>
                            </a:rPr>
                            <a:t>[eV]</a:t>
                          </a:r>
                          <a:endParaRPr lang="en-US" sz="16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pl-PL" sz="1600" i="1" dirty="0" smtClean="0">
                                      <a:solidFill>
                                        <a:srgbClr val="152238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l-PL" sz="1600" i="1" dirty="0" smtClean="0">
                                      <a:solidFill>
                                        <a:srgbClr val="152238"/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sz="1600" i="1" dirty="0">
                                      <a:solidFill>
                                        <a:srgbClr val="152238"/>
                                      </a:solidFill>
                                      <a:latin typeface="Cambria Math" panose="02040503050406030204" pitchFamily="18" charset="0"/>
                                    </a:rPr>
                                    <m:t>𝐹𝐶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600" dirty="0">
                              <a:solidFill>
                                <a:srgbClr val="152238"/>
                              </a:solidFill>
                            </a:rPr>
                            <a:t> [eV]</a:t>
                          </a:r>
                          <a:r>
                            <a:rPr lang="pl-PL" sz="1600" dirty="0">
                              <a:solidFill>
                                <a:srgbClr val="152238"/>
                              </a:solidFill>
                            </a:rPr>
                            <a:t> (PBE)</a:t>
                          </a:r>
                          <a:endParaRPr lang="en-US" sz="16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pl-PL" sz="1600" b="0" i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pl-PL" sz="1600" b="0" i="0" smtClean="0"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pl-PL" sz="1600" b="0" i="0" smtClean="0">
                                      <a:latin typeface="Cambria Math" panose="02040503050406030204" pitchFamily="18" charset="0"/>
                                    </a:rPr>
                                    <m:t>FC</m:t>
                                  </m:r>
                                </m:sub>
                              </m:sSub>
                              <m:r>
                                <a:rPr lang="pl-PL" sz="1600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pl-PL" sz="1600" i="0" dirty="0"/>
                            <a:t>[eV]</a:t>
                          </a:r>
                          <a:r>
                            <a:rPr lang="pl-PL" sz="1600" i="0" baseline="0" dirty="0"/>
                            <a:t> (HSE)</a:t>
                          </a:r>
                          <a:endParaRPr lang="en-US" sz="1600" i="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600" dirty="0"/>
                            <a:t>ZPL [eV]</a:t>
                          </a:r>
                          <a:endParaRPr lang="en-US" sz="16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600" dirty="0"/>
                            <a:t>S</a:t>
                          </a:r>
                          <a:endParaRPr lang="en-US" sz="16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600" dirty="0"/>
                            <a:t>DW</a:t>
                          </a:r>
                          <a:endParaRPr lang="en-US" sz="16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27182833"/>
                      </a:ext>
                    </a:extLst>
                  </a:tr>
                  <a:tr h="279526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6–7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1.131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0.172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0.220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1783074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3" name="Table 22">
                <a:extLst>
                  <a:ext uri="{FF2B5EF4-FFF2-40B4-BE49-F238E27FC236}">
                    <a16:creationId xmlns:a16="http://schemas.microsoft.com/office/drawing/2014/main" id="{F3697A89-AA47-3F65-474D-27FAA7A74E9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44848579"/>
                  </p:ext>
                </p:extLst>
              </p:nvPr>
            </p:nvGraphicFramePr>
            <p:xfrm>
              <a:off x="2857500" y="-22706"/>
              <a:ext cx="9334500" cy="664464"/>
            </p:xfrm>
            <a:graphic>
              <a:graphicData uri="http://schemas.openxmlformats.org/drawingml/2006/table">
                <a:tbl>
                  <a:tblPr/>
                  <a:tblGrid>
                    <a:gridCol w="1333500">
                      <a:extLst>
                        <a:ext uri="{9D8B030D-6E8A-4147-A177-3AD203B41FA5}">
                          <a16:colId xmlns:a16="http://schemas.microsoft.com/office/drawing/2014/main" val="1550071964"/>
                        </a:ext>
                      </a:extLst>
                    </a:gridCol>
                    <a:gridCol w="1333500">
                      <a:extLst>
                        <a:ext uri="{9D8B030D-6E8A-4147-A177-3AD203B41FA5}">
                          <a16:colId xmlns:a16="http://schemas.microsoft.com/office/drawing/2014/main" val="2729272009"/>
                        </a:ext>
                      </a:extLst>
                    </a:gridCol>
                    <a:gridCol w="1333500">
                      <a:extLst>
                        <a:ext uri="{9D8B030D-6E8A-4147-A177-3AD203B41FA5}">
                          <a16:colId xmlns:a16="http://schemas.microsoft.com/office/drawing/2014/main" val="3501752897"/>
                        </a:ext>
                      </a:extLst>
                    </a:gridCol>
                    <a:gridCol w="1333500">
                      <a:extLst>
                        <a:ext uri="{9D8B030D-6E8A-4147-A177-3AD203B41FA5}">
                          <a16:colId xmlns:a16="http://schemas.microsoft.com/office/drawing/2014/main" val="1075343134"/>
                        </a:ext>
                      </a:extLst>
                    </a:gridCol>
                    <a:gridCol w="1333500">
                      <a:extLst>
                        <a:ext uri="{9D8B030D-6E8A-4147-A177-3AD203B41FA5}">
                          <a16:colId xmlns:a16="http://schemas.microsoft.com/office/drawing/2014/main" val="3409595524"/>
                        </a:ext>
                      </a:extLst>
                    </a:gridCol>
                    <a:gridCol w="1333500">
                      <a:extLst>
                        <a:ext uri="{9D8B030D-6E8A-4147-A177-3AD203B41FA5}">
                          <a16:colId xmlns:a16="http://schemas.microsoft.com/office/drawing/2014/main" val="3949273380"/>
                        </a:ext>
                      </a:extLst>
                    </a:gridCol>
                    <a:gridCol w="1333500">
                      <a:extLst>
                        <a:ext uri="{9D8B030D-6E8A-4147-A177-3AD203B41FA5}">
                          <a16:colId xmlns:a16="http://schemas.microsoft.com/office/drawing/2014/main" val="2984048277"/>
                        </a:ext>
                      </a:extLst>
                    </a:gridCol>
                  </a:tblGrid>
                  <a:tr h="316992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600" dirty="0">
                              <a:solidFill>
                                <a:srgbClr val="152238"/>
                              </a:solidFill>
                            </a:rPr>
                            <a:t>defect</a:t>
                          </a:r>
                          <a:endParaRPr lang="en-US" sz="16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pl-PL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8"/>
                          <a:stretch>
                            <a:fillRect l="-100000" t="-7692" r="-500000" b="-1461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l-PL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8"/>
                          <a:stretch>
                            <a:fillRect l="-200000" t="-7692" r="-400000" b="-1461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l-PL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8"/>
                          <a:stretch>
                            <a:fillRect l="-301376" t="-7692" r="-301835" b="-1461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600" dirty="0"/>
                            <a:t>ZPL [eV]</a:t>
                          </a:r>
                          <a:endParaRPr lang="en-US" sz="16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600" dirty="0"/>
                            <a:t>S</a:t>
                          </a:r>
                          <a:endParaRPr lang="en-US" sz="16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600" dirty="0"/>
                            <a:t>DW</a:t>
                          </a:r>
                          <a:endParaRPr lang="en-US" sz="16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27182833"/>
                      </a:ext>
                    </a:extLst>
                  </a:tr>
                  <a:tr h="347472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6–7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1.131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0.172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0.220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1783074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721130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41C34F-5047-F454-FF28-A5783FE12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37292CE-B3AA-5D73-4E12-9CA9A1C984D1}"/>
              </a:ext>
            </a:extLst>
          </p:cNvPr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F9225E7-8F7E-1EB3-CF37-D3B950D2FEE0}"/>
              </a:ext>
            </a:extLst>
          </p:cNvPr>
          <p:cNvSpPr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Current numerical summary: relative energy and structural reorganization</a:t>
            </a:r>
            <a:endParaRPr lang="en-US" sz="24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086E9C1E-5C24-46DE-7BC3-53146882BF59}"/>
              </a:ext>
            </a:extLst>
          </p:cNvPr>
          <p:cNvSpPr/>
          <p:nvPr/>
        </p:nvSpPr>
        <p:spPr>
          <a:xfrm>
            <a:off x="502920" y="1069848"/>
            <a:ext cx="11155680" cy="0"/>
          </a:xfrm>
          <a:prstGeom prst="line">
            <a:avLst/>
          </a:prstGeom>
          <a:noFill/>
          <a:ln w="12700">
            <a:solidFill>
              <a:srgbClr val="CCD4E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91B9B8DA-5B93-077F-6F5C-C87950CD33A8}"/>
              </a:ext>
            </a:extLst>
          </p:cNvPr>
          <p:cNvSpPr/>
          <p:nvPr/>
        </p:nvSpPr>
        <p:spPr>
          <a:xfrm>
            <a:off x="502920" y="6510528"/>
            <a:ext cx="9692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A8494"/>
                </a:solidFill>
              </a:rPr>
              <a:t>Franciszek Zabierowski  |  FTMC project discussion</a:t>
            </a:r>
            <a:endParaRPr lang="en-US" sz="75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Table 0">
                <a:extLst>
                  <a:ext uri="{FF2B5EF4-FFF2-40B4-BE49-F238E27FC236}">
                    <a16:creationId xmlns:a16="http://schemas.microsoft.com/office/drawing/2014/main" id="{799DA7BA-64CB-D316-63C0-0691A4BE2B2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74264868"/>
                  </p:ext>
                </p:extLst>
              </p:nvPr>
            </p:nvGraphicFramePr>
            <p:xfrm>
              <a:off x="0" y="1301495"/>
              <a:ext cx="12090400" cy="4191699"/>
            </p:xfrm>
            <a:graphic>
              <a:graphicData uri="http://schemas.openxmlformats.org/drawingml/2006/table">
                <a:tbl>
                  <a:tblPr/>
                  <a:tblGrid>
                    <a:gridCol w="1016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200727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634837">
                      <a:extLst>
                        <a:ext uri="{9D8B030D-6E8A-4147-A177-3AD203B41FA5}">
                          <a16:colId xmlns:a16="http://schemas.microsoft.com/office/drawing/2014/main" val="3849069576"/>
                        </a:ext>
                      </a:extLst>
                    </a:gridCol>
                    <a:gridCol w="1099127">
                      <a:extLst>
                        <a:ext uri="{9D8B030D-6E8A-4147-A177-3AD203B41FA5}">
                          <a16:colId xmlns:a16="http://schemas.microsoft.com/office/drawing/2014/main" val="1315476976"/>
                        </a:ext>
                      </a:extLst>
                    </a:gridCol>
                    <a:gridCol w="1958109">
                      <a:extLst>
                        <a:ext uri="{9D8B030D-6E8A-4147-A177-3AD203B41FA5}">
                          <a16:colId xmlns:a16="http://schemas.microsoft.com/office/drawing/2014/main" val="1765263700"/>
                        </a:ext>
                      </a:extLst>
                    </a:gridCol>
                    <a:gridCol w="2660073">
                      <a:extLst>
                        <a:ext uri="{9D8B030D-6E8A-4147-A177-3AD203B41FA5}">
                          <a16:colId xmlns:a16="http://schemas.microsoft.com/office/drawing/2014/main" val="764799560"/>
                        </a:ext>
                      </a:extLst>
                    </a:gridCol>
                    <a:gridCol w="895927">
                      <a:extLst>
                        <a:ext uri="{9D8B030D-6E8A-4147-A177-3AD203B41FA5}">
                          <a16:colId xmlns:a16="http://schemas.microsoft.com/office/drawing/2014/main" val="2438726272"/>
                        </a:ext>
                      </a:extLst>
                    </a:gridCol>
                  </a:tblGrid>
                  <a:tr h="279526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>
                              <a:solidFill>
                                <a:srgbClr val="152238"/>
                              </a:solidFill>
                            </a:rPr>
                            <a:t>defect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pl-PL" sz="1800" b="0" i="0" smtClean="0">
                                  <a:solidFill>
                                    <a:srgbClr val="152238"/>
                                  </a:solidFill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sSub>
                                <m:sSubPr>
                                  <m:ctrlPr>
                                    <a:rPr lang="pl-PL" sz="1800" b="0" i="1" smtClean="0">
                                      <a:solidFill>
                                        <a:srgbClr val="152238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l-PL" sz="1800" b="0" i="1" smtClean="0">
                                      <a:solidFill>
                                        <a:srgbClr val="152238"/>
                                      </a:solidFill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pl-PL" sz="1800" b="0" i="1" smtClean="0">
                                      <a:solidFill>
                                        <a:srgbClr val="152238"/>
                                      </a:solidFill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[eV]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pl-PL" sz="1800" i="1" dirty="0" smtClean="0">
                                      <a:solidFill>
                                        <a:srgbClr val="152238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l-PL" sz="1800" i="1" dirty="0" smtClean="0">
                                      <a:solidFill>
                                        <a:srgbClr val="152238"/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sz="1800" i="1" dirty="0">
                                      <a:solidFill>
                                        <a:srgbClr val="152238"/>
                                      </a:solidFill>
                                      <a:latin typeface="Cambria Math" panose="02040503050406030204" pitchFamily="18" charset="0"/>
                                    </a:rPr>
                                    <m:t>𝐹𝐶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 [eV]</a:t>
                          </a:r>
                          <a:r>
                            <a:rPr lang="pl-PL" sz="1800" dirty="0">
                              <a:solidFill>
                                <a:srgbClr val="152238"/>
                              </a:solidFill>
                            </a:rPr>
                            <a:t> (PBE)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pl-PL" sz="1800" b="0" i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pl-PL" sz="1800" b="0" i="0" smtClean="0"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pl-PL" sz="1800" b="0" i="0" smtClean="0">
                                      <a:latin typeface="Cambria Math" panose="02040503050406030204" pitchFamily="18" charset="0"/>
                                    </a:rPr>
                                    <m:t>FC</m:t>
                                  </m:r>
                                </m:sub>
                              </m:sSub>
                              <m:r>
                                <a:rPr lang="pl-PL" sz="1800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pl-PL" sz="1800" i="0" dirty="0"/>
                            <a:t>[eV]</a:t>
                          </a:r>
                          <a:r>
                            <a:rPr lang="pl-PL" sz="1800" i="0" baseline="0" dirty="0"/>
                            <a:t> (HSE)</a:t>
                          </a:r>
                          <a:endParaRPr lang="en-US" sz="1800" i="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ZPL [eV]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S (exc/ground)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pl-PL" sz="1800" b="0" i="1" smtClean="0">
                                  <a:latin typeface="Cambria Math" panose="02040503050406030204" pitchFamily="18" charset="0"/>
                                </a:rPr>
                                <m:t>ℏ</m:t>
                              </m:r>
                              <m:sSub>
                                <m:sSubPr>
                                  <m:ctrlPr>
                                    <a:rPr lang="pl-PL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l-PL" sz="1800" b="0" i="1" smtClean="0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pl-PL" sz="1800" b="0" i="1" smtClean="0">
                                      <a:latin typeface="Cambria Math" panose="02040503050406030204" pitchFamily="18" charset="0"/>
                                    </a:rPr>
                                    <m:t>𝑒𝑓𝑓</m:t>
                                  </m:r>
                                </m:sub>
                              </m:sSub>
                              <m:r>
                                <a:rPr lang="pl-PL" sz="1800" b="0" i="1" smtClean="0">
                                  <a:latin typeface="Cambria Math" panose="02040503050406030204" pitchFamily="18" charset="0"/>
                                </a:rPr>
                                <m:t> [</m:t>
                              </m:r>
                              <m:r>
                                <a:rPr lang="pl-PL" sz="1800" b="0" i="1" smtClean="0">
                                  <a:latin typeface="Cambria Math" panose="02040503050406030204" pitchFamily="18" charset="0"/>
                                </a:rPr>
                                <m:t>𝑚𝑒𝑉</m:t>
                              </m:r>
                              <m:r>
                                <a:rPr lang="pl-PL" sz="1800" b="0" i="1" smtClean="0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oMath>
                          </a14:m>
                          <a:r>
                            <a:rPr lang="pl-PL" sz="1800" dirty="0"/>
                            <a:t> (exc/ground)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DW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79526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pl-PL" sz="1800" b="0" i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pl-PL" sz="1800" b="0" i="0" smtClean="0">
                                        <a:latin typeface="Cambria Math" panose="02040503050406030204" pitchFamily="18" charset="0"/>
                                      </a:rPr>
                                      <m:t>C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pl-PL" sz="1800" b="0" i="0" smtClean="0">
                                        <a:latin typeface="Cambria Math" panose="02040503050406030204" pitchFamily="18" charset="0"/>
                                      </a:rPr>
                                      <m:t>B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pl-PL" sz="1800" b="0" i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pl-PL" sz="1800" b="0" i="0" smtClean="0">
                                        <a:latin typeface="Cambria Math" panose="02040503050406030204" pitchFamily="18" charset="0"/>
                                      </a:rPr>
                                      <m:t>C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pl-PL" sz="1800" b="0" i="0" smtClean="0">
                                        <a:latin typeface="Cambria Math" panose="02040503050406030204" pitchFamily="18" charset="0"/>
                                      </a:rPr>
                                      <m:t>N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 i="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0.209 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4.2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1.98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105.714/110.169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0.138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2128582"/>
                      </a:ext>
                    </a:extLst>
                  </a:tr>
                  <a:tr h="279526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pl-PL" sz="1800" b="0" i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pl-PL" sz="1800" b="0" i="0" smtClean="0">
                                        <a:latin typeface="Cambria Math" panose="02040503050406030204" pitchFamily="18" charset="0"/>
                                      </a:rPr>
                                      <m:t>V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pl-PL" sz="1800" b="0" i="0" smtClean="0">
                                        <a:latin typeface="Cambria Math" panose="02040503050406030204" pitchFamily="18" charset="0"/>
                                      </a:rPr>
                                      <m:t>C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pl-PL" sz="1800" b="0" i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pl-PL" sz="1800" b="0" i="0" smtClean="0">
                                        <a:latin typeface="Cambria Math" panose="02040503050406030204" pitchFamily="18" charset="0"/>
                                      </a:rPr>
                                      <m:t>V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pl-PL" sz="1800" b="0" i="0" smtClean="0">
                                        <a:latin typeface="Cambria Math" panose="02040503050406030204" pitchFamily="18" charset="0"/>
                                      </a:rPr>
                                      <m:t>N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 i="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0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79654485"/>
                      </a:ext>
                    </a:extLst>
                  </a:tr>
                  <a:tr h="279526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b="0" dirty="0">
                              <a:solidFill>
                                <a:srgbClr val="152238"/>
                              </a:solidFill>
                            </a:rPr>
                            <a:t>1–2</a:t>
                          </a:r>
                          <a:endParaRPr lang="en-US" sz="1800" b="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0.541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>
                              <a:solidFill>
                                <a:srgbClr val="152238"/>
                              </a:solidFill>
                            </a:rPr>
                            <a:t>2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79526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2–3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2.491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0.4</a:t>
                          </a:r>
                          <a:r>
                            <a:rPr lang="pl-PL" sz="1800" dirty="0">
                              <a:solidFill>
                                <a:srgbClr val="152238"/>
                              </a:solidFill>
                            </a:rPr>
                            <a:t>78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0.698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279526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2–6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1.783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279526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3–4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2.089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0.860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279526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3–8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3.903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0.460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m:rPr>
                                    <m:nor/>
                                  </m:rPr>
                                  <a:rPr lang="pl-PL" sz="1800" i="0" smtClean="0"/>
                                  <m:t>0.776</m:t>
                                </m:r>
                              </m:oMath>
                            </m:oMathPara>
                          </a14:m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279526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4–5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1.213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0.375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0.417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b="0" i="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3.4874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dirty="0"/>
                            <a:t>4.934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84.661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dirty="0"/>
                            <a:t>0.007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279526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4–6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2.150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0.3</a:t>
                          </a:r>
                          <a:r>
                            <a:rPr lang="pl-PL" sz="1800" dirty="0">
                              <a:solidFill>
                                <a:srgbClr val="152238"/>
                              </a:solidFill>
                            </a:rPr>
                            <a:t>52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0.380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b="0" i="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3.3266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3.758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101.210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0.0233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  <a:tr h="279526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4–9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1.842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0.926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8"/>
                      </a:ext>
                    </a:extLst>
                  </a:tr>
                  <a:tr h="279526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6–7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1.131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0.172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0.220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b="0" i="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3.6408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dirty="0"/>
                            <a:t>2.283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96.673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dirty="0"/>
                            <a:t>0.102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Table 0">
                <a:extLst>
                  <a:ext uri="{FF2B5EF4-FFF2-40B4-BE49-F238E27FC236}">
                    <a16:creationId xmlns:a16="http://schemas.microsoft.com/office/drawing/2014/main" id="{799DA7BA-64CB-D316-63C0-0691A4BE2B2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74264868"/>
                  </p:ext>
                </p:extLst>
              </p:nvPr>
            </p:nvGraphicFramePr>
            <p:xfrm>
              <a:off x="0" y="1301495"/>
              <a:ext cx="12090400" cy="4191699"/>
            </p:xfrm>
            <a:graphic>
              <a:graphicData uri="http://schemas.openxmlformats.org/drawingml/2006/table">
                <a:tbl>
                  <a:tblPr/>
                  <a:tblGrid>
                    <a:gridCol w="1016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200727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634837">
                      <a:extLst>
                        <a:ext uri="{9D8B030D-6E8A-4147-A177-3AD203B41FA5}">
                          <a16:colId xmlns:a16="http://schemas.microsoft.com/office/drawing/2014/main" val="3849069576"/>
                        </a:ext>
                      </a:extLst>
                    </a:gridCol>
                    <a:gridCol w="1099127">
                      <a:extLst>
                        <a:ext uri="{9D8B030D-6E8A-4147-A177-3AD203B41FA5}">
                          <a16:colId xmlns:a16="http://schemas.microsoft.com/office/drawing/2014/main" val="1315476976"/>
                        </a:ext>
                      </a:extLst>
                    </a:gridCol>
                    <a:gridCol w="1958109">
                      <a:extLst>
                        <a:ext uri="{9D8B030D-6E8A-4147-A177-3AD203B41FA5}">
                          <a16:colId xmlns:a16="http://schemas.microsoft.com/office/drawing/2014/main" val="1765263700"/>
                        </a:ext>
                      </a:extLst>
                    </a:gridCol>
                    <a:gridCol w="2660073">
                      <a:extLst>
                        <a:ext uri="{9D8B030D-6E8A-4147-A177-3AD203B41FA5}">
                          <a16:colId xmlns:a16="http://schemas.microsoft.com/office/drawing/2014/main" val="764799560"/>
                        </a:ext>
                      </a:extLst>
                    </a:gridCol>
                    <a:gridCol w="895927">
                      <a:extLst>
                        <a:ext uri="{9D8B030D-6E8A-4147-A177-3AD203B41FA5}">
                          <a16:colId xmlns:a16="http://schemas.microsoft.com/office/drawing/2014/main" val="2438726272"/>
                        </a:ext>
                      </a:extLst>
                    </a:gridCol>
                  </a:tblGrid>
                  <a:tr h="369507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>
                              <a:solidFill>
                                <a:srgbClr val="152238"/>
                              </a:solidFill>
                            </a:rPr>
                            <a:t>defect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pl-PL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85279" t="-8197" r="-822843" b="-105901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l-PL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36704" t="-8197" r="-507116" b="-105901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l-PL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35821" t="-8197" r="-405224" b="-105901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ZPL [eV]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S (exc/ground)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pl-PL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20595" t="-8197" r="-33867" b="-105901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DW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47472">
                    <a:tc>
                      <a:txBody>
                        <a:bodyPr/>
                        <a:lstStyle/>
                        <a:p>
                          <a:endParaRPr lang="pl-PL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99" t="-115789" r="-1088623" b="-103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0.209 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4.2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1.98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105.714/110.169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0.138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2128582"/>
                      </a:ext>
                    </a:extLst>
                  </a:tr>
                  <a:tr h="347472">
                    <a:tc>
                      <a:txBody>
                        <a:bodyPr/>
                        <a:lstStyle/>
                        <a:p>
                          <a:endParaRPr lang="pl-PL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99" t="-215789" r="-1088623" b="-93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0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79654485"/>
                      </a:ext>
                    </a:extLst>
                  </a:tr>
                  <a:tr h="347472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b="0" dirty="0">
                              <a:solidFill>
                                <a:srgbClr val="152238"/>
                              </a:solidFill>
                            </a:rPr>
                            <a:t>1–2</a:t>
                          </a:r>
                          <a:endParaRPr lang="en-US" sz="1800" b="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0.541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>
                              <a:solidFill>
                                <a:srgbClr val="152238"/>
                              </a:solidFill>
                            </a:rPr>
                            <a:t>2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47472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2–3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2.491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0.4</a:t>
                          </a:r>
                          <a:r>
                            <a:rPr lang="pl-PL" sz="1800" dirty="0">
                              <a:solidFill>
                                <a:srgbClr val="152238"/>
                              </a:solidFill>
                            </a:rPr>
                            <a:t>78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0.698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47472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2–6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1.783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47472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3–4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2.089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0.860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47472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3–8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3.903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0.460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pl-PL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35821" t="-703448" r="-405224" b="-4241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347472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4–5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1.213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0.375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0.417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b="0" i="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3.4874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dirty="0"/>
                            <a:t>4.934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84.661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dirty="0"/>
                            <a:t>0.007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347472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4–6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2.150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0.3</a:t>
                          </a:r>
                          <a:r>
                            <a:rPr lang="pl-PL" sz="1800" dirty="0">
                              <a:solidFill>
                                <a:srgbClr val="152238"/>
                              </a:solidFill>
                            </a:rPr>
                            <a:t>52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0.380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b="0" i="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3.3266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3.758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101.210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0.0233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  <a:tr h="347472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4–9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1.842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0.926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---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8"/>
                      </a:ext>
                    </a:extLst>
                  </a:tr>
                  <a:tr h="347472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6–7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1.131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800" dirty="0">
                              <a:solidFill>
                                <a:srgbClr val="152238"/>
                              </a:solidFill>
                            </a:rPr>
                            <a:t>0.172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dirty="0"/>
                            <a:t>0.220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b="0" i="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3.6408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dirty="0"/>
                            <a:t>2.283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sz="18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96.673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pl-PL" dirty="0"/>
                            <a:t>0.102</a:t>
                          </a:r>
                          <a:endParaRPr lang="en-US" sz="1800" dirty="0"/>
                        </a:p>
                      </a:txBody>
                      <a:tcPr marL="36576" marR="36576" marT="36576" marB="36576">
                        <a:lnL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080" cap="flat" cmpd="sng" algn="ctr">
                          <a:solidFill>
                            <a:srgbClr val="D4DDE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9" name="Text 4">
            <a:extLst>
              <a:ext uri="{FF2B5EF4-FFF2-40B4-BE49-F238E27FC236}">
                <a16:creationId xmlns:a16="http://schemas.microsoft.com/office/drawing/2014/main" id="{C8FDB436-8724-EC78-F7B4-2E008B844ABC}"/>
              </a:ext>
            </a:extLst>
          </p:cNvPr>
          <p:cNvSpPr/>
          <p:nvPr/>
        </p:nvSpPr>
        <p:spPr>
          <a:xfrm>
            <a:off x="685800" y="6190488"/>
            <a:ext cx="10789920" cy="292608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t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5C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Interpretation used here: the V₂-referenced formation/binding-energy formalism cancels chemical-potential dependence. Δ_FC is treated as a proxy for structural relaxation/electron–phonon coupling strength.</a:t>
            </a:r>
            <a:endParaRPr lang="en-US" sz="920" dirty="0"/>
          </a:p>
        </p:txBody>
      </p:sp>
    </p:spTree>
    <p:extLst>
      <p:ext uri="{BB962C8B-B14F-4D97-AF65-F5344CB8AC3E}">
        <p14:creationId xmlns:p14="http://schemas.microsoft.com/office/powerpoint/2010/main" val="2939851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Text 1"/>
          <p:cNvSpPr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remains to be done in Vilnius / next thesis stage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069848"/>
            <a:ext cx="11155680" cy="0"/>
          </a:xfrm>
          <a:prstGeom prst="line">
            <a:avLst/>
          </a:prstGeom>
          <a:noFill/>
          <a:ln w="12700">
            <a:solidFill>
              <a:srgbClr val="CCD4E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" name="Text 3"/>
          <p:cNvSpPr/>
          <p:nvPr/>
        </p:nvSpPr>
        <p:spPr>
          <a:xfrm>
            <a:off x="502920" y="6510528"/>
            <a:ext cx="9692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A8494"/>
                </a:solidFill>
              </a:rPr>
              <a:t>Franciszek Zabierowski  |  FTMC project discussion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8275320" y="1165860"/>
            <a:ext cx="3383280" cy="4526280"/>
          </a:xfrm>
          <a:prstGeom prst="roundRect">
            <a:avLst>
              <a:gd name="adj" fmla="val 2432"/>
            </a:avLst>
          </a:prstGeom>
          <a:solidFill>
            <a:srgbClr val="FFFFFF"/>
          </a:solidFill>
          <a:ln w="12700">
            <a:solidFill>
              <a:srgbClr val="D4DDEB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" name="Text 5"/>
          <p:cNvSpPr/>
          <p:nvPr/>
        </p:nvSpPr>
        <p:spPr>
          <a:xfrm>
            <a:off x="8439912" y="1293876"/>
            <a:ext cx="3054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52238"/>
                </a:solidFill>
              </a:rPr>
              <a:t>Charge physics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549640" y="1714500"/>
            <a:ext cx="2834640" cy="2743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52238"/>
                </a:solidFill>
              </a:rPr>
              <a:t>Calculate charge-transition levels ε(q/q′)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52238"/>
                </a:solidFill>
              </a:rPr>
              <a:t>Use them to justify focusing on q = 0 for optical calculations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533400" y="1165860"/>
            <a:ext cx="3383280" cy="4526280"/>
          </a:xfrm>
          <a:prstGeom prst="roundRect">
            <a:avLst>
              <a:gd name="adj" fmla="val 2432"/>
            </a:avLst>
          </a:prstGeom>
          <a:solidFill>
            <a:srgbClr val="FFFFFF"/>
          </a:solidFill>
          <a:ln w="12700">
            <a:solidFill>
              <a:srgbClr val="D4DDEB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0" name="Text 8"/>
          <p:cNvSpPr/>
          <p:nvPr/>
        </p:nvSpPr>
        <p:spPr>
          <a:xfrm>
            <a:off x="697992" y="1293876"/>
            <a:ext cx="3054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52238"/>
                </a:solidFill>
              </a:rPr>
              <a:t>Optical fingerprints</a:t>
            </a:r>
            <a:endParaRPr 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 9"/>
              <p:cNvSpPr/>
              <p:nvPr/>
            </p:nvSpPr>
            <p:spPr>
              <a:xfrm>
                <a:off x="807720" y="1714500"/>
                <a:ext cx="2834640" cy="2743200"/>
              </a:xfrm>
              <a:prstGeom prst="rect">
                <a:avLst/>
              </a:prstGeom>
              <a:noFill/>
              <a:ln/>
            </p:spPr>
            <p:txBody>
              <a:bodyPr wrap="square" lIns="381" tIns="381" rIns="381" bIns="381" rtlCol="0" anchor="ctr">
                <a:norm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rgbClr val="152238"/>
                    </a:solidFill>
                  </a:rPr>
                  <a:t>Compute ZPL consistently</a:t>
                </a:r>
                <a:endParaRPr lang="pl-PL" dirty="0">
                  <a:solidFill>
                    <a:srgbClr val="152238"/>
                  </a:solidFill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rgbClr val="152238"/>
                    </a:solidFill>
                  </a:rPr>
                  <a:t>Calculate Huang–Rhys factor and Debye–Waller factor</a:t>
                </a: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rgbClr val="152238"/>
                    </a:solidFill>
                  </a:rPr>
                  <a:t>Generate CCD and PL </a:t>
                </a:r>
                <a:r>
                  <a:rPr lang="en-US" dirty="0" err="1">
                    <a:solidFill>
                      <a:srgbClr val="152238"/>
                    </a:solidFill>
                  </a:rPr>
                  <a:t>lineshapes</a:t>
                </a: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rgbClr val="152238"/>
                    </a:solidFill>
                  </a:rPr>
                  <a:t>Finish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solidFill>
                              <a:srgbClr val="152238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solidFill>
                              <a:srgbClr val="152238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i="1" dirty="0" smtClean="0">
                            <a:solidFill>
                              <a:srgbClr val="152238"/>
                            </a:solidFill>
                            <a:latin typeface="Cambria Math" panose="02040503050406030204" pitchFamily="18" charset="0"/>
                          </a:rPr>
                          <m:t>𝐺𝑆</m:t>
                        </m:r>
                      </m:sub>
                    </m:sSub>
                    <m:r>
                      <a:rPr lang="en-US" i="1" dirty="0" smtClean="0">
                        <a:solidFill>
                          <a:srgbClr val="152238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i="1" dirty="0" smtClean="0">
                            <a:solidFill>
                              <a:srgbClr val="152238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solidFill>
                              <a:srgbClr val="152238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i="1" dirty="0" smtClean="0">
                            <a:solidFill>
                              <a:srgbClr val="152238"/>
                            </a:solidFill>
                            <a:latin typeface="Cambria Math" panose="02040503050406030204" pitchFamily="18" charset="0"/>
                          </a:rPr>
                          <m:t>𝐸𝑆</m:t>
                        </m:r>
                      </m:sub>
                    </m:sSub>
                    <m:r>
                      <a:rPr lang="en-US" i="1" dirty="0" smtClean="0">
                        <a:solidFill>
                          <a:srgbClr val="152238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1" name="Text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7720" y="1714500"/>
                <a:ext cx="2834640" cy="2743200"/>
              </a:xfrm>
              <a:prstGeom prst="rect">
                <a:avLst/>
              </a:prstGeom>
              <a:blipFill>
                <a:blip r:embed="rId3"/>
                <a:stretch>
                  <a:fillRect l="-4731" r="-1720"/>
                </a:stretch>
              </a:blipFill>
              <a:ln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Shape 10"/>
          <p:cNvSpPr/>
          <p:nvPr/>
        </p:nvSpPr>
        <p:spPr>
          <a:xfrm>
            <a:off x="4383024" y="1165860"/>
            <a:ext cx="3429000" cy="452628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4DDEB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3" name="Text 11"/>
          <p:cNvSpPr/>
          <p:nvPr/>
        </p:nvSpPr>
        <p:spPr>
          <a:xfrm>
            <a:off x="4575048" y="1312165"/>
            <a:ext cx="3099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52238"/>
                </a:solidFill>
              </a:rPr>
              <a:t>Extended model space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684776" y="1732789"/>
            <a:ext cx="2880360" cy="2743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52238"/>
                </a:solidFill>
              </a:rPr>
              <a:t>Selected tetramers around V₂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52238"/>
                </a:solidFill>
              </a:rPr>
              <a:t>Additional dimer positions: e.g. 3–9, 4–12</a:t>
            </a:r>
            <a:endParaRPr lang="pl-PL" dirty="0">
              <a:solidFill>
                <a:srgbClr val="152238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dirty="0">
                <a:solidFill>
                  <a:srgbClr val="152238"/>
                </a:solidFill>
              </a:rPr>
              <a:t>Same calculations for selected tetramers and other defects which carbon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60AF3DA69DF24745AE3A88F41386295A" ma:contentTypeVersion="18" ma:contentTypeDescription="Utwórz nowy dokument." ma:contentTypeScope="" ma:versionID="7e35e622b3fde80399b97e9f165bbc6e">
  <xsd:schema xmlns:xsd="http://www.w3.org/2001/XMLSchema" xmlns:xs="http://www.w3.org/2001/XMLSchema" xmlns:p="http://schemas.microsoft.com/office/2006/metadata/properties" xmlns:ns3="123c80d9-fff9-4cf5-afcb-b8ae29d54b3e" xmlns:ns4="41c096cc-bf0d-4db1-a348-1b8ce80b75c8" targetNamespace="http://schemas.microsoft.com/office/2006/metadata/properties" ma:root="true" ma:fieldsID="a282f2b58fc36a0b3fdf2e53d8d81d6c" ns3:_="" ns4:_="">
    <xsd:import namespace="123c80d9-fff9-4cf5-afcb-b8ae29d54b3e"/>
    <xsd:import namespace="41c096cc-bf0d-4db1-a348-1b8ce80b75c8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LengthInSeconds" minOccurs="0"/>
                <xsd:element ref="ns3:_activity" minOccurs="0"/>
                <xsd:element ref="ns3:MediaServiceLocation" minOccurs="0"/>
                <xsd:element ref="ns3:MediaServiceObjectDetectorVersions" minOccurs="0"/>
                <xsd:element ref="ns3:MediaServiceSearchProperties" minOccurs="0"/>
                <xsd:element ref="ns3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23c80d9-fff9-4cf5-afcb-b8ae29d54b3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21" nillable="true" ma:displayName="_activity" ma:hidden="true" ma:internalName="_activity">
      <xsd:simpleType>
        <xsd:restriction base="dms:Note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25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1c096cc-bf0d-4db1-a348-1b8ce80b75c8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Udostępniani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Udostępnione dla — szczegóły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krót wskazówki dotyczącej udostępniania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zawartości"/>
        <xsd:element ref="dc:title" minOccurs="0" maxOccurs="1" ma:index="4" ma:displayName="Tytuł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123c80d9-fff9-4cf5-afcb-b8ae29d54b3e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F7F36A9-32F9-4D3A-B517-2601FF5065C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23c80d9-fff9-4cf5-afcb-b8ae29d54b3e"/>
    <ds:schemaRef ds:uri="41c096cc-bf0d-4db1-a348-1b8ce80b75c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308A285-2CF3-4F33-914D-322A2555236E}">
  <ds:schemaRefs>
    <ds:schemaRef ds:uri="http://purl.org/dc/terms/"/>
    <ds:schemaRef ds:uri="http://schemas.microsoft.com/office/infopath/2007/PartnerControls"/>
    <ds:schemaRef ds:uri="http://schemas.microsoft.com/office/2006/documentManagement/types"/>
    <ds:schemaRef ds:uri="http://purl.org/dc/elements/1.1/"/>
    <ds:schemaRef ds:uri="123c80d9-fff9-4cf5-afcb-b8ae29d54b3e"/>
    <ds:schemaRef ds:uri="http://schemas.microsoft.com/office/2006/metadata/properties"/>
    <ds:schemaRef ds:uri="http://www.w3.org/XML/1998/namespace"/>
    <ds:schemaRef ds:uri="http://purl.org/dc/dcmitype/"/>
    <ds:schemaRef ds:uri="http://schemas.openxmlformats.org/package/2006/metadata/core-properties"/>
    <ds:schemaRef ds:uri="41c096cc-bf0d-4db1-a348-1b8ce80b75c8"/>
  </ds:schemaRefs>
</ds:datastoreItem>
</file>

<file path=customXml/itemProps3.xml><?xml version="1.0" encoding="utf-8"?>
<ds:datastoreItem xmlns:ds="http://schemas.openxmlformats.org/officeDocument/2006/customXml" ds:itemID="{F2AE2B40-0C04-40AA-8A19-932D5F7C838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14439</TotalTime>
  <Words>1740</Words>
  <Application>Microsoft Office PowerPoint</Application>
  <PresentationFormat>Widescreen</PresentationFormat>
  <Paragraphs>487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Aptos</vt:lpstr>
      <vt:lpstr>Aptos Display</vt:lpstr>
      <vt:lpstr>Arial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Warsaw University of Technology / FTMC collaboration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Carbon-decorated divacancies in hBN</dc:title>
  <dc:subject>Carbon-decorated divacancies in hBN</dc:subject>
  <dc:creator>Franciszek Zabierowski / OpenAI draft</dc:creator>
  <cp:lastModifiedBy>Zabierowski Franciszek (STUD)</cp:lastModifiedBy>
  <cp:revision>6</cp:revision>
  <dcterms:created xsi:type="dcterms:W3CDTF">2026-07-13T22:23:27Z</dcterms:created>
  <dcterms:modified xsi:type="dcterms:W3CDTF">2026-08-25T10:13:09Z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0x01010060AF3DA69DF24745AE3A88F41386295A</vt:lpwstr>
  </property>
</Properties>
</file>