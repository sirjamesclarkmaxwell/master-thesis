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4" r:id="rId7"/>
    <p:sldId id="275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6" r:id="rId25"/>
    <p:sldId id="277" r:id="rId2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F3DD7A-13BE-4A54-ACF3-41F495C6D0B6}" v="368" dt="2026-07-08T10:25:52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6534D-19A7-3FC6-1A6A-8A08B9AD9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97B0F-A5EC-95FF-EC10-31C370BF7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DAF68-50AA-110E-B8E3-2BD8F11C5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D53-E9B6-460F-9BE5-4B41DF704AD1}" type="datetimeFigureOut">
              <a:rPr lang="pl-PL" smtClean="0"/>
              <a:t>8.07.2026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37A49-D054-2ABC-9334-2619D8DA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E7FD1-9847-FF7F-C791-82544207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39F-734B-4B62-9727-3301954301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75422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6101B-9CDB-1247-7E03-9F8C39AE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9BAA3-299B-BD15-3026-A00954F65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24B23-EA53-45B0-D55A-0BDDB19E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D53-E9B6-460F-9BE5-4B41DF704AD1}" type="datetimeFigureOut">
              <a:rPr lang="pl-PL" smtClean="0"/>
              <a:t>8.07.2026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48D1A-31F1-4744-1B15-DEE3C206A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6E227-4247-F1D2-5F4F-44557A8C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39F-734B-4B62-9727-3301954301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21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53732-DC1E-0E87-1D53-DE38D0E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30F7B-E768-4867-2023-338930715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5D45D-C188-30A8-5E0D-A5F508556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D53-E9B6-460F-9BE5-4B41DF704AD1}" type="datetimeFigureOut">
              <a:rPr lang="pl-PL" smtClean="0"/>
              <a:t>8.07.2026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C1A59-5E31-E612-E125-F2C63022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B18A4-87E1-FA31-4C54-99939EE9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39F-734B-4B62-9727-3301954301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87538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F74E-43B2-1FB9-89FD-AA5471B5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6DA09-5CBE-4710-1737-A4BAD045F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F1A92-7E9F-CC72-C845-B76054B42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32316-1832-1E04-FA15-DE5F14D89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D53-E9B6-460F-9BE5-4B41DF704AD1}" type="datetimeFigureOut">
              <a:rPr lang="pl-PL" smtClean="0"/>
              <a:t>8.07.2026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0704A-2B4B-44D4-2CD5-D0751219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2DEAD-4A91-866D-5622-A0382B95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39F-734B-4B62-9727-3301954301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837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A8A3-B0F9-D8F5-F3C4-C30BAC03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10D8A-B491-1A0C-25C0-39A54B8AA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74C1F-A538-1748-8E55-51B72D7CD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7A4D6E-3C2D-E04B-D914-99A2C93A9C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64797E-F32A-DF06-C1EF-6A1336B47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702546-ED4E-727A-2AB3-174620F17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D53-E9B6-460F-9BE5-4B41DF704AD1}" type="datetimeFigureOut">
              <a:rPr lang="pl-PL" smtClean="0"/>
              <a:t>8.07.2026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8670A-D4F7-E875-5727-60590F9C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97C6BB-8FF0-A4B2-33D9-6C2BBA66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39F-734B-4B62-9727-3301954301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375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548BD-C8B4-6BF5-E026-93928D702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0440D5-4096-8859-EEC0-C8228F73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D53-E9B6-460F-9BE5-4B41DF704AD1}" type="datetimeFigureOut">
              <a:rPr lang="pl-PL" smtClean="0"/>
              <a:t>8.07.2026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EEC92-0C17-73A6-AADA-64599FE81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FC1D7-FD17-1C79-A2C8-A5E07C55C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39F-734B-4B62-9727-3301954301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878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94A585-9CE6-08A9-6F54-C2ACAFD4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D53-E9B6-460F-9BE5-4B41DF704AD1}" type="datetimeFigureOut">
              <a:rPr lang="pl-PL" smtClean="0"/>
              <a:t>8.07.2026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05C92-477B-3916-B6D7-A46640ABB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C83E0-6A57-28E3-EB27-A0529B15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39F-734B-4B62-9727-3301954301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5009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4A245-81A1-4557-EF15-8C63F475A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8F904-79C6-B416-62AA-0E89DE2F3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BDB49-7DC2-2B49-B9A5-E6E34E389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1A6CA-2949-14C1-AAF1-79166127A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D53-E9B6-460F-9BE5-4B41DF704AD1}" type="datetimeFigureOut">
              <a:rPr lang="pl-PL" smtClean="0"/>
              <a:t>8.07.2026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7270A-FCB6-9E10-025F-E4F3C0B86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17C7F-3CA1-3CCA-F66B-A5D0E1D0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39F-734B-4B62-9727-3301954301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5352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22F7-FE55-3A61-A2DE-70105951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64958-26E2-849E-1BA5-3C229746D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E1ACE-DD30-6BD6-C5E8-D4286E103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5B9E2-0599-1FD4-A071-8D35A3216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D53-E9B6-460F-9BE5-4B41DF704AD1}" type="datetimeFigureOut">
              <a:rPr lang="pl-PL" smtClean="0"/>
              <a:t>8.07.2026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F97A4-0930-8904-0E43-15C50162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89BB9-AE7F-39D8-54F8-FD8C744A5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39F-734B-4B62-9727-3301954301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8584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5BD5-B246-22A6-F765-253F1D51E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E5673-0500-4AAE-824E-04CC94A8D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45AE4-8E93-8996-B34A-225EA2A86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D53-E9B6-460F-9BE5-4B41DF704AD1}" type="datetimeFigureOut">
              <a:rPr lang="pl-PL" smtClean="0"/>
              <a:t>8.07.2026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2F5EB-9205-B8A8-9C3A-A351498F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77E55-1C3F-9CC1-1AB2-432D87CC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39F-734B-4B62-9727-3301954301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69278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DB0596-C12A-008A-86C7-1CF47AD64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CCCA0-BEC4-4E76-5CDF-15FC14D03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4A861-7094-E5F6-B34A-FCF8C1C3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D53-E9B6-460F-9BE5-4B41DF704AD1}" type="datetimeFigureOut">
              <a:rPr lang="pl-PL" smtClean="0"/>
              <a:t>8.07.2026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240D0-D4A9-4138-962B-B99E8EABA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6AD5B-B911-B677-4087-ECC078893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DA39F-734B-4B62-9727-3301954301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7571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D6AFAF-F0DC-1B8A-538B-113F758A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25494-5EDB-79A5-2840-704E5A61A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E5737-1035-BAC0-4DDA-64484C0BED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FD7D53-E9B6-460F-9BE5-4B41DF704AD1}" type="datetimeFigureOut">
              <a:rPr lang="pl-PL" smtClean="0"/>
              <a:t>8.07.2026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E06FD-F8F8-D77E-6551-A2D74187E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29C6D-049D-F333-6DBE-016C3738C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4DA39F-734B-4B62-9727-3301954301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692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74E456-E573-9147-7709-CE273499D227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sSub>
                      <m:sSub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pl-PL"/>
                  <a:t> in hBN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74E456-E573-9147-7709-CE273499D2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2"/>
                <a:stretch>
                  <a:fillRect b="-17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>
            <a:extLst>
              <a:ext uri="{FF2B5EF4-FFF2-40B4-BE49-F238E27FC236}">
                <a16:creationId xmlns:a16="http://schemas.microsoft.com/office/drawing/2014/main" id="{D5F79397-94F6-FAB4-4C3D-835D9A89B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7972" y="6182328"/>
            <a:ext cx="3584028" cy="675672"/>
          </a:xfrm>
        </p:spPr>
        <p:txBody>
          <a:bodyPr/>
          <a:lstStyle/>
          <a:p>
            <a:r>
              <a:rPr lang="pl-PL"/>
              <a:t>Franciszek Zabierowski</a:t>
            </a:r>
          </a:p>
        </p:txBody>
      </p:sp>
    </p:spTree>
    <p:extLst>
      <p:ext uri="{BB962C8B-B14F-4D97-AF65-F5344CB8AC3E}">
        <p14:creationId xmlns:p14="http://schemas.microsoft.com/office/powerpoint/2010/main" val="2991146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C40C-0356-23E9-3507-0D223C06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Di-Vacancy geometry and nomenclature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CC172-C28C-B35F-A120-64D585A96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1" t="20687" r="23698" b="21892"/>
          <a:stretch>
            <a:fillRect/>
          </a:stretch>
        </p:blipFill>
        <p:spPr>
          <a:xfrm>
            <a:off x="7131050" y="2009186"/>
            <a:ext cx="5060950" cy="48488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706446-FD36-4BF0-F62F-C6DADBA9B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2352"/>
            <a:ext cx="6127532" cy="459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62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5B45B-E01F-98C6-5F6F-D25C1CE11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340CD-80B0-306B-4D3C-B3CCFD4F2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l-PL" dirty="0"/>
              <a:t>Carbon dimer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17ECBB-F653-AA52-A972-95B495C0F222}"/>
              </a:ext>
            </a:extLst>
          </p:cNvPr>
          <p:cNvSpPr txBox="1"/>
          <p:nvPr/>
        </p:nvSpPr>
        <p:spPr>
          <a:xfrm>
            <a:off x="0" y="2063175"/>
            <a:ext cx="3765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(HSE)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461BD5-2A20-FD1D-8E33-66513AE1F15A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6722802" cy="8963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:br>
                  <a:rPr lang="pl-PL" sz="2800" b="0" i="0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a:rPr lang="pl-PL" sz="2800" i="1"/>
                        <m:t>-5450.90</m:t>
                      </m:r>
                      <m:r>
                        <m:rPr>
                          <m:nor/>
                        </m:rPr>
                        <a:rPr lang="pl-PL" sz="2800" b="0" i="0" smtClean="0"/>
                        <m:t>8 -</m:t>
                      </m:r>
                      <m:r>
                        <m:rPr>
                          <m:nor/>
                        </m:rPr>
                        <a:rPr lang="pl-PL" sz="2800"/>
                        <m:t>-5451.117</m:t>
                      </m:r>
                      <m:r>
                        <m:rPr>
                          <m:nor/>
                        </m:rPr>
                        <a:rPr lang="pl-PL" sz="2800" b="0" i="0" smtClean="0"/>
                        <m:t> = 0.209 </m:t>
                      </m:r>
                      <m:r>
                        <m:rPr>
                          <m:nor/>
                        </m:rPr>
                        <a:rPr lang="pl-PL" sz="2800" b="0" i="0" smtClean="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HSE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 dirty="0"/>
                </a:br>
                <a:endParaRPr lang="pl-PL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461BD5-2A20-FD1D-8E33-66513AE1F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6722802" cy="8963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E463808-9DD8-EF97-3123-C2FCF58268D9}"/>
              </a:ext>
            </a:extLst>
          </p:cNvPr>
          <p:cNvSpPr txBox="1"/>
          <p:nvPr/>
        </p:nvSpPr>
        <p:spPr>
          <a:xfrm>
            <a:off x="7131050" y="2198422"/>
            <a:ext cx="3829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(HSE)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948D2D-F38B-14F1-ED19-2F06D8181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68575"/>
            <a:ext cx="5794623" cy="40894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000039E-E448-57DD-A2AB-DED905F11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551" y="2652754"/>
            <a:ext cx="5632450" cy="410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9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57CB3-15D9-2236-4B2C-1DB9C9256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B11F4-2470-CDBA-A17B-C51B38677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l-PL" dirty="0"/>
              <a:t>Carbon dimer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F8863-769E-8621-2AA1-1277745BA86A}"/>
              </a:ext>
            </a:extLst>
          </p:cNvPr>
          <p:cNvSpPr txBox="1"/>
          <p:nvPr/>
        </p:nvSpPr>
        <p:spPr>
          <a:xfrm>
            <a:off x="0" y="2063175"/>
            <a:ext cx="3765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(HSE)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ACCDE7-AEA5-DEB7-EE05-916084CFAD5A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6722802" cy="8963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:br>
                  <a:rPr lang="pl-PL" sz="2800" b="0" i="0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a:rPr lang="pl-PL" sz="2800" i="1">
                          <a:latin typeface="Cambria Math" panose="02040503050406030204" pitchFamily="18" charset="0"/>
                        </a:rPr>
                        <m:t>−5450.90</m:t>
                      </m:r>
                      <m:r>
                        <m:rPr>
                          <m:nor/>
                        </m:rPr>
                        <a:rPr lang="pl-PL" sz="2800" b="0" i="0" smtClean="0"/>
                        <m:t>8 −</m:t>
                      </m:r>
                      <m:r>
                        <m:rPr>
                          <m:nor/>
                        </m:rPr>
                        <a:rPr lang="pl-PL" sz="2800"/>
                        <m:t>−5451.117</m:t>
                      </m:r>
                      <m:r>
                        <m:rPr>
                          <m:nor/>
                        </m:rPr>
                        <a:rPr lang="pl-PL" sz="2800" b="0" i="0" smtClean="0"/>
                        <m:t> = 0.209 </m:t>
                      </m:r>
                      <m:r>
                        <m:rPr>
                          <m:nor/>
                        </m:rPr>
                        <a:rPr lang="pl-PL" sz="2800" b="0" i="0" smtClean="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HSE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 dirty="0"/>
                </a:br>
                <a:endParaRPr lang="pl-PL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ACCDE7-AEA5-DEB7-EE05-916084CFA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6722802" cy="896336"/>
              </a:xfrm>
              <a:prstGeom prst="rect">
                <a:avLst/>
              </a:prstGeom>
              <a:blipFill>
                <a:blip r:embed="rId2"/>
                <a:stretch>
                  <a:fillRect r="-426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57BB698-FA55-A873-6D7F-F874FBCAF2A9}"/>
              </a:ext>
            </a:extLst>
          </p:cNvPr>
          <p:cNvSpPr txBox="1"/>
          <p:nvPr/>
        </p:nvSpPr>
        <p:spPr>
          <a:xfrm>
            <a:off x="7131050" y="2063175"/>
            <a:ext cx="3829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(HSE)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687EF9-CC62-46D1-B267-28B76B50A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5" b="4143"/>
          <a:stretch>
            <a:fillRect/>
          </a:stretch>
        </p:blipFill>
        <p:spPr>
          <a:xfrm>
            <a:off x="0" y="3038647"/>
            <a:ext cx="5070708" cy="3819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564F99-01D2-B9FB-E434-97BA19212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543" y="2817455"/>
            <a:ext cx="5356457" cy="404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314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9CC9-4970-8598-DF1F-9DBAA813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/>
              <a:t>1-2 geometry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97D417-FC8A-7250-E983-9BDCB2DCB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2" r="7725"/>
          <a:stretch>
            <a:fillRect/>
          </a:stretch>
        </p:blipFill>
        <p:spPr>
          <a:xfrm>
            <a:off x="0" y="2647950"/>
            <a:ext cx="6192966" cy="4210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0AB3E4-97EB-FDCC-B8B9-DDC379E0F97D}"/>
              </a:ext>
            </a:extLst>
          </p:cNvPr>
          <p:cNvSpPr txBox="1"/>
          <p:nvPr/>
        </p:nvSpPr>
        <p:spPr>
          <a:xfrm>
            <a:off x="0" y="2063175"/>
            <a:ext cx="6432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/>
              <a:t>Ground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F17F88-6BE3-C809-A0EA-789F178F7AB6}"/>
                  </a:ext>
                </a:extLst>
              </p:cNvPr>
              <p:cNvSpPr txBox="1"/>
              <p:nvPr/>
            </p:nvSpPr>
            <p:spPr>
              <a:xfrm>
                <a:off x="5045941" y="164000"/>
                <a:ext cx="7146059" cy="24839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 </m:t>
                      </m:r>
                      <m:r>
                        <m:rPr>
                          <m:nor/>
                        </m:rPr>
                        <a:rPr lang="pl-PL" sz="2800" dirty="0"/>
                        <m:t>−4517.6 − −4519.60 = 2 </m:t>
                      </m:r>
                      <m:r>
                        <m:rPr>
                          <m:nor/>
                        </m:rPr>
                        <a:rPr lang="pl-PL" sz="2800" dirty="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 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 smtClean="0"/>
                        <m:t>−5422.765 − −5424.342 = 1.577 </m:t>
                      </m:r>
                      <m:r>
                        <m:rPr>
                          <m:nor/>
                        </m:rPr>
                        <a:rPr lang="pl-PL" sz="2800" smtClean="0"/>
                        <m:t>eV</m:t>
                      </m:r>
                      <m:r>
                        <m:rPr>
                          <m:nor/>
                        </m:rPr>
                        <a:rPr lang="pl-PL" sz="2800" b="0" i="0" smtClean="0"/>
                        <m:t> 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HSE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/>
                </a:br>
                <a:endParaRPr lang="pl-PL" sz="280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pl-PL" sz="2400" dirty="0"/>
                      <m:t>		</m:t>
                    </m:r>
                    <m:r>
                      <m:rPr>
                        <m:nor/>
                      </m:rPr>
                      <a:rPr lang="pl-PL" sz="2400" dirty="0"/>
                      <m:t>Lack</m:t>
                    </m:r>
                    <m:r>
                      <m:rPr>
                        <m:nor/>
                      </m:rPr>
                      <a:rPr lang="pl-PL" sz="2400" dirty="0"/>
                      <m:t> </m:t>
                    </m:r>
                    <m:r>
                      <m:rPr>
                        <m:nor/>
                      </m:rPr>
                      <a:rPr lang="pl-PL" sz="2400" dirty="0"/>
                      <m:t>of</m:t>
                    </m:r>
                    <m:r>
                      <m:rPr>
                        <m:nor/>
                      </m:rPr>
                      <a:rPr lang="pl-PL" sz="2400" dirty="0"/>
                      <m:t> </m:t>
                    </m:r>
                    <m:r>
                      <m:rPr>
                        <m:nor/>
                      </m:rPr>
                      <a:rPr lang="pl-PL" sz="2400" dirty="0"/>
                      <m:t>convergence</m:t>
                    </m:r>
                    <m:r>
                      <m:rPr>
                        <m:nor/>
                      </m:rPr>
                      <a:rPr lang="pl-PL" sz="2400" dirty="0"/>
                      <m:t> </m:t>
                    </m:r>
                    <m:r>
                      <m:rPr>
                        <m:nor/>
                      </m:rPr>
                      <a:rPr lang="pl-PL" sz="2400" dirty="0"/>
                      <m:t>in</m:t>
                    </m:r>
                    <m:r>
                      <m:rPr>
                        <m:nor/>
                      </m:rPr>
                      <a:rPr lang="pl-PL" sz="2400" dirty="0"/>
                      <m:t> </m:t>
                    </m:r>
                    <m:r>
                      <m:rPr>
                        <m:nor/>
                      </m:rPr>
                      <a:rPr lang="pl-PL" sz="2400" dirty="0"/>
                      <m:t>excited</m:t>
                    </m:r>
                    <m:r>
                      <m:rPr>
                        <m:nor/>
                      </m:rPr>
                      <a:rPr lang="pl-PL" sz="2400" dirty="0"/>
                      <m:t> </m:t>
                    </m:r>
                    <m:r>
                      <m:rPr>
                        <m:nor/>
                      </m:rPr>
                      <a:rPr lang="pl-PL" sz="2400" dirty="0"/>
                      <m:t>state</m:t>
                    </m:r>
                  </m:oMath>
                </a14:m>
                <a:r>
                  <a:rPr lang="pl-PL" sz="2400"/>
                  <a:t> in excited state</a:t>
                </a:r>
              </a:p>
              <a:p>
                <a:endParaRPr lang="pl-PL" sz="2800"/>
              </a:p>
              <a:p>
                <a:endParaRPr lang="pl-PL" sz="2800"/>
              </a:p>
              <a:p>
                <a:endParaRPr lang="pl-PL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F17F88-6BE3-C809-A0EA-789F178F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941" y="164000"/>
                <a:ext cx="7146059" cy="24839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AA5DC11-1475-F75C-055B-4398C79E1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299" y="2526763"/>
            <a:ext cx="5657702" cy="433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68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165DE-97D7-53BA-2513-E1CB6D26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52D51-C93D-00E1-5919-CD87C24A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/>
              <a:t>2-3 geometry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D55F0D-737F-1667-E4D1-91FC874D7E95}"/>
              </a:ext>
            </a:extLst>
          </p:cNvPr>
          <p:cNvSpPr txBox="1"/>
          <p:nvPr/>
        </p:nvSpPr>
        <p:spPr>
          <a:xfrm>
            <a:off x="0" y="2063175"/>
            <a:ext cx="3117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01E437-C7C1-6022-A0E6-9B40DA15189A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7162089" cy="9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 smtClean="0"/>
                        <m:t>−4518.332− −4518.810= 0.478 </m:t>
                      </m:r>
                      <m:r>
                        <m:rPr>
                          <m:nor/>
                        </m:rPr>
                        <a:rPr lang="pl-PL" sz="2800" smtClean="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 smtClean="0"/>
                        <m:t>−5422.094− −5422.792= 0.698 </m:t>
                      </m:r>
                      <m:r>
                        <m:rPr>
                          <m:nor/>
                        </m:rPr>
                        <a:rPr lang="pl-PL" sz="2800" smtClean="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HSE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/>
                </a:br>
                <a:endParaRPr lang="pl-PL" sz="28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01E437-C7C1-6022-A0E6-9B40DA151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7162089" cy="9308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1AE7FA4-7AC1-4B6D-4817-57B806C24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7" r="8680"/>
          <a:stretch>
            <a:fillRect/>
          </a:stretch>
        </p:blipFill>
        <p:spPr>
          <a:xfrm>
            <a:off x="-6350" y="2692400"/>
            <a:ext cx="6102350" cy="4165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414858-B2FC-3F2B-EDF2-016A24980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5" r="5643" b="3129"/>
          <a:stretch>
            <a:fillRect/>
          </a:stretch>
        </p:blipFill>
        <p:spPr>
          <a:xfrm>
            <a:off x="7245350" y="2692400"/>
            <a:ext cx="4991100" cy="4165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2B362F-446B-EC08-92F0-9010052D84C2}"/>
              </a:ext>
            </a:extLst>
          </p:cNvPr>
          <p:cNvSpPr txBox="1"/>
          <p:nvPr/>
        </p:nvSpPr>
        <p:spPr>
          <a:xfrm>
            <a:off x="7131050" y="2198422"/>
            <a:ext cx="3117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</a:t>
            </a:r>
          </a:p>
        </p:txBody>
      </p:sp>
    </p:spTree>
    <p:extLst>
      <p:ext uri="{BB962C8B-B14F-4D97-AF65-F5344CB8AC3E}">
        <p14:creationId xmlns:p14="http://schemas.microsoft.com/office/powerpoint/2010/main" val="1120665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3853-B6A9-5BA2-FFF2-1EA342F2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0B9A8-7E7E-4555-B461-6923F6D9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/>
              <a:t>2-3 geometry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6B1EA-1EF4-BDFA-0C3B-B491A92F9D90}"/>
              </a:ext>
            </a:extLst>
          </p:cNvPr>
          <p:cNvSpPr txBox="1"/>
          <p:nvPr/>
        </p:nvSpPr>
        <p:spPr>
          <a:xfrm>
            <a:off x="0" y="2063175"/>
            <a:ext cx="4251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(PBE)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162833-1CB2-6F66-D89C-D29DFE601320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7162089" cy="9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 smtClean="0"/>
                        <m:t>−4518.332− −4518.810= 0.478 </m:t>
                      </m:r>
                      <m:r>
                        <m:rPr>
                          <m:nor/>
                        </m:rPr>
                        <a:rPr lang="pl-PL" sz="2800" smtClean="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 smtClean="0"/>
                        <m:t>−5422.094− −5422.792= 0.698 </m:t>
                      </m:r>
                      <m:r>
                        <m:rPr>
                          <m:nor/>
                        </m:rPr>
                        <a:rPr lang="pl-PL" sz="2800" smtClean="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HSE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/>
                </a:br>
                <a:endParaRPr lang="pl-PL" sz="28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162833-1CB2-6F66-D89C-D29DFE601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7162089" cy="9308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6AAC5EE-CD82-CDE7-3139-B7AF020CB598}"/>
              </a:ext>
            </a:extLst>
          </p:cNvPr>
          <p:cNvSpPr txBox="1"/>
          <p:nvPr/>
        </p:nvSpPr>
        <p:spPr>
          <a:xfrm>
            <a:off x="7131050" y="2198422"/>
            <a:ext cx="40677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(PBE)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84F84-4559-28EE-8B7E-9B45CD9A01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15"/>
          <a:stretch>
            <a:fillRect/>
          </a:stretch>
        </p:blipFill>
        <p:spPr>
          <a:xfrm>
            <a:off x="6711950" y="2733518"/>
            <a:ext cx="5188178" cy="4052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F71DC9-7408-3091-DC8C-52E8D493C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0" y="2862165"/>
            <a:ext cx="5315179" cy="399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86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F084-104B-2298-4821-5ABE7FDC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84D1-196C-A4CD-844E-A40FEA3B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/>
              <a:t>2-6 geometry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32D58-ED80-F402-2651-816E60BAC23C}"/>
              </a:ext>
            </a:extLst>
          </p:cNvPr>
          <p:cNvSpPr txBox="1"/>
          <p:nvPr/>
        </p:nvSpPr>
        <p:spPr>
          <a:xfrm>
            <a:off x="0" y="2063175"/>
            <a:ext cx="3117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/>
              <a:t>Ground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6DBA4E-D085-181E-9D1C-99AFA71BCCE9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4545988" cy="9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a:rPr lang="pl-PL" sz="2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a:rPr lang="pl-PL" sz="2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HSE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/>
                </a:br>
                <a:endParaRPr lang="pl-PL" sz="28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6DBA4E-D085-181E-9D1C-99AFA71BC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4545988" cy="9308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D0433FE-3FD8-82AE-DD4A-B4A3AB6B4151}"/>
              </a:ext>
            </a:extLst>
          </p:cNvPr>
          <p:cNvSpPr txBox="1"/>
          <p:nvPr/>
        </p:nvSpPr>
        <p:spPr>
          <a:xfrm>
            <a:off x="7131049" y="2198422"/>
            <a:ext cx="43830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</a:t>
            </a:r>
            <a:br>
              <a:rPr lang="pl-PL" sz="3200" dirty="0"/>
            </a:br>
            <a:r>
              <a:rPr lang="pl-PL" sz="2400" dirty="0"/>
              <a:t>lack of convergance</a:t>
            </a:r>
            <a:endParaRPr lang="pl-PL" sz="3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96911D5-DB0A-899E-DB7C-08D45A002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06110"/>
            <a:ext cx="5526731" cy="395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14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49D8-898E-1EEA-D660-C91C74673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86A39-37D9-69D1-F6B1-502DCC4F9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 dirty="0"/>
              <a:t>3-4 geometry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3AA4CC-941B-10DE-5160-F38DB6687F5A}"/>
              </a:ext>
            </a:extLst>
          </p:cNvPr>
          <p:cNvSpPr txBox="1"/>
          <p:nvPr/>
        </p:nvSpPr>
        <p:spPr>
          <a:xfrm>
            <a:off x="0" y="2063175"/>
            <a:ext cx="5617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(HSE)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EC5429-466A-710B-1F89-FCEBEC2B7CD8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6585842" cy="13616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/>
                        <m:t>-4519.41 - -4520.27 = 0.86 </m:t>
                      </m:r>
                      <m:r>
                        <m:rPr>
                          <m:nor/>
                        </m:rPr>
                        <a:rPr lang="pl-PL" sz="280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 i="0" dirty="0">
                    <a:latin typeface="Cambria Math" panose="02040503050406030204" pitchFamily="18" charset="0"/>
                  </a:rPr>
                </a:br>
                <a:r>
                  <a:rPr lang="pl-PL" sz="2800" b="0" i="0" dirty="0"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  <m:r>
                      <m:rPr>
                        <m:nor/>
                      </m:rPr>
                      <a:rPr lang="pl-PL" sz="2800" b="0" i="0" dirty="0" smtClean="0"/>
                      <m:t> =</m:t>
                    </m:r>
                    <m:r>
                      <a:rPr lang="pl-PL" sz="2800" i="1" smtClean="0"/>
                      <m:t> </m:t>
                    </m:r>
                    <m:r>
                      <m:rPr>
                        <m:nor/>
                      </m:rPr>
                      <a:rPr lang="pl-PL" sz="2800" b="0" i="0" dirty="0" smtClean="0"/>
                      <m:t>(</m:t>
                    </m:r>
                    <m:r>
                      <m:rPr>
                        <m:nor/>
                      </m:rPr>
                      <a:rPr lang="pl-PL" sz="2800" b="0" i="0" dirty="0" smtClean="0"/>
                      <m:t>HSE</m:t>
                    </m:r>
                    <m:r>
                      <m:rPr>
                        <m:nor/>
                      </m:rPr>
                      <a:rPr lang="pl-PL" sz="2800" b="0" i="0" dirty="0" smtClean="0"/>
                      <m:t>)</m:t>
                    </m:r>
                  </m:oMath>
                </a14:m>
                <a:r>
                  <a:rPr lang="pl-PL" sz="2800" b="0" dirty="0"/>
                  <a:t> lack of convergance</a:t>
                </a:r>
                <a:br>
                  <a:rPr lang="pl-PL" sz="2800" b="0" dirty="0"/>
                </a:br>
                <a:endParaRPr lang="pl-PL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EC5429-466A-710B-1F89-FCEBEC2B7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6585842" cy="13616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A5F2ACA-4DC2-4C94-BE7C-727901B9DC65}"/>
              </a:ext>
            </a:extLst>
          </p:cNvPr>
          <p:cNvSpPr txBox="1"/>
          <p:nvPr/>
        </p:nvSpPr>
        <p:spPr>
          <a:xfrm>
            <a:off x="7131050" y="2198422"/>
            <a:ext cx="4551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(HSE)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625EE7-5445-7157-33E9-B9FEAEE54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0341"/>
            <a:ext cx="5617779" cy="406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739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86437-1113-0AE3-B147-F25E0D3C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66063-54ED-E2A4-D9CC-6516B217B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 dirty="0"/>
              <a:t>3-4 geometry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15CEC5-E567-0B00-5641-46C0EBF15B2E}"/>
              </a:ext>
            </a:extLst>
          </p:cNvPr>
          <p:cNvSpPr txBox="1"/>
          <p:nvPr/>
        </p:nvSpPr>
        <p:spPr>
          <a:xfrm>
            <a:off x="0" y="2063175"/>
            <a:ext cx="5617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(PBE)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FA32E8-C694-A102-0072-0A616B87BE87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6585842" cy="13616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/>
                        <m:t>−4519.41 − −4520.27 = 0.86 </m:t>
                      </m:r>
                      <m:r>
                        <m:rPr>
                          <m:nor/>
                        </m:rPr>
                        <a:rPr lang="pl-PL" sz="280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 i="0" dirty="0">
                    <a:latin typeface="Cambria Math" panose="02040503050406030204" pitchFamily="18" charset="0"/>
                  </a:rPr>
                </a:br>
                <a:r>
                  <a:rPr lang="pl-PL" sz="2800" b="0" i="0" dirty="0"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  <m:r>
                      <m:rPr>
                        <m:nor/>
                      </m:rPr>
                      <a:rPr lang="pl-PL" sz="2800" b="0" i="0" dirty="0" smtClean="0"/>
                      <m:t> =</m:t>
                    </m:r>
                    <m:r>
                      <a:rPr lang="pl-PL" sz="28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l-PL" sz="2800" b="0" i="0" dirty="0" smtClean="0"/>
                      <m:t>(</m:t>
                    </m:r>
                    <m:r>
                      <m:rPr>
                        <m:nor/>
                      </m:rPr>
                      <a:rPr lang="pl-PL" sz="2800" b="0" i="0" dirty="0" smtClean="0"/>
                      <m:t>HSE</m:t>
                    </m:r>
                    <m:r>
                      <m:rPr>
                        <m:nor/>
                      </m:rPr>
                      <a:rPr lang="pl-PL" sz="2800" b="0" i="0" dirty="0" smtClean="0"/>
                      <m:t>)</m:t>
                    </m:r>
                  </m:oMath>
                </a14:m>
                <a:r>
                  <a:rPr lang="pl-PL" sz="2800" b="0" dirty="0"/>
                  <a:t> lack of convergance</a:t>
                </a:r>
                <a:br>
                  <a:rPr lang="pl-PL" sz="2800" b="0" dirty="0"/>
                </a:br>
                <a:endParaRPr lang="pl-PL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FA32E8-C694-A102-0072-0A616B87B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6585842" cy="13616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CB05350-8D84-B7FB-531D-3029CE187933}"/>
              </a:ext>
            </a:extLst>
          </p:cNvPr>
          <p:cNvSpPr txBox="1"/>
          <p:nvPr/>
        </p:nvSpPr>
        <p:spPr>
          <a:xfrm>
            <a:off x="7131050" y="2198422"/>
            <a:ext cx="4246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(PBE)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E00043-7023-758D-50E0-936863408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727793"/>
            <a:ext cx="5384659" cy="40676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9E4BDF-2BA4-400E-A517-9FE06AE1F4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11" y="2782049"/>
            <a:ext cx="5052630" cy="396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10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A30B5-EF63-2D44-6B07-4DA23C30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A5AD2-BC86-1BE2-1E3D-B3D2409F4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 dirty="0"/>
              <a:t>3-8 geometry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D237CA-B38A-084C-EDE0-379DF98BF2DE}"/>
              </a:ext>
            </a:extLst>
          </p:cNvPr>
          <p:cNvSpPr txBox="1"/>
          <p:nvPr/>
        </p:nvSpPr>
        <p:spPr>
          <a:xfrm>
            <a:off x="0" y="2063175"/>
            <a:ext cx="5617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(HSE)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581A9D-2A6F-817A-E22B-4248EF24455F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7277505" cy="9307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/>
                        <m:t>-4519.234- -4519.700= 0.466 </m:t>
                      </m:r>
                      <m:r>
                        <m:rPr>
                          <m:nor/>
                        </m:rPr>
                        <a:rPr lang="pl-PL" sz="2800"/>
                        <m:t>eV</m:t>
                      </m:r>
                      <m:r>
                        <m:rPr>
                          <m:nor/>
                        </m:rPr>
                        <a:rPr lang="pl-PL" sz="2800" b="0" i="0" smtClean="0"/>
                        <m:t> 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 i="0" dirty="0">
                    <a:latin typeface="Cambria Math" panose="02040503050406030204" pitchFamily="18" charset="0"/>
                  </a:rPr>
                </a:br>
                <a:r>
                  <a:rPr lang="pl-PL" sz="2800" b="0" i="0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800" b="0" i="0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pl-PL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  <m:r>
                      <m:rPr>
                        <m:nor/>
                      </m:rPr>
                      <a:rPr lang="pl-PL" sz="2800" b="0" i="0" dirty="0" smtClean="0"/>
                      <m:t> =</m:t>
                    </m:r>
                    <m:r>
                      <m:rPr>
                        <m:nor/>
                      </m:rPr>
                      <a:rPr lang="pl-PL" sz="2800"/>
                      <m:t>-5423.089- -5423.866= 0.776 </m:t>
                    </m:r>
                    <m:r>
                      <m:rPr>
                        <m:nor/>
                      </m:rPr>
                      <a:rPr lang="pl-PL" sz="2800"/>
                      <m:t>eV</m:t>
                    </m:r>
                    <m:r>
                      <m:rPr>
                        <m:nor/>
                      </m:rPr>
                      <a:rPr lang="pl-PL" sz="2800" b="0" i="0" smtClean="0"/>
                      <m:t> </m:t>
                    </m:r>
                    <m:r>
                      <m:rPr>
                        <m:nor/>
                      </m:rPr>
                      <a:rPr lang="pl-PL" sz="2800" b="0" i="0" dirty="0" smtClean="0"/>
                      <m:t>(</m:t>
                    </m:r>
                    <m:r>
                      <m:rPr>
                        <m:nor/>
                      </m:rPr>
                      <a:rPr lang="pl-PL" sz="2800" b="0" i="0" dirty="0" smtClean="0"/>
                      <m:t>HSE</m:t>
                    </m:r>
                    <m:r>
                      <m:rPr>
                        <m:nor/>
                      </m:rPr>
                      <a:rPr lang="pl-PL" sz="2800" b="0" i="0" dirty="0" smtClean="0"/>
                      <m:t>)</m:t>
                    </m:r>
                  </m:oMath>
                </a14:m>
                <a:endParaRPr lang="pl-PL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581A9D-2A6F-817A-E22B-4248EF244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7277505" cy="9307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38CAA75-F6B4-61C7-38E1-90556994B880}"/>
              </a:ext>
            </a:extLst>
          </p:cNvPr>
          <p:cNvSpPr txBox="1"/>
          <p:nvPr/>
        </p:nvSpPr>
        <p:spPr>
          <a:xfrm>
            <a:off x="7098966" y="2063174"/>
            <a:ext cx="4551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(HSE)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310908-D070-2774-9E98-2BC5F0857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37640"/>
            <a:ext cx="5485493" cy="39203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CA08E9-038D-62E6-DEAB-40EDD24C6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8966" y="2719909"/>
            <a:ext cx="5093034" cy="413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10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97154-66B1-4043-E8A1-933D6624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74747-1427-C06B-78B0-51D544404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 dirty="0"/>
              <a:t>3-8 geometry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596C5F-F737-4A26-D2CA-20EF3D230745}"/>
              </a:ext>
            </a:extLst>
          </p:cNvPr>
          <p:cNvSpPr txBox="1"/>
          <p:nvPr/>
        </p:nvSpPr>
        <p:spPr>
          <a:xfrm>
            <a:off x="0" y="2063175"/>
            <a:ext cx="5617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(PBE)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EAE0FC-7001-4014-79A4-7E85F5FCF2A3}"/>
              </a:ext>
            </a:extLst>
          </p:cNvPr>
          <p:cNvSpPr txBox="1"/>
          <p:nvPr/>
        </p:nvSpPr>
        <p:spPr>
          <a:xfrm>
            <a:off x="7131050" y="2198422"/>
            <a:ext cx="4246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(PBE)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87FC21-F994-6911-F106-E686CBD4FA44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7277505" cy="9307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/>
                        <m:t>−4519.234− −4519.700= 0.466 </m:t>
                      </m:r>
                      <m:r>
                        <m:rPr>
                          <m:nor/>
                        </m:rPr>
                        <a:rPr lang="pl-PL" sz="2800"/>
                        <m:t>eV</m:t>
                      </m:r>
                      <m:r>
                        <m:rPr>
                          <m:nor/>
                        </m:rPr>
                        <a:rPr lang="pl-PL" sz="2800" b="0" i="0" smtClean="0"/>
                        <m:t> 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 i="0" dirty="0">
                    <a:latin typeface="Cambria Math" panose="02040503050406030204" pitchFamily="18" charset="0"/>
                  </a:rPr>
                </a:br>
                <a:r>
                  <a:rPr lang="pl-PL" sz="2800" b="0" i="0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800" b="0" i="0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pl-PL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  <m:r>
                      <m:rPr>
                        <m:nor/>
                      </m:rPr>
                      <a:rPr lang="pl-PL" sz="2800" b="0" i="0" dirty="0" smtClean="0"/>
                      <m:t> =</m:t>
                    </m:r>
                    <m:r>
                      <m:rPr>
                        <m:nor/>
                      </m:rPr>
                      <a:rPr lang="pl-PL" sz="2800"/>
                      <m:t>−5423.089− −5423.866= 0.776 </m:t>
                    </m:r>
                    <m:r>
                      <m:rPr>
                        <m:nor/>
                      </m:rPr>
                      <a:rPr lang="pl-PL" sz="2800"/>
                      <m:t>eV</m:t>
                    </m:r>
                    <m:r>
                      <m:rPr>
                        <m:nor/>
                      </m:rPr>
                      <a:rPr lang="pl-PL" sz="2800" b="0" i="0" smtClean="0"/>
                      <m:t> </m:t>
                    </m:r>
                    <m:r>
                      <m:rPr>
                        <m:nor/>
                      </m:rPr>
                      <a:rPr lang="pl-PL" sz="2800" b="0" i="0" dirty="0" smtClean="0"/>
                      <m:t>(</m:t>
                    </m:r>
                    <m:r>
                      <m:rPr>
                        <m:nor/>
                      </m:rPr>
                      <a:rPr lang="pl-PL" sz="2800" b="0" i="0" dirty="0" smtClean="0"/>
                      <m:t>HSE</m:t>
                    </m:r>
                    <m:r>
                      <m:rPr>
                        <m:nor/>
                      </m:rPr>
                      <a:rPr lang="pl-PL" sz="2800" b="0" i="0" dirty="0" smtClean="0"/>
                      <m:t>)</m:t>
                    </m:r>
                  </m:oMath>
                </a14:m>
                <a:endParaRPr lang="pl-PL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87FC21-F994-6911-F106-E686CBD4F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7277505" cy="9307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01401979-6890-F503-E5B8-88C58D4FB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67050"/>
            <a:ext cx="5213914" cy="37909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2AB79A-284C-09AA-150C-9FCEA2822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688" y="2983662"/>
            <a:ext cx="5020681" cy="38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60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5AAB3-8025-0DB2-32A0-CF41839A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40E98-757D-9D92-D2AD-4C879E7B4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 dirty="0"/>
              <a:t>4-5 geometry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72A06-190B-12BD-4462-F8E4CEDAC656}"/>
              </a:ext>
            </a:extLst>
          </p:cNvPr>
          <p:cNvSpPr txBox="1"/>
          <p:nvPr/>
        </p:nvSpPr>
        <p:spPr>
          <a:xfrm>
            <a:off x="0" y="2063175"/>
            <a:ext cx="5617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(HSE)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E19125-CD83-9697-F8DB-79234290852B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7457041" cy="9307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/>
                        <m:t>-4517.193 - -4517.567 = 0.374 </m:t>
                      </m:r>
                      <m:r>
                        <m:rPr>
                          <m:nor/>
                        </m:rPr>
                        <a:rPr lang="pl-PL" sz="280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 i="0" dirty="0">
                    <a:latin typeface="Cambria Math" panose="02040503050406030204" pitchFamily="18" charset="0"/>
                  </a:rPr>
                </a:br>
                <a:r>
                  <a:rPr lang="pl-PL" sz="2800" b="0" i="0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800" b="0" i="0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pl-PL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  <m:r>
                      <m:rPr>
                        <m:nor/>
                      </m:rPr>
                      <a:rPr lang="pl-PL" sz="2800" b="0" i="0" dirty="0" smtClean="0"/>
                      <m:t> =</m:t>
                    </m:r>
                    <m:r>
                      <m:rPr>
                        <m:nor/>
                      </m:rPr>
                      <a:rPr lang="pl-PL" sz="2800"/>
                      <m:t>-5420.942</m:t>
                    </m:r>
                    <m:r>
                      <m:rPr>
                        <m:nor/>
                      </m:rPr>
                      <a:rPr lang="pl-PL" sz="2800" b="0" i="0" smtClean="0"/>
                      <m:t> </m:t>
                    </m:r>
                    <m:r>
                      <m:rPr>
                        <m:nor/>
                      </m:rPr>
                      <a:rPr lang="pl-PL" sz="2800"/>
                      <m:t>- -5421.360 = 0.417 </m:t>
                    </m:r>
                    <m:r>
                      <m:rPr>
                        <m:nor/>
                      </m:rPr>
                      <a:rPr lang="pl-PL" sz="2800"/>
                      <m:t>eV</m:t>
                    </m:r>
                    <m:r>
                      <m:rPr>
                        <m:nor/>
                      </m:rPr>
                      <a:rPr lang="pl-PL" sz="2800" b="0" i="0" dirty="0" smtClean="0"/>
                      <m:t>(</m:t>
                    </m:r>
                    <m:r>
                      <m:rPr>
                        <m:nor/>
                      </m:rPr>
                      <a:rPr lang="pl-PL" sz="2800" b="0" i="0" dirty="0" smtClean="0"/>
                      <m:t>HSE</m:t>
                    </m:r>
                    <m:r>
                      <m:rPr>
                        <m:nor/>
                      </m:rPr>
                      <a:rPr lang="pl-PL" sz="2800" b="0" i="0" dirty="0" smtClean="0"/>
                      <m:t>)</m:t>
                    </m:r>
                  </m:oMath>
                </a14:m>
                <a:endParaRPr lang="pl-PL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E19125-CD83-9697-F8DB-792342908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7457041" cy="9307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3D55C5C-1A16-DA18-4119-9427FA4AB3F1}"/>
              </a:ext>
            </a:extLst>
          </p:cNvPr>
          <p:cNvSpPr txBox="1"/>
          <p:nvPr/>
        </p:nvSpPr>
        <p:spPr>
          <a:xfrm>
            <a:off x="7098966" y="2063174"/>
            <a:ext cx="4551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(HSE)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939741-8E1B-E948-829A-637141A1C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69998"/>
            <a:ext cx="5124450" cy="4188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C83F5C-3434-3C23-05B7-F90C08124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00" y="2611414"/>
            <a:ext cx="5689600" cy="424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9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3D9A0-0BBA-2B50-DEB0-288853BBD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4FA674-7621-DDD1-0CF3-CF2A5C3923A5}"/>
              </a:ext>
            </a:extLst>
          </p:cNvPr>
          <p:cNvSpPr txBox="1"/>
          <p:nvPr/>
        </p:nvSpPr>
        <p:spPr>
          <a:xfrm>
            <a:off x="0" y="2063175"/>
            <a:ext cx="5617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(PBE)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7BA9F7-0AE8-3847-548D-1976DAFC69D1}"/>
              </a:ext>
            </a:extLst>
          </p:cNvPr>
          <p:cNvSpPr txBox="1"/>
          <p:nvPr/>
        </p:nvSpPr>
        <p:spPr>
          <a:xfrm>
            <a:off x="7131050" y="2198422"/>
            <a:ext cx="4246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(PBE)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CE3E976-EE9A-D009-7450-CA2D69A1D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 dirty="0"/>
              <a:t>4-5 geometry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DBC776-F4A6-25E5-E36B-B4A34BBD6A78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7457041" cy="9307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/>
                        <m:t>-4517.193 - -4517.567 = 0.374 </m:t>
                      </m:r>
                      <m:r>
                        <m:rPr>
                          <m:nor/>
                        </m:rPr>
                        <a:rPr lang="pl-PL" sz="280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 i="0" dirty="0">
                    <a:latin typeface="Cambria Math" panose="02040503050406030204" pitchFamily="18" charset="0"/>
                  </a:rPr>
                </a:br>
                <a:r>
                  <a:rPr lang="pl-PL" sz="2800" b="0" i="0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800" b="0" i="0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pl-PL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  <m:r>
                      <m:rPr>
                        <m:nor/>
                      </m:rPr>
                      <a:rPr lang="pl-PL" sz="2800" b="0" i="0" dirty="0" smtClean="0"/>
                      <m:t> =</m:t>
                    </m:r>
                    <m:r>
                      <m:rPr>
                        <m:nor/>
                      </m:rPr>
                      <a:rPr lang="pl-PL" sz="2800"/>
                      <m:t>-5420.942</m:t>
                    </m:r>
                    <m:r>
                      <m:rPr>
                        <m:nor/>
                      </m:rPr>
                      <a:rPr lang="pl-PL" sz="2800" b="0" i="0" smtClean="0"/>
                      <m:t> </m:t>
                    </m:r>
                    <m:r>
                      <m:rPr>
                        <m:nor/>
                      </m:rPr>
                      <a:rPr lang="pl-PL" sz="2800"/>
                      <m:t>- -5421.360 = 0.417 </m:t>
                    </m:r>
                    <m:r>
                      <m:rPr>
                        <m:nor/>
                      </m:rPr>
                      <a:rPr lang="pl-PL" sz="2800"/>
                      <m:t>eV</m:t>
                    </m:r>
                    <m:r>
                      <m:rPr>
                        <m:nor/>
                      </m:rPr>
                      <a:rPr lang="pl-PL" sz="2800" b="0" i="0" dirty="0" smtClean="0"/>
                      <m:t>(</m:t>
                    </m:r>
                    <m:r>
                      <m:rPr>
                        <m:nor/>
                      </m:rPr>
                      <a:rPr lang="pl-PL" sz="2800" b="0" i="0" dirty="0" smtClean="0"/>
                      <m:t>HSE</m:t>
                    </m:r>
                    <m:r>
                      <m:rPr>
                        <m:nor/>
                      </m:rPr>
                      <a:rPr lang="pl-PL" sz="2800" b="0" i="0" dirty="0" smtClean="0"/>
                      <m:t>)</m:t>
                    </m:r>
                  </m:oMath>
                </a14:m>
                <a:endParaRPr lang="pl-PL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DBC776-F4A6-25E5-E36B-B4A34BBD6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7457041" cy="9307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658D8027-B9EC-29C5-0907-09A881A31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40055"/>
            <a:ext cx="5617778" cy="391794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361733B-A49B-9B94-A296-E91EE2061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0" y="2861096"/>
            <a:ext cx="5397500" cy="39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84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E032-64B1-3CF0-3216-ED83DF4B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31341-366A-A666-F11F-CDFBCC9A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 dirty="0"/>
              <a:t>4-6 geometry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F5E20-4EDA-1B00-68A6-0AFC89CCAD78}"/>
              </a:ext>
            </a:extLst>
          </p:cNvPr>
          <p:cNvSpPr txBox="1"/>
          <p:nvPr/>
        </p:nvSpPr>
        <p:spPr>
          <a:xfrm>
            <a:off x="0" y="2063175"/>
            <a:ext cx="5617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(HSE)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69C2C5-CC0B-0092-400F-D8238537B094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7192546" cy="9307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/>
                        <m:t>-4518.269- -4518.621 = 0.352 </m:t>
                      </m:r>
                      <m:r>
                        <m:rPr>
                          <m:nor/>
                        </m:rPr>
                        <a:rPr lang="pl-PL" sz="280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 i="0" dirty="0">
                    <a:latin typeface="Cambria Math" panose="02040503050406030204" pitchFamily="18" charset="0"/>
                  </a:rPr>
                </a:br>
                <a:r>
                  <a:rPr lang="pl-PL" sz="2800" b="0" i="0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800" b="0" i="0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pl-PL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  <m:r>
                      <m:rPr>
                        <m:nor/>
                      </m:rPr>
                      <a:rPr lang="pl-PL" sz="2800" b="0" i="0" dirty="0" smtClean="0"/>
                      <m:t> =</m:t>
                    </m:r>
                    <m:r>
                      <m:rPr>
                        <m:nor/>
                      </m:rPr>
                      <a:rPr lang="pl-PL" sz="2800"/>
                      <m:t>-5422.076- -5422.456= 0.380 </m:t>
                    </m:r>
                    <m:r>
                      <m:rPr>
                        <m:nor/>
                      </m:rPr>
                      <a:rPr lang="pl-PL" sz="2800"/>
                      <m:t>eV</m:t>
                    </m:r>
                    <m:r>
                      <m:rPr>
                        <m:nor/>
                      </m:rPr>
                      <a:rPr lang="pl-PL" sz="2800" b="0" i="0" dirty="0" smtClean="0"/>
                      <m:t>(</m:t>
                    </m:r>
                    <m:r>
                      <m:rPr>
                        <m:nor/>
                      </m:rPr>
                      <a:rPr lang="pl-PL" sz="2800" b="0" i="0" dirty="0" smtClean="0"/>
                      <m:t>HSE</m:t>
                    </m:r>
                    <m:r>
                      <m:rPr>
                        <m:nor/>
                      </m:rPr>
                      <a:rPr lang="pl-PL" sz="2800" b="0" i="0" dirty="0" smtClean="0"/>
                      <m:t>)</m:t>
                    </m:r>
                  </m:oMath>
                </a14:m>
                <a:endParaRPr lang="pl-PL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69C2C5-CC0B-0092-400F-D8238537B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7192546" cy="9307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62CB4A7-E065-0DC6-12EA-318B07842AFC}"/>
              </a:ext>
            </a:extLst>
          </p:cNvPr>
          <p:cNvSpPr txBox="1"/>
          <p:nvPr/>
        </p:nvSpPr>
        <p:spPr>
          <a:xfrm>
            <a:off x="7098966" y="2063174"/>
            <a:ext cx="4551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(HSE)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3510B-9F5E-C5AB-23E0-993C800C1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47949"/>
            <a:ext cx="5528771" cy="42100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853479-C2AD-EC77-463D-FC90AE46A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945" y="2647949"/>
            <a:ext cx="5697239" cy="42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4777C-D278-E753-FFBA-43DA74D7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64DD8B-C370-4D68-7AAC-6E73A8F1E1EF}"/>
              </a:ext>
            </a:extLst>
          </p:cNvPr>
          <p:cNvSpPr txBox="1"/>
          <p:nvPr/>
        </p:nvSpPr>
        <p:spPr>
          <a:xfrm>
            <a:off x="0" y="2063175"/>
            <a:ext cx="5617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(PBE)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178D8B-0648-8161-3C4A-F61DDA5D1BD4}"/>
              </a:ext>
            </a:extLst>
          </p:cNvPr>
          <p:cNvSpPr txBox="1"/>
          <p:nvPr/>
        </p:nvSpPr>
        <p:spPr>
          <a:xfrm>
            <a:off x="7131050" y="2198422"/>
            <a:ext cx="4246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(PBE)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8BA66E-E0F1-E6D8-D598-D11315086633}"/>
              </a:ext>
            </a:extLst>
          </p:cNvPr>
          <p:cNvSpPr txBox="1">
            <a:spLocks/>
          </p:cNvSpPr>
          <p:nvPr/>
        </p:nvSpPr>
        <p:spPr>
          <a:xfrm>
            <a:off x="0" y="-2317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/>
              <a:t>4-6 geometry</a:t>
            </a:r>
            <a:endParaRPr lang="pl-P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2CDCAF-6C3A-A784-C9D3-19267AEBF3EF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7192546" cy="9307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/>
                        <m:t>-4518.269- -4518.621 = 0.352 </m:t>
                      </m:r>
                      <m:r>
                        <m:rPr>
                          <m:nor/>
                        </m:rPr>
                        <a:rPr lang="pl-PL" sz="280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 i="0" dirty="0">
                    <a:latin typeface="Cambria Math" panose="02040503050406030204" pitchFamily="18" charset="0"/>
                  </a:rPr>
                </a:br>
                <a:r>
                  <a:rPr lang="pl-PL" sz="2800" b="0" i="0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800" b="0" i="0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pl-PL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  <m:r>
                      <m:rPr>
                        <m:nor/>
                      </m:rPr>
                      <a:rPr lang="pl-PL" sz="2800" b="0" i="0" dirty="0" smtClean="0"/>
                      <m:t> =</m:t>
                    </m:r>
                    <m:r>
                      <m:rPr>
                        <m:nor/>
                      </m:rPr>
                      <a:rPr lang="pl-PL" sz="2800"/>
                      <m:t>-5422.076- -5422.456= 0.380 </m:t>
                    </m:r>
                    <m:r>
                      <m:rPr>
                        <m:nor/>
                      </m:rPr>
                      <a:rPr lang="pl-PL" sz="2800"/>
                      <m:t>eV</m:t>
                    </m:r>
                    <m:r>
                      <m:rPr>
                        <m:nor/>
                      </m:rPr>
                      <a:rPr lang="pl-PL" sz="2800" b="0" i="0" dirty="0" smtClean="0"/>
                      <m:t>(</m:t>
                    </m:r>
                    <m:r>
                      <m:rPr>
                        <m:nor/>
                      </m:rPr>
                      <a:rPr lang="pl-PL" sz="2800" b="0" i="0" dirty="0" smtClean="0"/>
                      <m:t>HSE</m:t>
                    </m:r>
                    <m:r>
                      <m:rPr>
                        <m:nor/>
                      </m:rPr>
                      <a:rPr lang="pl-PL" sz="2800" b="0" i="0" dirty="0" smtClean="0"/>
                      <m:t>)</m:t>
                    </m:r>
                  </m:oMath>
                </a14:m>
                <a:endParaRPr lang="pl-PL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2CDCAF-6C3A-A784-C9D3-19267AEBF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7192546" cy="9307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87546EEF-A01E-7D13-1DDA-30B83771B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3597"/>
            <a:ext cx="5534261" cy="40044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314E36-AA50-58C2-91DC-A3179F51D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1" y="2747229"/>
            <a:ext cx="5410200" cy="411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46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0872D-F82D-C4B6-F452-3CD97936E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88EA-AF5D-1109-E4BE-64AC1EF1F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 dirty="0"/>
              <a:t>4-9 geometry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39E3D9-013E-60F1-9C2D-4111254938AD}"/>
              </a:ext>
            </a:extLst>
          </p:cNvPr>
          <p:cNvSpPr txBox="1"/>
          <p:nvPr/>
        </p:nvSpPr>
        <p:spPr>
          <a:xfrm>
            <a:off x="0" y="2063175"/>
            <a:ext cx="5617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(HSE)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136920-F0C7-5498-064E-422DA5028EFB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7083542" cy="957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/>
                        <m:t>-4519.320 - -4520.246 = 0.926 </m:t>
                      </m:r>
                      <m:r>
                        <m:rPr>
                          <m:nor/>
                        </m:rPr>
                        <a:rPr lang="pl-PL" sz="280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 i="0" dirty="0">
                    <a:latin typeface="Cambria Math" panose="02040503050406030204" pitchFamily="18" charset="0"/>
                  </a:rPr>
                </a:br>
                <a:r>
                  <a:rPr lang="pl-PL" sz="2800" b="0" i="0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800" b="0" i="0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pl-PL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  <m:r>
                      <m:rPr>
                        <m:nor/>
                      </m:rPr>
                      <a:rPr lang="pl-PL" sz="2800" b="0" i="0" dirty="0" smtClean="0"/>
                      <m:t> =</m:t>
                    </m:r>
                    <m:r>
                      <a:rPr lang="pl-PL" sz="2800" i="1" smtClean="0"/>
                      <m:t> </m:t>
                    </m:r>
                    <m:r>
                      <m:rPr>
                        <m:nor/>
                      </m:rPr>
                      <a:rPr lang="pl-PL" sz="2800" b="0" i="0" dirty="0" smtClean="0"/>
                      <m:t>(</m:t>
                    </m:r>
                    <m:r>
                      <m:rPr>
                        <m:nor/>
                      </m:rPr>
                      <a:rPr lang="pl-PL" sz="2800" b="0" i="0" dirty="0" smtClean="0"/>
                      <m:t>HSE</m:t>
                    </m:r>
                    <m:r>
                      <m:rPr>
                        <m:nor/>
                      </m:rPr>
                      <a:rPr lang="pl-PL" sz="2800" b="0" i="0" dirty="0" smtClean="0"/>
                      <m:t>)</m:t>
                    </m:r>
                  </m:oMath>
                </a14:m>
                <a:r>
                  <a:rPr lang="pl-PL" sz="2800" dirty="0"/>
                  <a:t> lack of convergance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136920-F0C7-5498-064E-422DA5028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7083542" cy="957826"/>
              </a:xfrm>
              <a:prstGeom prst="rect">
                <a:avLst/>
              </a:prstGeom>
              <a:blipFill>
                <a:blip r:embed="rId2"/>
                <a:stretch>
                  <a:fillRect b="-1592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29AA3F7-847A-426E-88A8-492901B3A1F3}"/>
              </a:ext>
            </a:extLst>
          </p:cNvPr>
          <p:cNvSpPr txBox="1"/>
          <p:nvPr/>
        </p:nvSpPr>
        <p:spPr>
          <a:xfrm>
            <a:off x="7098966" y="2063174"/>
            <a:ext cx="45511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(HSE)</a:t>
            </a:r>
            <a:br>
              <a:rPr lang="pl-PL" sz="3200" dirty="0"/>
            </a:br>
            <a:r>
              <a:rPr lang="pl-PL" sz="3200" dirty="0"/>
              <a:t>lack of convergance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ABA8EB-E078-DE40-4AD5-62BDA0EE9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42599"/>
            <a:ext cx="5778742" cy="411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47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AF3B9-A56E-6D90-FBFC-C41525A79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0E11DDC-4C66-4A70-F118-A0A25E2CD1C7}"/>
              </a:ext>
            </a:extLst>
          </p:cNvPr>
          <p:cNvSpPr txBox="1"/>
          <p:nvPr/>
        </p:nvSpPr>
        <p:spPr>
          <a:xfrm>
            <a:off x="0" y="2063175"/>
            <a:ext cx="5617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(PBE)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9B41D1-918C-26CF-BF98-B0131FC53E93}"/>
              </a:ext>
            </a:extLst>
          </p:cNvPr>
          <p:cNvSpPr txBox="1"/>
          <p:nvPr/>
        </p:nvSpPr>
        <p:spPr>
          <a:xfrm>
            <a:off x="7131050" y="2063174"/>
            <a:ext cx="4246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(PBE)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949B5-8982-A6BB-0D03-F616C703A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 dirty="0"/>
              <a:t>4-9 geometry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1423D3-2C29-F556-8FBD-EEF753D0E05D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7083542" cy="957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/>
                        <m:t>-4519.320 - -4520.246 = 0.926 </m:t>
                      </m:r>
                      <m:r>
                        <m:rPr>
                          <m:nor/>
                        </m:rPr>
                        <a:rPr lang="pl-PL" sz="280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 i="0" dirty="0">
                    <a:latin typeface="Cambria Math" panose="02040503050406030204" pitchFamily="18" charset="0"/>
                  </a:rPr>
                </a:br>
                <a:r>
                  <a:rPr lang="pl-PL" sz="2800" b="0" i="0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800" b="0" i="0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pl-PL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  <m:r>
                      <m:rPr>
                        <m:nor/>
                      </m:rPr>
                      <a:rPr lang="pl-PL" sz="2800" b="0" i="0" dirty="0" smtClean="0"/>
                      <m:t> =</m:t>
                    </m:r>
                    <m:r>
                      <a:rPr lang="pl-PL" sz="2800" i="1" smtClean="0"/>
                      <m:t> </m:t>
                    </m:r>
                    <m:r>
                      <m:rPr>
                        <m:nor/>
                      </m:rPr>
                      <a:rPr lang="pl-PL" sz="2800" b="0" i="0" dirty="0" smtClean="0"/>
                      <m:t>(</m:t>
                    </m:r>
                    <m:r>
                      <m:rPr>
                        <m:nor/>
                      </m:rPr>
                      <a:rPr lang="pl-PL" sz="2800" b="0" i="0" dirty="0" smtClean="0"/>
                      <m:t>HSE</m:t>
                    </m:r>
                    <m:r>
                      <m:rPr>
                        <m:nor/>
                      </m:rPr>
                      <a:rPr lang="pl-PL" sz="2800" b="0" i="0" dirty="0" smtClean="0"/>
                      <m:t>)</m:t>
                    </m:r>
                  </m:oMath>
                </a14:m>
                <a:r>
                  <a:rPr lang="pl-PL" sz="2800" dirty="0"/>
                  <a:t> lack of convergance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1423D3-2C29-F556-8FBD-EEF753D0E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7083542" cy="957826"/>
              </a:xfrm>
              <a:prstGeom prst="rect">
                <a:avLst/>
              </a:prstGeom>
              <a:blipFill>
                <a:blip r:embed="rId2"/>
                <a:stretch>
                  <a:fillRect b="-1592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D440FBB-E93F-799F-19C2-03BD5F908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783197"/>
            <a:ext cx="5679537" cy="40748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B529A6-F92A-0542-2773-A2348D95D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282" y="2647949"/>
            <a:ext cx="5597718" cy="420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8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5B5CF-8AE5-E7AD-C43C-D6A010931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B796A-0AE8-CCE0-6B95-32F5E772D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 dirty="0"/>
              <a:t>6-7 geometry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FDBCFD-9151-42BE-1C80-1C11237754FC}"/>
              </a:ext>
            </a:extLst>
          </p:cNvPr>
          <p:cNvSpPr txBox="1"/>
          <p:nvPr/>
        </p:nvSpPr>
        <p:spPr>
          <a:xfrm>
            <a:off x="0" y="2063175"/>
            <a:ext cx="5617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(HSE)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15A825-E585-B478-A376-4C60DDFCCA13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7202164" cy="9307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/>
                        <m:t>-4516.940 - -4517.112 = 0.172 </m:t>
                      </m:r>
                      <m:r>
                        <m:rPr>
                          <m:nor/>
                        </m:rPr>
                        <a:rPr lang="pl-PL" sz="280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 i="0" dirty="0">
                    <a:latin typeface="Cambria Math" panose="02040503050406030204" pitchFamily="18" charset="0"/>
                  </a:rPr>
                </a:br>
                <a:r>
                  <a:rPr lang="pl-PL" sz="2800" b="0" i="0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800" b="0" i="0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pl-PL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  <m:r>
                      <m:rPr>
                        <m:nor/>
                      </m:rPr>
                      <a:rPr lang="pl-PL" sz="2800" b="0" i="0" dirty="0" smtClean="0"/>
                      <m:t> =</m:t>
                    </m:r>
                    <m:r>
                      <m:rPr>
                        <m:nor/>
                      </m:rPr>
                      <a:rPr lang="pl-PL" sz="2800"/>
                      <m:t>-5420.666 - -5420.887 = 0.220 </m:t>
                    </m:r>
                    <m:r>
                      <m:rPr>
                        <m:nor/>
                      </m:rPr>
                      <a:rPr lang="pl-PL" sz="2800"/>
                      <m:t>eV</m:t>
                    </m:r>
                    <m:r>
                      <m:rPr>
                        <m:nor/>
                      </m:rPr>
                      <a:rPr lang="pl-PL" sz="2800" b="0" i="0" dirty="0" smtClean="0"/>
                      <m:t>(</m:t>
                    </m:r>
                    <m:r>
                      <m:rPr>
                        <m:nor/>
                      </m:rPr>
                      <a:rPr lang="pl-PL" sz="2800" b="0" i="0" dirty="0" smtClean="0"/>
                      <m:t>HSE</m:t>
                    </m:r>
                    <m:r>
                      <m:rPr>
                        <m:nor/>
                      </m:rPr>
                      <a:rPr lang="pl-PL" sz="2800" b="0" i="0" dirty="0" smtClean="0"/>
                      <m:t>)</m:t>
                    </m:r>
                  </m:oMath>
                </a14:m>
                <a:r>
                  <a:rPr lang="pl-PL" sz="2800" dirty="0"/>
                  <a:t>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15A825-E585-B478-A376-4C60DDFCC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7202164" cy="9307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6DD10C9-6A9F-98A0-2A84-EFA694EA8B5C}"/>
              </a:ext>
            </a:extLst>
          </p:cNvPr>
          <p:cNvSpPr txBox="1"/>
          <p:nvPr/>
        </p:nvSpPr>
        <p:spPr>
          <a:xfrm>
            <a:off x="7098966" y="2063174"/>
            <a:ext cx="4551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(HSE)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4060C5-01D7-C8B1-DA46-640286E1C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726712"/>
            <a:ext cx="6140449" cy="41312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30D015-39C7-C7CF-C593-9A7AE3598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671262"/>
            <a:ext cx="5613716" cy="418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73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59577-7129-6575-BA87-9892FD273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4A6CDC-26C5-4BCA-1FEB-3A98EBF420F8}"/>
              </a:ext>
            </a:extLst>
          </p:cNvPr>
          <p:cNvSpPr txBox="1"/>
          <p:nvPr/>
        </p:nvSpPr>
        <p:spPr>
          <a:xfrm>
            <a:off x="0" y="2063175"/>
            <a:ext cx="5617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Ground State (PBE)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9915F8-C7E0-C7FC-167B-AF8260611669}"/>
              </a:ext>
            </a:extLst>
          </p:cNvPr>
          <p:cNvSpPr txBox="1"/>
          <p:nvPr/>
        </p:nvSpPr>
        <p:spPr>
          <a:xfrm>
            <a:off x="7131050" y="2063174"/>
            <a:ext cx="4246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Excited State (PBE)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47FBDC8-8060-5ECB-3305-F806D7FA1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1775"/>
            <a:ext cx="10515600" cy="1325563"/>
          </a:xfrm>
        </p:spPr>
        <p:txBody>
          <a:bodyPr/>
          <a:lstStyle/>
          <a:p>
            <a:r>
              <a:rPr lang="pl-PL" dirty="0"/>
              <a:t>6-7 geometry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5E1AAB-4592-0652-2FDC-F5DC1FDFE05F}"/>
                  </a:ext>
                </a:extLst>
              </p:cNvPr>
              <p:cNvSpPr txBox="1"/>
              <p:nvPr/>
            </p:nvSpPr>
            <p:spPr>
              <a:xfrm>
                <a:off x="5032375" y="72159"/>
                <a:ext cx="7202164" cy="9307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sz="2800" b="0" i="1" dirty="0" smtClean="0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m:rPr>
                          <m:nor/>
                        </m:rPr>
                        <a:rPr lang="pl-PL" sz="2800" b="0" i="0" dirty="0" smtClean="0"/>
                        <m:t> =</m:t>
                      </m:r>
                      <m:r>
                        <m:rPr>
                          <m:nor/>
                        </m:rPr>
                        <a:rPr lang="pl-PL" sz="2800"/>
                        <m:t>-4516.940 - -4517.112 = 0.172 </m:t>
                      </m:r>
                      <m:r>
                        <m:rPr>
                          <m:nor/>
                        </m:rPr>
                        <a:rPr lang="pl-PL" sz="2800"/>
                        <m:t>eV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(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PBE</m:t>
                      </m:r>
                      <m:r>
                        <m:rPr>
                          <m:nor/>
                        </m:rPr>
                        <a:rPr lang="pl-PL" sz="2800" b="0" i="0" dirty="0" smtClean="0"/>
                        <m:t>)</m:t>
                      </m:r>
                    </m:oMath>
                  </m:oMathPara>
                </a14:m>
                <a:br>
                  <a:rPr lang="pl-PL" sz="2800" b="0" i="0" dirty="0">
                    <a:latin typeface="Cambria Math" panose="02040503050406030204" pitchFamily="18" charset="0"/>
                  </a:rPr>
                </a:br>
                <a:r>
                  <a:rPr lang="pl-PL" sz="2800" b="0" i="0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800" b="0" i="0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pl-PL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l-PL" sz="2800" b="0" i="1" dirty="0" smtClean="0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  <m:r>
                      <m:rPr>
                        <m:nor/>
                      </m:rPr>
                      <a:rPr lang="pl-PL" sz="2800" b="0" i="0" dirty="0" smtClean="0"/>
                      <m:t> =</m:t>
                    </m:r>
                    <m:r>
                      <m:rPr>
                        <m:nor/>
                      </m:rPr>
                      <a:rPr lang="pl-PL" sz="2800"/>
                      <m:t>-5420.666 - -5420.887 = 0.220 </m:t>
                    </m:r>
                    <m:r>
                      <m:rPr>
                        <m:nor/>
                      </m:rPr>
                      <a:rPr lang="pl-PL" sz="2800"/>
                      <m:t>eV</m:t>
                    </m:r>
                    <m:r>
                      <m:rPr>
                        <m:nor/>
                      </m:rPr>
                      <a:rPr lang="pl-PL" sz="2800" b="0" i="0" dirty="0" smtClean="0"/>
                      <m:t>(</m:t>
                    </m:r>
                    <m:r>
                      <m:rPr>
                        <m:nor/>
                      </m:rPr>
                      <a:rPr lang="pl-PL" sz="2800" b="0" i="0" dirty="0" smtClean="0"/>
                      <m:t>HSE</m:t>
                    </m:r>
                    <m:r>
                      <m:rPr>
                        <m:nor/>
                      </m:rPr>
                      <a:rPr lang="pl-PL" sz="2800" b="0" i="0" dirty="0" smtClean="0"/>
                      <m:t>)</m:t>
                    </m:r>
                  </m:oMath>
                </a14:m>
                <a:r>
                  <a:rPr lang="pl-PL" sz="2800" dirty="0"/>
                  <a:t>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5E1AAB-4592-0652-2FDC-F5DC1FDFE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5" y="72159"/>
                <a:ext cx="7202164" cy="9307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5D27B62D-77A3-C85B-490D-7CFCE92A5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46870"/>
            <a:ext cx="5397500" cy="40111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F1EAD6-01F8-018F-98CB-D0221D0AD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199" y="3025454"/>
            <a:ext cx="5065791" cy="383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335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4B76-14AC-DCB7-B1F1-F967B6CB9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To be done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508393-F56C-C560-4378-77C87C3C0AB5}"/>
              </a:ext>
            </a:extLst>
          </p:cNvPr>
          <p:cNvSpPr/>
          <p:nvPr/>
        </p:nvSpPr>
        <p:spPr>
          <a:xfrm>
            <a:off x="666750" y="1778000"/>
            <a:ext cx="360000" cy="360000"/>
          </a:xfrm>
          <a:prstGeom prst="roundRect">
            <a:avLst/>
          </a:prstGeom>
          <a:noFill/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0BD055-6D1E-D152-A83A-B43BC7E8C5E7}"/>
                  </a:ext>
                </a:extLst>
              </p:cNvPr>
              <p:cNvSpPr txBox="1"/>
              <p:nvPr/>
            </p:nvSpPr>
            <p:spPr>
              <a:xfrm>
                <a:off x="1143000" y="1778000"/>
                <a:ext cx="3911600" cy="369332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pl-PL" dirty="0"/>
                  <a:t>Excited state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2 </m:t>
                        </m:r>
                      </m:sub>
                    </m:sSub>
                  </m:oMath>
                </a14:m>
                <a:r>
                  <a:rPr lang="pl-PL" dirty="0"/>
                  <a:t>and orbitals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0BD055-6D1E-D152-A83A-B43BC7E8C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778000"/>
                <a:ext cx="3911600" cy="369332"/>
              </a:xfrm>
              <a:prstGeom prst="rect">
                <a:avLst/>
              </a:prstGeom>
              <a:blipFill>
                <a:blip r:embed="rId2"/>
                <a:stretch>
                  <a:fillRect l="-1244" t="-6452" b="-25806"/>
                </a:stretch>
              </a:blip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1B5B42-A684-EE86-788E-26CBE2F42385}"/>
              </a:ext>
            </a:extLst>
          </p:cNvPr>
          <p:cNvSpPr/>
          <p:nvPr/>
        </p:nvSpPr>
        <p:spPr>
          <a:xfrm>
            <a:off x="666750" y="2882764"/>
            <a:ext cx="360000" cy="360000"/>
          </a:xfrm>
          <a:prstGeom prst="roundRect">
            <a:avLst/>
          </a:prstGeom>
          <a:noFill/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7CACD-65B6-652A-8FF2-510FCFD51097}"/>
              </a:ext>
            </a:extLst>
          </p:cNvPr>
          <p:cNvSpPr txBox="1"/>
          <p:nvPr/>
        </p:nvSpPr>
        <p:spPr>
          <a:xfrm>
            <a:off x="1143000" y="2324100"/>
            <a:ext cx="3911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Ground state excited 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Huang-Rhys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optical matrix element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CCD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ZPL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7909B17-0F91-B27A-2197-6084BDC0F61F}"/>
                  </a:ext>
                </a:extLst>
              </p:cNvPr>
              <p:cNvSpPr txBox="1"/>
              <p:nvPr/>
            </p:nvSpPr>
            <p:spPr>
              <a:xfrm>
                <a:off x="6178550" y="1799250"/>
                <a:ext cx="3911600" cy="369332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7909B17-0F91-B27A-2197-6084BDC0F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8550" y="1799250"/>
                <a:ext cx="3911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813DDC7-55F8-D805-19D3-FEF66318E523}"/>
                  </a:ext>
                </a:extLst>
              </p:cNvPr>
              <p:cNvSpPr txBox="1"/>
              <p:nvPr/>
            </p:nvSpPr>
            <p:spPr>
              <a:xfrm>
                <a:off x="6178550" y="2277144"/>
                <a:ext cx="3911600" cy="369332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813DDC7-55F8-D805-19D3-FEF66318E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8550" y="2277144"/>
                <a:ext cx="3911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839DB357-012C-CA31-42FD-68AABACDFE46}"/>
              </a:ext>
            </a:extLst>
          </p:cNvPr>
          <p:cNvSpPr txBox="1"/>
          <p:nvPr/>
        </p:nvSpPr>
        <p:spPr>
          <a:xfrm>
            <a:off x="6178550" y="2755038"/>
            <a:ext cx="3911600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l-PL" dirty="0"/>
              <a:t>2-3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8F8B57-2268-62DD-1CD5-295DBD7A03C5}"/>
              </a:ext>
            </a:extLst>
          </p:cNvPr>
          <p:cNvSpPr txBox="1"/>
          <p:nvPr/>
        </p:nvSpPr>
        <p:spPr>
          <a:xfrm>
            <a:off x="6178550" y="3232932"/>
            <a:ext cx="3911600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l-PL" dirty="0"/>
              <a:t>3-8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ADBFE8-E19A-D88F-1F71-8DC4CA205917}"/>
              </a:ext>
            </a:extLst>
          </p:cNvPr>
          <p:cNvSpPr txBox="1"/>
          <p:nvPr/>
        </p:nvSpPr>
        <p:spPr>
          <a:xfrm>
            <a:off x="6178550" y="3710826"/>
            <a:ext cx="3911600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l-PL" dirty="0"/>
              <a:t>4-5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06E5C1-5172-D121-6397-DA48509AFE24}"/>
              </a:ext>
            </a:extLst>
          </p:cNvPr>
          <p:cNvSpPr txBox="1"/>
          <p:nvPr/>
        </p:nvSpPr>
        <p:spPr>
          <a:xfrm>
            <a:off x="6178550" y="4188720"/>
            <a:ext cx="3911600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l-PL" dirty="0"/>
              <a:t>4-6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F1DD6D-DD15-4D70-6FEC-E929EA7CF9C2}"/>
              </a:ext>
            </a:extLst>
          </p:cNvPr>
          <p:cNvSpPr txBox="1"/>
          <p:nvPr/>
        </p:nvSpPr>
        <p:spPr>
          <a:xfrm>
            <a:off x="6178550" y="4689419"/>
            <a:ext cx="3911600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l-PL" dirty="0"/>
              <a:t>6-7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E581AF1-DF67-7CD7-FE63-6612A87CEC15}"/>
              </a:ext>
            </a:extLst>
          </p:cNvPr>
          <p:cNvSpPr/>
          <p:nvPr/>
        </p:nvSpPr>
        <p:spPr>
          <a:xfrm>
            <a:off x="5736000" y="2295298"/>
            <a:ext cx="360000" cy="3600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8269513-5A7A-93D1-F2DA-62D803D0376A}"/>
              </a:ext>
            </a:extLst>
          </p:cNvPr>
          <p:cNvSpPr/>
          <p:nvPr/>
        </p:nvSpPr>
        <p:spPr>
          <a:xfrm>
            <a:off x="5736000" y="1799250"/>
            <a:ext cx="360000" cy="3600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7BF5A9D-165B-FAD6-2CFF-CFA0D75ECB65}"/>
              </a:ext>
            </a:extLst>
          </p:cNvPr>
          <p:cNvSpPr/>
          <p:nvPr/>
        </p:nvSpPr>
        <p:spPr>
          <a:xfrm>
            <a:off x="5736000" y="2755038"/>
            <a:ext cx="360000" cy="3600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111D4DF-F625-8254-5CB6-A021BB38BABC}"/>
              </a:ext>
            </a:extLst>
          </p:cNvPr>
          <p:cNvSpPr/>
          <p:nvPr/>
        </p:nvSpPr>
        <p:spPr>
          <a:xfrm>
            <a:off x="5736000" y="3214778"/>
            <a:ext cx="360000" cy="3600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02E345C-FF5C-B03E-D0FE-52013A30E774}"/>
              </a:ext>
            </a:extLst>
          </p:cNvPr>
          <p:cNvSpPr/>
          <p:nvPr/>
        </p:nvSpPr>
        <p:spPr>
          <a:xfrm>
            <a:off x="5736000" y="3674518"/>
            <a:ext cx="360000" cy="3600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C3F5CDE-FAD6-2EB7-D39D-4579E98A6761}"/>
              </a:ext>
            </a:extLst>
          </p:cNvPr>
          <p:cNvSpPr/>
          <p:nvPr/>
        </p:nvSpPr>
        <p:spPr>
          <a:xfrm>
            <a:off x="5736000" y="4134258"/>
            <a:ext cx="360000" cy="3600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7DDC9DBD-1A8A-9202-F6F7-DC9DED0B955B}"/>
              </a:ext>
            </a:extLst>
          </p:cNvPr>
          <p:cNvSpPr/>
          <p:nvPr/>
        </p:nvSpPr>
        <p:spPr>
          <a:xfrm>
            <a:off x="5736000" y="4593998"/>
            <a:ext cx="360000" cy="3600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48817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C89A5-AAE1-D4A9-13AD-C355960CA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6AF2-0261-A634-5019-6128913B8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To be done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CD7FA2-E1A3-4748-B187-3532EE5DC43A}"/>
              </a:ext>
            </a:extLst>
          </p:cNvPr>
          <p:cNvSpPr/>
          <p:nvPr/>
        </p:nvSpPr>
        <p:spPr>
          <a:xfrm>
            <a:off x="838200" y="2371487"/>
            <a:ext cx="360000" cy="360000"/>
          </a:xfrm>
          <a:prstGeom prst="roundRect">
            <a:avLst/>
          </a:prstGeom>
          <a:noFill/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C3AD6E-8942-4A31-6905-0E3ABC3F62AE}"/>
              </a:ext>
            </a:extLst>
          </p:cNvPr>
          <p:cNvSpPr txBox="1"/>
          <p:nvPr/>
        </p:nvSpPr>
        <p:spPr>
          <a:xfrm>
            <a:off x="1314450" y="2371487"/>
            <a:ext cx="4921250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l-PL" dirty="0"/>
              <a:t>Ground and excited state for tetramer 4-6-2-3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23852D-CD92-5D39-4F82-8494C8EF2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1" t="20687" r="23698" b="21892"/>
          <a:stretch>
            <a:fillRect/>
          </a:stretch>
        </p:blipFill>
        <p:spPr>
          <a:xfrm>
            <a:off x="7397750" y="1386886"/>
            <a:ext cx="5060950" cy="4848814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1F4238-C863-CB1F-8F33-33248A55FDED}"/>
              </a:ext>
            </a:extLst>
          </p:cNvPr>
          <p:cNvSpPr/>
          <p:nvPr/>
        </p:nvSpPr>
        <p:spPr>
          <a:xfrm>
            <a:off x="838200" y="2835037"/>
            <a:ext cx="360000" cy="360000"/>
          </a:xfrm>
          <a:prstGeom prst="roundRect">
            <a:avLst/>
          </a:prstGeom>
          <a:noFill/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E842DB-1445-91EF-457E-1B19CDD494A8}"/>
              </a:ext>
            </a:extLst>
          </p:cNvPr>
          <p:cNvSpPr txBox="1"/>
          <p:nvPr/>
        </p:nvSpPr>
        <p:spPr>
          <a:xfrm>
            <a:off x="1314450" y="2835037"/>
            <a:ext cx="4921250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l-PL" dirty="0"/>
              <a:t>Ground and excited state for tetramer 2-3-9-10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D46F66-0AD4-F44B-384D-0345DACE7C90}"/>
              </a:ext>
            </a:extLst>
          </p:cNvPr>
          <p:cNvSpPr txBox="1"/>
          <p:nvPr/>
        </p:nvSpPr>
        <p:spPr>
          <a:xfrm>
            <a:off x="10712450" y="370205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4CD792-B983-962E-CAAE-1784EDB2F5EE}"/>
              </a:ext>
            </a:extLst>
          </p:cNvPr>
          <p:cNvSpPr txBox="1"/>
          <p:nvPr/>
        </p:nvSpPr>
        <p:spPr>
          <a:xfrm>
            <a:off x="10775950" y="420370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3A9342-8505-6734-6DB4-E45F7389C77E}"/>
              </a:ext>
            </a:extLst>
          </p:cNvPr>
          <p:cNvSpPr txBox="1"/>
          <p:nvPr/>
        </p:nvSpPr>
        <p:spPr>
          <a:xfrm>
            <a:off x="10185400" y="471805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C90B1AF-E74A-D64E-3AAE-B19674F47798}"/>
              </a:ext>
            </a:extLst>
          </p:cNvPr>
          <p:cNvSpPr/>
          <p:nvPr/>
        </p:nvSpPr>
        <p:spPr>
          <a:xfrm>
            <a:off x="838200" y="3298587"/>
            <a:ext cx="360000" cy="360000"/>
          </a:xfrm>
          <a:prstGeom prst="roundRect">
            <a:avLst/>
          </a:prstGeom>
          <a:noFill/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E4EE9C-3615-964E-8F94-D7BDE8EB3964}"/>
              </a:ext>
            </a:extLst>
          </p:cNvPr>
          <p:cNvSpPr txBox="1"/>
          <p:nvPr/>
        </p:nvSpPr>
        <p:spPr>
          <a:xfrm>
            <a:off x="1314450" y="3298587"/>
            <a:ext cx="4921250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l-PL" dirty="0"/>
              <a:t>Ground and excited state for tetramer 6-4-12-11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07A8283-79E7-E4FD-FE71-E7BDCB425895}"/>
              </a:ext>
            </a:extLst>
          </p:cNvPr>
          <p:cNvSpPr/>
          <p:nvPr/>
        </p:nvSpPr>
        <p:spPr>
          <a:xfrm>
            <a:off x="838200" y="1444387"/>
            <a:ext cx="360000" cy="360000"/>
          </a:xfrm>
          <a:prstGeom prst="roundRect">
            <a:avLst/>
          </a:prstGeom>
          <a:noFill/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14ED67-BC4B-3CFF-8C07-3828A88EB9E5}"/>
              </a:ext>
            </a:extLst>
          </p:cNvPr>
          <p:cNvSpPr txBox="1"/>
          <p:nvPr/>
        </p:nvSpPr>
        <p:spPr>
          <a:xfrm>
            <a:off x="1314450" y="1444387"/>
            <a:ext cx="4921250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l-PL" dirty="0"/>
              <a:t>Ground and excited state for 3-9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32367A6-3B75-4C75-25CC-ED6F2297C91C}"/>
              </a:ext>
            </a:extLst>
          </p:cNvPr>
          <p:cNvSpPr/>
          <p:nvPr/>
        </p:nvSpPr>
        <p:spPr>
          <a:xfrm>
            <a:off x="838200" y="1907937"/>
            <a:ext cx="360000" cy="360000"/>
          </a:xfrm>
          <a:prstGeom prst="roundRect">
            <a:avLst/>
          </a:prstGeom>
          <a:noFill/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34B426-C1E6-1E62-649A-2CAAB2349AC0}"/>
              </a:ext>
            </a:extLst>
          </p:cNvPr>
          <p:cNvSpPr txBox="1"/>
          <p:nvPr/>
        </p:nvSpPr>
        <p:spPr>
          <a:xfrm>
            <a:off x="1314450" y="1907937"/>
            <a:ext cx="4921250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l-PL" dirty="0"/>
              <a:t>Ground and excited state for dimer 4-12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D23110C-ABCE-1C65-08ED-307F25FBCD81}"/>
              </a:ext>
            </a:extLst>
          </p:cNvPr>
          <p:cNvSpPr/>
          <p:nvPr/>
        </p:nvSpPr>
        <p:spPr>
          <a:xfrm>
            <a:off x="838200" y="3821668"/>
            <a:ext cx="360000" cy="360000"/>
          </a:xfrm>
          <a:prstGeom prst="roundRect">
            <a:avLst/>
          </a:prstGeom>
          <a:noFill/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04680C-5C21-6D27-9E69-6B2054BEBE12}"/>
              </a:ext>
            </a:extLst>
          </p:cNvPr>
          <p:cNvSpPr txBox="1"/>
          <p:nvPr/>
        </p:nvSpPr>
        <p:spPr>
          <a:xfrm>
            <a:off x="1314450" y="3821668"/>
            <a:ext cx="5772150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l-PL" dirty="0"/>
              <a:t>Ground and excited state for tetramer 2-3-9-10-11-12-4-9</a:t>
            </a:r>
          </a:p>
        </p:txBody>
      </p:sp>
    </p:spTree>
    <p:extLst>
      <p:ext uri="{BB962C8B-B14F-4D97-AF65-F5344CB8AC3E}">
        <p14:creationId xmlns:p14="http://schemas.microsoft.com/office/powerpoint/2010/main" val="3672651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3c80d9-fff9-4cf5-afcb-b8ae29d54b3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0AF3DA69DF24745AE3A88F41386295A" ma:contentTypeVersion="18" ma:contentTypeDescription="Utwórz nowy dokument." ma:contentTypeScope="" ma:versionID="7e35e622b3fde80399b97e9f165bbc6e">
  <xsd:schema xmlns:xsd="http://www.w3.org/2001/XMLSchema" xmlns:xs="http://www.w3.org/2001/XMLSchema" xmlns:p="http://schemas.microsoft.com/office/2006/metadata/properties" xmlns:ns3="123c80d9-fff9-4cf5-afcb-b8ae29d54b3e" xmlns:ns4="41c096cc-bf0d-4db1-a348-1b8ce80b75c8" targetNamespace="http://schemas.microsoft.com/office/2006/metadata/properties" ma:root="true" ma:fieldsID="a282f2b58fc36a0b3fdf2e53d8d81d6c" ns3:_="" ns4:_="">
    <xsd:import namespace="123c80d9-fff9-4cf5-afcb-b8ae29d54b3e"/>
    <xsd:import namespace="41c096cc-bf0d-4db1-a348-1b8ce80b75c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c80d9-fff9-4cf5-afcb-b8ae29d54b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c096cc-bf0d-4db1-a348-1b8ce80b75c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krót wskazówki dotyczącej udostępniani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249E5D-908D-48B7-911E-67F780F3EBA2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41c096cc-bf0d-4db1-a348-1b8ce80b75c8"/>
    <ds:schemaRef ds:uri="http://schemas.microsoft.com/office/infopath/2007/PartnerControls"/>
    <ds:schemaRef ds:uri="http://purl.org/dc/dcmitype/"/>
    <ds:schemaRef ds:uri="123c80d9-fff9-4cf5-afcb-b8ae29d54b3e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0DF316D-15DF-4274-BB0D-246EDEE31E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835143-0D1A-455F-8B32-7450308DED77}">
  <ds:schemaRefs>
    <ds:schemaRef ds:uri="123c80d9-fff9-4cf5-afcb-b8ae29d54b3e"/>
    <ds:schemaRef ds:uri="41c096cc-bf0d-4db1-a348-1b8ce80b75c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</Words>
  <Application>Microsoft Office PowerPoint</Application>
  <PresentationFormat>Widescreen</PresentationFormat>
  <Paragraphs>100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Office Theme</vt:lpstr>
      <vt:lpstr>V_B V_N C_B C_N in hBN</vt:lpstr>
      <vt:lpstr>Di-Vacancy geometry and nomenclature</vt:lpstr>
      <vt:lpstr>Carbon dimer</vt:lpstr>
      <vt:lpstr>Carbon dimer</vt:lpstr>
      <vt:lpstr>1-2 geometry</vt:lpstr>
      <vt:lpstr>2-3 geometry</vt:lpstr>
      <vt:lpstr>2-3 geometry</vt:lpstr>
      <vt:lpstr>2-6 geometry</vt:lpstr>
      <vt:lpstr>3-4 geometry</vt:lpstr>
      <vt:lpstr>3-4 geometry</vt:lpstr>
      <vt:lpstr>3-8 geometry</vt:lpstr>
      <vt:lpstr>3-8 geometry</vt:lpstr>
      <vt:lpstr>4-5 geometry</vt:lpstr>
      <vt:lpstr>4-5 geometry</vt:lpstr>
      <vt:lpstr>4-6 geometry</vt:lpstr>
      <vt:lpstr>PowerPoint Presentation</vt:lpstr>
      <vt:lpstr>4-9 geometry</vt:lpstr>
      <vt:lpstr>4-9 geometry</vt:lpstr>
      <vt:lpstr>6-7 geometry</vt:lpstr>
      <vt:lpstr>6-7 geometry</vt:lpstr>
      <vt:lpstr>To be done</vt:lpstr>
      <vt:lpstr>To be 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Zabierowski Franciszek (STUD)</dc:creator>
  <cp:lastModifiedBy>Zabierowski Franciszek (STUD)</cp:lastModifiedBy>
  <cp:revision>1</cp:revision>
  <dcterms:created xsi:type="dcterms:W3CDTF">2026-07-07T22:52:05Z</dcterms:created>
  <dcterms:modified xsi:type="dcterms:W3CDTF">2026-07-13T19:30:24Z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0x01010060AF3DA69DF24745AE3A88F41386295A</vt:lpwstr>
  </property>
</Properties>
</file>